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4" r:id="rId15"/>
    <p:sldId id="260" r:id="rId11"/>
    <p:sldId id="261" r:id="rId12"/>
    <p:sldId id="262" r:id="rId13"/>
    <p:sldId id="282" r:id="rId33"/>
    <p:sldId id="283" r:id="rId34"/>
    <p:sldId id="263" r:id="rId14"/>
    <p:sldId id="265" r:id="rId16"/>
    <p:sldId id="266" r:id="rId17"/>
    <p:sldId id="284" r:id="rId35"/>
    <p:sldId id="285" r:id="rId36"/>
    <p:sldId id="286" r:id="rId37"/>
    <p:sldId id="280" r:id="rId31"/>
    <p:sldId id="275" r:id="rId26"/>
    <p:sldId id="281" r:id="rId32"/>
    <p:sldId id="287" r:id="rId38"/>
    <p:sldId id="267" r:id="rId18"/>
    <p:sldId id="268" r:id="rId19"/>
    <p:sldId id="269" r:id="rId20"/>
    <p:sldId id="270" r:id="rId21"/>
    <p:sldId id="271" r:id="rId22"/>
    <p:sldId id="272" r:id="rId23"/>
    <p:sldId id="276" r:id="rId27"/>
    <p:sldId id="273" r:id="rId24"/>
    <p:sldId id="274" r:id="rId25"/>
    <p:sldId id="278" r:id="rId29"/>
    <p:sldId id="279" r:id="rId30"/>
    <p:sldId id="277" r:id="rId28"/>
    <p:sldId id="288" r:id="rId39"/>
    <p:sldId id="289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cf330c7c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cf330c7cf_2_75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cf330c7cf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cf330c7cf_2_113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cf330c7c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cf330c7cf_0_16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cf330c7cf_2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ecf330c7cf_2_149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cf330c7cf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cf330c7cf_2_165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cf330c7c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cf330c7cf_0_52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cf330c7c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ecf330c7cf_0_80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cf330c7c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ecf330c7cf_0_90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cf330c7cf_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ecf330c7cf_2_192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cf330c7cf_2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ecf330c7cf_2_241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cf330c7cf_2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ecf330c7cf_2_294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ecf330c7cf_2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ecf330c7cf_2_398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ecf330c7cf_2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ecf330c7cf_2_448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ecf330c7cf_2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ecf330c7cf_2_498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ecf330c7cf_2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ecf330c7cf_2_570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ecf330c7cf_2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ecf330c7cf_2_613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ecf330c7cf_2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ecf330c7cf_2_659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ecf330c7cf_2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g3ecf330c7cf_2_702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ecf330c7cf_2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g3ecf330c7cf_2_770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ecf330c7cf_2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g3ecf330c7cf_2_830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479" y="1597819"/>
            <a:ext cx="583075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957" y="2914650"/>
            <a:ext cx="4801801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870" y="3305175"/>
            <a:ext cx="583075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870" y="2180035"/>
            <a:ext cx="583075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86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7022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86" y="1151335"/>
            <a:ext cx="3030899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86" y="1631156"/>
            <a:ext cx="3030899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4640" y="1151335"/>
            <a:ext cx="3032090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4640" y="1631156"/>
            <a:ext cx="303209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86" y="204788"/>
            <a:ext cx="2256799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958" y="204788"/>
            <a:ext cx="3834772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86" y="1076325"/>
            <a:ext cx="225679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552" y="3600450"/>
            <a:ext cx="411583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552" y="459581"/>
            <a:ext cx="411583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552" y="4025503"/>
            <a:ext cx="411583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2622" y="-189486"/>
            <a:ext cx="3394472" cy="61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50690" y="1628582"/>
            <a:ext cx="4388644" cy="1543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654" y="142311"/>
            <a:ext cx="4388644" cy="45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4390218" y="0"/>
            <a:ext cx="82317" cy="51435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411583" y="960120"/>
            <a:ext cx="397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CSCD - GROUP 2 - </a:t>
            </a: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CAPSTONE PROJECT  ·</a:t>
            </a:r>
            <a:r>
              <a:rPr b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FINAL PRESENTATION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411583" y="1303020"/>
            <a:ext cx="3841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 Identity</a:t>
            </a:r>
            <a:b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Hunter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411583" y="2846070"/>
            <a:ext cx="3841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OSINT Attribution Platfor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411583" y="3669030"/>
            <a:ext cx="3772844" cy="2743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11583" y="3771900"/>
            <a:ext cx="3772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Version 0.1.0  ·  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August</a:t>
            </a: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5444203" y="1554625"/>
            <a:ext cx="3095400" cy="4938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5336667" y="1554625"/>
            <a:ext cx="41100" cy="4938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5377825" y="1691785"/>
            <a:ext cx="377400" cy="219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5384685" y="1705501"/>
            <a:ext cx="35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&gt;&gt;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5799420" y="1684927"/>
            <a:ext cx="2638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Multi-Vector OSINT Collection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5444203" y="2206137"/>
            <a:ext cx="3095400" cy="4938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5336667" y="2206135"/>
            <a:ext cx="41100" cy="4938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5377825" y="2343295"/>
            <a:ext cx="377400" cy="219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5384685" y="2357011"/>
            <a:ext cx="35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&gt;&gt;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5799420" y="2336440"/>
            <a:ext cx="2638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Graph-Based Identity Correlation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5444203" y="2896623"/>
            <a:ext cx="3095400" cy="4938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5336667" y="2896615"/>
            <a:ext cx="41100" cy="4938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5377825" y="3033775"/>
            <a:ext cx="377400" cy="219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5384685" y="3047491"/>
            <a:ext cx="35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&gt;&gt;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5799420" y="3026926"/>
            <a:ext cx="2638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Chain-of-Custody Reporting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00" y="80650"/>
            <a:ext cx="2683045" cy="4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342986" y="1300940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342986" y="1300940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480180" y="1383236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926062" y="1396952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Intro, Team &amp; Scope of Work — Guna (2 min)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342986" y="1829006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342986" y="1829006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480180" y="1911302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926062" y="1925018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&amp; OSINT Landscape — Rekha (3 min)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342986" y="2357072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/>
          <p:nvPr/>
        </p:nvSpPr>
        <p:spPr>
          <a:xfrm>
            <a:off x="342986" y="2357072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480180" y="2439368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926062" y="2453084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&amp; Flow Walkthrough — Dhaya (5 min)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342986" y="2905716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342986" y="2905716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480180" y="2988012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926062" y="3001728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Tool Demos — Phone, Maigret, Rest of Tools (15 min)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342986" y="3433782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42986" y="3433782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480180" y="3516078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926062" y="3529793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Steps &amp; Closing — Vindhya, Guna (2 min)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 / 30</a:t>
            </a:r>
            <a:endParaRPr sz="1100"/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CSCD Group 2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342986" y="994410"/>
            <a:ext cx="8457900" cy="2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342986" y="1364551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342986" y="1364551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480180" y="1446847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926062" y="1460563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Gunasekaran - Group Lead (Guna)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342986" y="1892617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342986" y="1892617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480180" y="1974913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926062" y="1988629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Kanti Singh Sangher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342986" y="2420683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342986" y="2420683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480180" y="2502979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926062" y="2516695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Rekha Saraswat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342986" y="2948749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342986" y="2948749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480180" y="3031045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926062" y="3044760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Vindya Narsian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342986" y="3476815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342986" y="3476815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480180" y="3559111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926062" y="3572827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Soumo Dutta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342986" y="4004881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342986" y="4004881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480180" y="4087177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926062" y="4100893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Dhayanidhi Rajasekaran (Dhaya) 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8574645" y="4869180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 / 30</a:t>
            </a:r>
            <a:endParaRPr sz="1100"/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 — SUMMARY  ·  REKHA  ·  3 MIN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Impact &amp; Objectives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342986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342986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493900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493900" y="1495044"/>
            <a:ext cx="38415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 actors construct synthetic identities by compartmentalizing their footprint: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Burner / VoIP phone numbers (no personal ID required)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Disposable or forwarding email addresses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Usernames registered across dozens of platforms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Stolen or stock profile photographs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OSINT correlation across multiple tools is: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Time-consuming — hours per investigation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Error-prone — no quantified confidence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Inconsistent across analysts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Missing chain-of-custody audit trail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4698905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4698905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4849819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4849819" y="1495044"/>
            <a:ext cx="3841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 Identity Hunter automates the full attribution pipeline: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Multi-vector OSINT collection (phone, email,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username, image) via BFS orchestration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Graph-theoretic correlation links fragmented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artifacts into unified persona clusters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Quantified confidence scoring per relationship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with staleness decay model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Generated HTML Report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Zero infrastructure cost — local CLI, SQLite,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no cloud dependency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3 / 30</a:t>
            </a:r>
            <a:endParaRPr sz="1100"/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ARCHITECTURAL DESIGN  ·  DHAYA  ·  5 MIN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4-Layer Pipeline Architecture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6" name="Google Shape;236;p29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342986" y="1131570"/>
            <a:ext cx="8458030" cy="809244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342986" y="1131570"/>
            <a:ext cx="48018" cy="80924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514479" y="1200150"/>
            <a:ext cx="274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INGESTION LAYER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514479" y="1474470"/>
            <a:ext cx="788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 (Click) → Seed Validation → BFS Orchestrator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752123" y="1823327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342986" y="2057400"/>
            <a:ext cx="8458030" cy="809244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342986" y="2057400"/>
            <a:ext cx="48018" cy="80924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514479" y="2125980"/>
            <a:ext cx="274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COLLECTION LAYER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5" name="Google Shape;245;p29"/>
          <p:cNvSpPr txBox="1"/>
          <p:nvPr/>
        </p:nvSpPr>
        <p:spPr>
          <a:xfrm>
            <a:off x="514479" y="2400300"/>
            <a:ext cx="788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· Email · Username · Image · Breach Modules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6" name="Google Shape;246;p29"/>
          <p:cNvSpPr txBox="1"/>
          <p:nvPr/>
        </p:nvSpPr>
        <p:spPr>
          <a:xfrm>
            <a:off x="752123" y="2749156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7" name="Google Shape;247;p29"/>
          <p:cNvSpPr/>
          <p:nvPr/>
        </p:nvSpPr>
        <p:spPr>
          <a:xfrm>
            <a:off x="342986" y="2983229"/>
            <a:ext cx="8458030" cy="809244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342986" y="2983229"/>
            <a:ext cx="48018" cy="80924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514479" y="3051809"/>
            <a:ext cx="274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LAYER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514479" y="3326130"/>
            <a:ext cx="788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NetworkX Identity Graph → Connected Components → Confidence Scorer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1" name="Google Shape;251;p29"/>
          <p:cNvSpPr txBox="1"/>
          <p:nvPr/>
        </p:nvSpPr>
        <p:spPr>
          <a:xfrm>
            <a:off x="752123" y="3674986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342986" y="3909060"/>
            <a:ext cx="8458030" cy="809244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342986" y="3909060"/>
            <a:ext cx="48018" cy="80924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9"/>
          <p:cNvSpPr txBox="1"/>
          <p:nvPr/>
        </p:nvSpPr>
        <p:spPr>
          <a:xfrm>
            <a:off x="514479" y="3977640"/>
            <a:ext cx="274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REPORTING LAYER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514479" y="4251960"/>
            <a:ext cx="788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Persistence → HTML / PDF Report → JSON / CSV Export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5 / 30</a:t>
            </a:r>
            <a:endParaRPr sz="1100"/>
          </a:p>
        </p:txBody>
      </p:sp>
      <p:pic>
        <p:nvPicPr>
          <p:cNvPr id="257" name="Google Shape;2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ARCHITECTURAL DESIGN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</a:t>
            </a: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342986" y="994410"/>
            <a:ext cx="8457900" cy="2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8574645" y="4869180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6 / 30</a:t>
            </a:r>
            <a:endParaRPr sz="1100"/>
          </a:p>
        </p:txBody>
      </p:sp>
      <p:pic>
        <p:nvPicPr>
          <p:cNvPr id="266" name="Google Shape;2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5875" y="1101325"/>
            <a:ext cx="4994893" cy="39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ARCHITECTURAL DESIGN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73" name="Google Shape;273;p31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Diagram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74" name="Google Shape;274;p31"/>
          <p:cNvSpPr/>
          <p:nvPr/>
        </p:nvSpPr>
        <p:spPr>
          <a:xfrm>
            <a:off x="342986" y="994410"/>
            <a:ext cx="8457900" cy="2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8574645" y="4869180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7 / 30</a:t>
            </a:r>
            <a:endParaRPr sz="1100"/>
          </a:p>
        </p:txBody>
      </p:sp>
      <p:pic>
        <p:nvPicPr>
          <p:cNvPr id="276" name="Google Shape;2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613" y="1181235"/>
            <a:ext cx="6602624" cy="3823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ARCHITECTURAL DESIGN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3" name="Google Shape;283;p32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 Interaction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4" name="Google Shape;284;p32"/>
          <p:cNvSpPr/>
          <p:nvPr/>
        </p:nvSpPr>
        <p:spPr>
          <a:xfrm>
            <a:off x="342986" y="994410"/>
            <a:ext cx="8457900" cy="2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2"/>
          <p:cNvSpPr txBox="1"/>
          <p:nvPr/>
        </p:nvSpPr>
        <p:spPr>
          <a:xfrm>
            <a:off x="8574645" y="4869180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10 / 30</a:t>
            </a:r>
            <a:endParaRPr sz="1100"/>
          </a:p>
        </p:txBody>
      </p:sp>
      <p:pic>
        <p:nvPicPr>
          <p:cNvPr id="286" name="Google Shape;2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3000" y="1332877"/>
            <a:ext cx="6446500" cy="315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3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COMPONENT SPECIFICATIONS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3" name="Google Shape;293;p33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Components &amp; Technologies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4" name="Google Shape;294;p33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3"/>
          <p:cNvSpPr/>
          <p:nvPr/>
        </p:nvSpPr>
        <p:spPr>
          <a:xfrm>
            <a:off x="342986" y="1363340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3"/>
          <p:cNvSpPr/>
          <p:nvPr/>
        </p:nvSpPr>
        <p:spPr>
          <a:xfrm>
            <a:off x="342986" y="1363340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3"/>
          <p:cNvSpPr txBox="1"/>
          <p:nvPr/>
        </p:nvSpPr>
        <p:spPr>
          <a:xfrm>
            <a:off x="493900" y="1418195"/>
            <a:ext cx="3556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BFS Orchestrator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8" name="Google Shape;298;p33"/>
          <p:cNvSpPr txBox="1"/>
          <p:nvPr/>
        </p:nvSpPr>
        <p:spPr>
          <a:xfrm>
            <a:off x="493900" y="1637653"/>
            <a:ext cx="355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deque · MAX_DEPTH=2 · per-investigation SQLite isolation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4822380" y="1363340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3"/>
          <p:cNvSpPr/>
          <p:nvPr/>
        </p:nvSpPr>
        <p:spPr>
          <a:xfrm>
            <a:off x="4822380" y="1363340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3"/>
          <p:cNvSpPr txBox="1"/>
          <p:nvPr/>
        </p:nvSpPr>
        <p:spPr>
          <a:xfrm>
            <a:off x="4973299" y="1418195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Intelligence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2" name="Google Shape;302;p33"/>
          <p:cNvSpPr txBox="1"/>
          <p:nvPr/>
        </p:nvSpPr>
        <p:spPr>
          <a:xfrm>
            <a:off x="4973299" y="1637650"/>
            <a:ext cx="333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phoneinfoga (subprocess) · phonenumbers · E.164 · VoIP detection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342986" y="2035424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3"/>
          <p:cNvSpPr/>
          <p:nvPr/>
        </p:nvSpPr>
        <p:spPr>
          <a:xfrm>
            <a:off x="342986" y="2035424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3"/>
          <p:cNvSpPr txBox="1"/>
          <p:nvPr/>
        </p:nvSpPr>
        <p:spPr>
          <a:xfrm>
            <a:off x="493900" y="2090295"/>
            <a:ext cx="3556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Intelligence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6" name="Google Shape;306;p33"/>
          <p:cNvSpPr txBox="1"/>
          <p:nvPr/>
        </p:nvSpPr>
        <p:spPr>
          <a:xfrm>
            <a:off x="493900" y="2309753"/>
            <a:ext cx="355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Holehe (100+ services) · HIBP API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4822380" y="2035424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4822380" y="2035424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3"/>
          <p:cNvSpPr txBox="1"/>
          <p:nvPr/>
        </p:nvSpPr>
        <p:spPr>
          <a:xfrm>
            <a:off x="4973299" y="2090279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 Enumeration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4973299" y="2309736"/>
            <a:ext cx="3333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Sherlock / Maigret · httpx · 400+ platforms · false-positive suppression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1" name="Google Shape;311;p33"/>
          <p:cNvSpPr/>
          <p:nvPr/>
        </p:nvSpPr>
        <p:spPr>
          <a:xfrm>
            <a:off x="342986" y="2707508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342986" y="2707508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3"/>
          <p:cNvSpPr txBox="1"/>
          <p:nvPr/>
        </p:nvSpPr>
        <p:spPr>
          <a:xfrm>
            <a:off x="493900" y="2762370"/>
            <a:ext cx="3439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Intelligence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493900" y="2981828"/>
            <a:ext cx="343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Pillow (EXIF) · face_recognition (dlib)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5" name="Google Shape;315;p33"/>
          <p:cNvSpPr/>
          <p:nvPr/>
        </p:nvSpPr>
        <p:spPr>
          <a:xfrm>
            <a:off x="4822380" y="2707508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3"/>
          <p:cNvSpPr/>
          <p:nvPr/>
        </p:nvSpPr>
        <p:spPr>
          <a:xfrm>
            <a:off x="4822380" y="2707508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3"/>
          <p:cNvSpPr txBox="1"/>
          <p:nvPr/>
        </p:nvSpPr>
        <p:spPr>
          <a:xfrm>
            <a:off x="4973299" y="2762364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Graph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8" name="Google Shape;318;p33"/>
          <p:cNvSpPr txBox="1"/>
          <p:nvPr/>
        </p:nvSpPr>
        <p:spPr>
          <a:xfrm>
            <a:off x="4973299" y="2981820"/>
            <a:ext cx="3333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NetworkX DiGraph · Connected components · pyvis interactive visualization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9" name="Google Shape;319;p33"/>
          <p:cNvSpPr/>
          <p:nvPr/>
        </p:nvSpPr>
        <p:spPr>
          <a:xfrm>
            <a:off x="342986" y="3379592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3"/>
          <p:cNvSpPr/>
          <p:nvPr/>
        </p:nvSpPr>
        <p:spPr>
          <a:xfrm>
            <a:off x="342986" y="3379592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3"/>
          <p:cNvSpPr txBox="1"/>
          <p:nvPr/>
        </p:nvSpPr>
        <p:spPr>
          <a:xfrm>
            <a:off x="493900" y="3434445"/>
            <a:ext cx="328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Scorer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2" name="Google Shape;322;p33"/>
          <p:cNvSpPr txBox="1"/>
          <p:nvPr/>
        </p:nvSpPr>
        <p:spPr>
          <a:xfrm>
            <a:off x="493900" y="3653903"/>
            <a:ext cx="328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Typed link weights · staleness decay · cross-type density metric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4822380" y="3379592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4822380" y="3379592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3"/>
          <p:cNvSpPr txBox="1"/>
          <p:nvPr/>
        </p:nvSpPr>
        <p:spPr>
          <a:xfrm>
            <a:off x="4973299" y="3434449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 &amp; Export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6" name="Google Shape;326;p33"/>
          <p:cNvSpPr txBox="1"/>
          <p:nvPr/>
        </p:nvSpPr>
        <p:spPr>
          <a:xfrm>
            <a:off x="4973299" y="3653905"/>
            <a:ext cx="333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Jinja2 HTML · Pandoc/LaTeX PDF · JSON &amp; CSV export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342986" y="4375404"/>
            <a:ext cx="8458030" cy="58293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411583" y="4409694"/>
            <a:ext cx="197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400+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411583" y="4704587"/>
            <a:ext cx="197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Platforms probed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2526090" y="4409694"/>
            <a:ext cx="197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2526090" y="4704587"/>
            <a:ext cx="197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OSINT modules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4640598" y="4409694"/>
            <a:ext cx="197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4640598" y="4704587"/>
            <a:ext cx="197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 services (Holehe)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6755105" y="4409694"/>
            <a:ext cx="197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6755105" y="4704587"/>
            <a:ext cx="197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Report export formats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4 / 30</a:t>
            </a:r>
            <a:endParaRPr sz="1100"/>
          </a:p>
        </p:txBody>
      </p:sp>
      <p:pic>
        <p:nvPicPr>
          <p:cNvPr id="337" name="Google Shape;3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DATA FLOW &amp; TRUST BOUNDARIES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43" name="Google Shape;343;p34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 Trust Data Flow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4"/>
          <p:cNvSpPr/>
          <p:nvPr/>
        </p:nvSpPr>
        <p:spPr>
          <a:xfrm>
            <a:off x="342975" y="1131574"/>
            <a:ext cx="48000" cy="31965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4"/>
          <p:cNvSpPr txBox="1"/>
          <p:nvPr/>
        </p:nvSpPr>
        <p:spPr>
          <a:xfrm>
            <a:off x="480180" y="1213866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TRUSTED — LOCAL HOST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47" name="Google Shape;347;p34"/>
          <p:cNvSpPr/>
          <p:nvPr/>
        </p:nvSpPr>
        <p:spPr>
          <a:xfrm>
            <a:off x="480180" y="1577340"/>
            <a:ext cx="2366601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4"/>
          <p:cNvSpPr txBox="1"/>
          <p:nvPr/>
        </p:nvSpPr>
        <p:spPr>
          <a:xfrm>
            <a:off x="583075" y="1645925"/>
            <a:ext cx="130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 Input Validation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480180" y="2139695"/>
            <a:ext cx="2366601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583075" y="2208278"/>
            <a:ext cx="130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BFS Orchestrator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1" name="Google Shape;351;p34"/>
          <p:cNvSpPr/>
          <p:nvPr/>
        </p:nvSpPr>
        <p:spPr>
          <a:xfrm>
            <a:off x="480180" y="2702051"/>
            <a:ext cx="2366601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4"/>
          <p:cNvSpPr txBox="1"/>
          <p:nvPr/>
        </p:nvSpPr>
        <p:spPr>
          <a:xfrm>
            <a:off x="583075" y="2770631"/>
            <a:ext cx="130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DB (local)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480180" y="3264408"/>
            <a:ext cx="2366601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83075" y="3332984"/>
            <a:ext cx="130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Dispatcher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480180" y="3826764"/>
            <a:ext cx="2366601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4"/>
          <p:cNvSpPr txBox="1"/>
          <p:nvPr/>
        </p:nvSpPr>
        <p:spPr>
          <a:xfrm>
            <a:off x="583075" y="3895338"/>
            <a:ext cx="130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 Logger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3155469" y="1131574"/>
            <a:ext cx="48000" cy="31965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4"/>
          <p:cNvSpPr txBox="1"/>
          <p:nvPr/>
        </p:nvSpPr>
        <p:spPr>
          <a:xfrm>
            <a:off x="3292664" y="1213866"/>
            <a:ext cx="253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UNTRUSTED — EXTERNAL APIs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9" name="Google Shape;359;p34"/>
          <p:cNvSpPr/>
          <p:nvPr/>
        </p:nvSpPr>
        <p:spPr>
          <a:xfrm>
            <a:off x="3292664" y="1577340"/>
            <a:ext cx="2503796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4"/>
          <p:cNvSpPr txBox="1"/>
          <p:nvPr/>
        </p:nvSpPr>
        <p:spPr>
          <a:xfrm>
            <a:off x="3395553" y="1645925"/>
            <a:ext cx="1595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HaveIBeenPwned API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1" name="Google Shape;361;p34"/>
          <p:cNvSpPr/>
          <p:nvPr/>
        </p:nvSpPr>
        <p:spPr>
          <a:xfrm>
            <a:off x="3292664" y="2139695"/>
            <a:ext cx="2503796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3395553" y="2208278"/>
            <a:ext cx="1595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Holehe HTTP Probes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3" name="Google Shape;363;p34"/>
          <p:cNvSpPr/>
          <p:nvPr/>
        </p:nvSpPr>
        <p:spPr>
          <a:xfrm>
            <a:off x="3292664" y="2702051"/>
            <a:ext cx="2503796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4"/>
          <p:cNvSpPr txBox="1"/>
          <p:nvPr/>
        </p:nvSpPr>
        <p:spPr>
          <a:xfrm>
            <a:off x="3395553" y="2770631"/>
            <a:ext cx="1595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Sherlock / Maigret Probes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5" name="Google Shape;365;p34"/>
          <p:cNvSpPr/>
          <p:nvPr/>
        </p:nvSpPr>
        <p:spPr>
          <a:xfrm>
            <a:off x="3292664" y="3264408"/>
            <a:ext cx="2503796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4"/>
          <p:cNvSpPr txBox="1"/>
          <p:nvPr/>
        </p:nvSpPr>
        <p:spPr>
          <a:xfrm>
            <a:off x="3395553" y="3332984"/>
            <a:ext cx="1595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WHOIS Servers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7" name="Google Shape;367;p34"/>
          <p:cNvSpPr/>
          <p:nvPr/>
        </p:nvSpPr>
        <p:spPr>
          <a:xfrm>
            <a:off x="3292664" y="3826764"/>
            <a:ext cx="2503796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4"/>
          <p:cNvSpPr txBox="1"/>
          <p:nvPr/>
        </p:nvSpPr>
        <p:spPr>
          <a:xfrm>
            <a:off x="3395553" y="3895338"/>
            <a:ext cx="1595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Reverse Image APIs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9" name="Google Shape;369;p34"/>
          <p:cNvSpPr/>
          <p:nvPr/>
        </p:nvSpPr>
        <p:spPr>
          <a:xfrm>
            <a:off x="6105157" y="1131574"/>
            <a:ext cx="48000" cy="31965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4"/>
          <p:cNvSpPr txBox="1"/>
          <p:nvPr/>
        </p:nvSpPr>
        <p:spPr>
          <a:xfrm>
            <a:off x="6242342" y="1213866"/>
            <a:ext cx="2503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SANITIZED — PARSED OUTPUT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1" name="Google Shape;371;p34"/>
          <p:cNvSpPr/>
          <p:nvPr/>
        </p:nvSpPr>
        <p:spPr>
          <a:xfrm>
            <a:off x="6242342" y="1577340"/>
            <a:ext cx="2469498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4"/>
          <p:cNvSpPr txBox="1"/>
          <p:nvPr/>
        </p:nvSpPr>
        <p:spPr>
          <a:xfrm>
            <a:off x="6345230" y="1645925"/>
            <a:ext cx="14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Schema Validation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6242342" y="2139695"/>
            <a:ext cx="2469498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4"/>
          <p:cNvSpPr txBox="1"/>
          <p:nvPr/>
        </p:nvSpPr>
        <p:spPr>
          <a:xfrm>
            <a:off x="6345230" y="2208278"/>
            <a:ext cx="14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eval() / exec()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6242342" y="2702051"/>
            <a:ext cx="2469498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4"/>
          <p:cNvSpPr txBox="1"/>
          <p:nvPr/>
        </p:nvSpPr>
        <p:spPr>
          <a:xfrm>
            <a:off x="6345230" y="2770631"/>
            <a:ext cx="14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Type-checked insertion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6242342" y="3264408"/>
            <a:ext cx="2469498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4"/>
          <p:cNvSpPr txBox="1"/>
          <p:nvPr/>
        </p:nvSpPr>
        <p:spPr>
          <a:xfrm>
            <a:off x="6345230" y="3332984"/>
            <a:ext cx="14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Provenance metadata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9" name="Google Shape;379;p34"/>
          <p:cNvSpPr/>
          <p:nvPr/>
        </p:nvSpPr>
        <p:spPr>
          <a:xfrm>
            <a:off x="6242342" y="3826764"/>
            <a:ext cx="2469498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4"/>
          <p:cNvSpPr txBox="1"/>
          <p:nvPr/>
        </p:nvSpPr>
        <p:spPr>
          <a:xfrm>
            <a:off x="6345230" y="3895338"/>
            <a:ext cx="14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 chain store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2963397" y="2434590"/>
            <a:ext cx="384144" cy="6172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 txBox="1"/>
          <p:nvPr/>
        </p:nvSpPr>
        <p:spPr>
          <a:xfrm>
            <a:off x="2471572" y="2412625"/>
            <a:ext cx="821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b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1.3</a:t>
            </a:r>
            <a:b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-&gt;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5913074" y="2434590"/>
            <a:ext cx="384144" cy="6172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4"/>
          <p:cNvSpPr txBox="1"/>
          <p:nvPr/>
        </p:nvSpPr>
        <p:spPr>
          <a:xfrm>
            <a:off x="5503644" y="2434600"/>
            <a:ext cx="821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Parsed</a:t>
            </a:r>
            <a:b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-&gt;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480175" y="4903475"/>
            <a:ext cx="8320800" cy="171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4"/>
          <p:cNvSpPr txBox="1"/>
          <p:nvPr/>
        </p:nvSpPr>
        <p:spPr>
          <a:xfrm>
            <a:off x="480175" y="4883443"/>
            <a:ext cx="823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TLS verify=True enforced  ·  API keys in env vars only  ·  No credentials in URLs  ·  Rate limiting per module</a:t>
            </a:r>
            <a:endParaRPr sz="1300"/>
          </a:p>
        </p:txBody>
      </p:sp>
      <p:sp>
        <p:nvSpPr>
          <p:cNvPr id="387" name="Google Shape;387;p34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11 / 30</a:t>
            </a:r>
            <a:endParaRPr sz="1100"/>
          </a:p>
        </p:txBody>
      </p:sp>
      <p:pic>
        <p:nvPicPr>
          <p:cNvPr id="388" name="Google Shape;3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TECHNOLOGY STACK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94" name="Google Shape;394;p35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Validated Technology Matrix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5"/>
          <p:cNvSpPr/>
          <p:nvPr/>
        </p:nvSpPr>
        <p:spPr>
          <a:xfrm>
            <a:off x="342986" y="1097280"/>
            <a:ext cx="1234749" cy="26060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5"/>
          <p:cNvSpPr txBox="1"/>
          <p:nvPr/>
        </p:nvSpPr>
        <p:spPr>
          <a:xfrm>
            <a:off x="397864" y="1131570"/>
            <a:ext cx="116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sz="1300"/>
          </a:p>
        </p:txBody>
      </p:sp>
      <p:sp>
        <p:nvSpPr>
          <p:cNvPr id="398" name="Google Shape;398;p35"/>
          <p:cNvSpPr/>
          <p:nvPr/>
        </p:nvSpPr>
        <p:spPr>
          <a:xfrm>
            <a:off x="1612033" y="1097280"/>
            <a:ext cx="1783526" cy="26060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5"/>
          <p:cNvSpPr txBox="1"/>
          <p:nvPr/>
        </p:nvSpPr>
        <p:spPr>
          <a:xfrm>
            <a:off x="1666911" y="1131570"/>
            <a:ext cx="171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sz="1300"/>
          </a:p>
        </p:txBody>
      </p:sp>
      <p:sp>
        <p:nvSpPr>
          <p:cNvPr id="400" name="Google Shape;400;p35"/>
          <p:cNvSpPr/>
          <p:nvPr/>
        </p:nvSpPr>
        <p:spPr>
          <a:xfrm>
            <a:off x="3416139" y="1097280"/>
            <a:ext cx="754569" cy="26060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5"/>
          <p:cNvSpPr txBox="1"/>
          <p:nvPr/>
        </p:nvSpPr>
        <p:spPr>
          <a:xfrm>
            <a:off x="3471016" y="1131570"/>
            <a:ext cx="6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</a:t>
            </a:r>
            <a:endParaRPr sz="1300"/>
          </a:p>
        </p:txBody>
      </p:sp>
      <p:sp>
        <p:nvSpPr>
          <p:cNvPr id="402" name="Google Shape;402;p35"/>
          <p:cNvSpPr/>
          <p:nvPr/>
        </p:nvSpPr>
        <p:spPr>
          <a:xfrm>
            <a:off x="4205006" y="1097280"/>
            <a:ext cx="4390218" cy="26060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5"/>
          <p:cNvSpPr txBox="1"/>
          <p:nvPr/>
        </p:nvSpPr>
        <p:spPr>
          <a:xfrm>
            <a:off x="4259884" y="1131570"/>
            <a:ext cx="432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300"/>
          </a:p>
        </p:txBody>
      </p:sp>
      <p:sp>
        <p:nvSpPr>
          <p:cNvPr id="404" name="Google Shape;404;p35"/>
          <p:cNvSpPr/>
          <p:nvPr/>
        </p:nvSpPr>
        <p:spPr>
          <a:xfrm>
            <a:off x="342986" y="1357884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5"/>
          <p:cNvSpPr txBox="1"/>
          <p:nvPr/>
        </p:nvSpPr>
        <p:spPr>
          <a:xfrm>
            <a:off x="411583" y="1412748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1612033" y="1357884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 txBox="1"/>
          <p:nvPr/>
        </p:nvSpPr>
        <p:spPr>
          <a:xfrm>
            <a:off x="1680630" y="1412748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08" name="Google Shape;408;p35"/>
          <p:cNvSpPr/>
          <p:nvPr/>
        </p:nvSpPr>
        <p:spPr>
          <a:xfrm>
            <a:off x="3416139" y="1357884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 txBox="1"/>
          <p:nvPr/>
        </p:nvSpPr>
        <p:spPr>
          <a:xfrm>
            <a:off x="3484736" y="1412748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3.10+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4205006" y="1357884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4273603" y="1412748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OSINT ecosystem; async support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12" name="Google Shape;412;p35"/>
          <p:cNvSpPr/>
          <p:nvPr/>
        </p:nvSpPr>
        <p:spPr>
          <a:xfrm>
            <a:off x="342986" y="1645920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 txBox="1"/>
          <p:nvPr/>
        </p:nvSpPr>
        <p:spPr>
          <a:xfrm>
            <a:off x="411583" y="1700784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1612033" y="1645920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5"/>
          <p:cNvSpPr txBox="1"/>
          <p:nvPr/>
        </p:nvSpPr>
        <p:spPr>
          <a:xfrm>
            <a:off x="1680630" y="1700784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3416139" y="1645920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3484736" y="1700784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≥8.1.0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18" name="Google Shape;418;p35"/>
          <p:cNvSpPr/>
          <p:nvPr/>
        </p:nvSpPr>
        <p:spPr>
          <a:xfrm>
            <a:off x="4205006" y="1645920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4273603" y="1700784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Type-safe argument parsing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20" name="Google Shape;420;p35"/>
          <p:cNvSpPr/>
          <p:nvPr/>
        </p:nvSpPr>
        <p:spPr>
          <a:xfrm>
            <a:off x="342986" y="1933956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5"/>
          <p:cNvSpPr txBox="1"/>
          <p:nvPr/>
        </p:nvSpPr>
        <p:spPr>
          <a:xfrm>
            <a:off x="411583" y="1988820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Intel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22" name="Google Shape;422;p35"/>
          <p:cNvSpPr/>
          <p:nvPr/>
        </p:nvSpPr>
        <p:spPr>
          <a:xfrm>
            <a:off x="1612033" y="1933956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5"/>
          <p:cNvSpPr txBox="1"/>
          <p:nvPr/>
        </p:nvSpPr>
        <p:spPr>
          <a:xfrm>
            <a:off x="1680630" y="1988820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phonenumbers / phoneinfoga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24" name="Google Shape;424;p35"/>
          <p:cNvSpPr/>
          <p:nvPr/>
        </p:nvSpPr>
        <p:spPr>
          <a:xfrm>
            <a:off x="3416139" y="1933956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5"/>
          <p:cNvSpPr txBox="1"/>
          <p:nvPr/>
        </p:nvSpPr>
        <p:spPr>
          <a:xfrm>
            <a:off x="3484736" y="1988820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≥8.13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26" name="Google Shape;426;p35"/>
          <p:cNvSpPr/>
          <p:nvPr/>
        </p:nvSpPr>
        <p:spPr>
          <a:xfrm>
            <a:off x="4205006" y="1933956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5"/>
          <p:cNvSpPr txBox="1"/>
          <p:nvPr/>
        </p:nvSpPr>
        <p:spPr>
          <a:xfrm>
            <a:off x="4273603" y="1988820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E.164 parsing; carrier resolution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28" name="Google Shape;428;p35"/>
          <p:cNvSpPr/>
          <p:nvPr/>
        </p:nvSpPr>
        <p:spPr>
          <a:xfrm>
            <a:off x="342986" y="2221992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5"/>
          <p:cNvSpPr txBox="1"/>
          <p:nvPr/>
        </p:nvSpPr>
        <p:spPr>
          <a:xfrm>
            <a:off x="411583" y="2276856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Intel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0" name="Google Shape;430;p35"/>
          <p:cNvSpPr/>
          <p:nvPr/>
        </p:nvSpPr>
        <p:spPr>
          <a:xfrm>
            <a:off x="1612033" y="2221992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5"/>
          <p:cNvSpPr txBox="1"/>
          <p:nvPr/>
        </p:nvSpPr>
        <p:spPr>
          <a:xfrm>
            <a:off x="1680630" y="2276856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holehe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2" name="Google Shape;432;p35"/>
          <p:cNvSpPr/>
          <p:nvPr/>
        </p:nvSpPr>
        <p:spPr>
          <a:xfrm>
            <a:off x="3416139" y="2221992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5"/>
          <p:cNvSpPr txBox="1"/>
          <p:nvPr/>
        </p:nvSpPr>
        <p:spPr>
          <a:xfrm>
            <a:off x="3484736" y="2276856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Latest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4" name="Google Shape;434;p35"/>
          <p:cNvSpPr/>
          <p:nvPr/>
        </p:nvSpPr>
        <p:spPr>
          <a:xfrm>
            <a:off x="4205006" y="2221992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5"/>
          <p:cNvSpPr txBox="1"/>
          <p:nvPr/>
        </p:nvSpPr>
        <p:spPr>
          <a:xfrm>
            <a:off x="4273603" y="2276856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100+ service registration detection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6" name="Google Shape;436;p35"/>
          <p:cNvSpPr/>
          <p:nvPr/>
        </p:nvSpPr>
        <p:spPr>
          <a:xfrm>
            <a:off x="342986" y="2510028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411583" y="2564892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 Enum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8" name="Google Shape;438;p35"/>
          <p:cNvSpPr/>
          <p:nvPr/>
        </p:nvSpPr>
        <p:spPr>
          <a:xfrm>
            <a:off x="1612033" y="2510028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5"/>
          <p:cNvSpPr txBox="1"/>
          <p:nvPr/>
        </p:nvSpPr>
        <p:spPr>
          <a:xfrm>
            <a:off x="1680630" y="2564892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Sherlock / Maigret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0" name="Google Shape;440;p35"/>
          <p:cNvSpPr/>
          <p:nvPr/>
        </p:nvSpPr>
        <p:spPr>
          <a:xfrm>
            <a:off x="3416139" y="2510028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5"/>
          <p:cNvSpPr txBox="1"/>
          <p:nvPr/>
        </p:nvSpPr>
        <p:spPr>
          <a:xfrm>
            <a:off x="3484736" y="2564892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Latest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2" name="Google Shape;442;p35"/>
          <p:cNvSpPr/>
          <p:nvPr/>
        </p:nvSpPr>
        <p:spPr>
          <a:xfrm>
            <a:off x="4205006" y="2510028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5"/>
          <p:cNvSpPr txBox="1"/>
          <p:nvPr/>
        </p:nvSpPr>
        <p:spPr>
          <a:xfrm>
            <a:off x="4273603" y="2564892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400+ platform parallel probing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4" name="Google Shape;444;p35"/>
          <p:cNvSpPr/>
          <p:nvPr/>
        </p:nvSpPr>
        <p:spPr>
          <a:xfrm>
            <a:off x="342986" y="2798064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5"/>
          <p:cNvSpPr txBox="1"/>
          <p:nvPr/>
        </p:nvSpPr>
        <p:spPr>
          <a:xfrm>
            <a:off x="411583" y="2852928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Analysis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6" name="Google Shape;446;p35"/>
          <p:cNvSpPr/>
          <p:nvPr/>
        </p:nvSpPr>
        <p:spPr>
          <a:xfrm>
            <a:off x="1612033" y="2798064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5"/>
          <p:cNvSpPr txBox="1"/>
          <p:nvPr/>
        </p:nvSpPr>
        <p:spPr>
          <a:xfrm>
            <a:off x="1680630" y="2852928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Pillow + face_recog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8" name="Google Shape;448;p35"/>
          <p:cNvSpPr/>
          <p:nvPr/>
        </p:nvSpPr>
        <p:spPr>
          <a:xfrm>
            <a:off x="3416139" y="2798064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5"/>
          <p:cNvSpPr txBox="1"/>
          <p:nvPr/>
        </p:nvSpPr>
        <p:spPr>
          <a:xfrm>
            <a:off x="3484736" y="2852928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≥10.0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50" name="Google Shape;450;p35"/>
          <p:cNvSpPr/>
          <p:nvPr/>
        </p:nvSpPr>
        <p:spPr>
          <a:xfrm>
            <a:off x="4205006" y="2798064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5"/>
          <p:cNvSpPr txBox="1"/>
          <p:nvPr/>
        </p:nvSpPr>
        <p:spPr>
          <a:xfrm>
            <a:off x="4273603" y="2852928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EXIF extraction; local face similarity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52" name="Google Shape;452;p35"/>
          <p:cNvSpPr/>
          <p:nvPr/>
        </p:nvSpPr>
        <p:spPr>
          <a:xfrm>
            <a:off x="342986" y="3086100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5"/>
          <p:cNvSpPr txBox="1"/>
          <p:nvPr/>
        </p:nvSpPr>
        <p:spPr>
          <a:xfrm>
            <a:off x="411583" y="3140964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Engine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54" name="Google Shape;454;p35"/>
          <p:cNvSpPr/>
          <p:nvPr/>
        </p:nvSpPr>
        <p:spPr>
          <a:xfrm>
            <a:off x="1612033" y="3086100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5"/>
          <p:cNvSpPr txBox="1"/>
          <p:nvPr/>
        </p:nvSpPr>
        <p:spPr>
          <a:xfrm>
            <a:off x="1680630" y="3140964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NetworkX + pyvis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3416139" y="3086100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5"/>
          <p:cNvSpPr txBox="1"/>
          <p:nvPr/>
        </p:nvSpPr>
        <p:spPr>
          <a:xfrm>
            <a:off x="3484736" y="3140964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≥3.0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58" name="Google Shape;458;p35"/>
          <p:cNvSpPr/>
          <p:nvPr/>
        </p:nvSpPr>
        <p:spPr>
          <a:xfrm>
            <a:off x="4205006" y="3086100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5"/>
          <p:cNvSpPr txBox="1"/>
          <p:nvPr/>
        </p:nvSpPr>
        <p:spPr>
          <a:xfrm>
            <a:off x="4273603" y="3140964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Connected components; interactive viz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60" name="Google Shape;460;p35"/>
          <p:cNvSpPr/>
          <p:nvPr/>
        </p:nvSpPr>
        <p:spPr>
          <a:xfrm>
            <a:off x="342986" y="3374136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5"/>
          <p:cNvSpPr txBox="1"/>
          <p:nvPr/>
        </p:nvSpPr>
        <p:spPr>
          <a:xfrm>
            <a:off x="411583" y="3429000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Breach Intel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62" name="Google Shape;462;p35"/>
          <p:cNvSpPr/>
          <p:nvPr/>
        </p:nvSpPr>
        <p:spPr>
          <a:xfrm>
            <a:off x="1612033" y="3374136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5"/>
          <p:cNvSpPr txBox="1"/>
          <p:nvPr/>
        </p:nvSpPr>
        <p:spPr>
          <a:xfrm>
            <a:off x="1680630" y="3429000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HIBP API v3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3416139" y="3374136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5"/>
          <p:cNvSpPr txBox="1"/>
          <p:nvPr/>
        </p:nvSpPr>
        <p:spPr>
          <a:xfrm>
            <a:off x="3484736" y="3429000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4205006" y="3374136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5"/>
          <p:cNvSpPr txBox="1"/>
          <p:nvPr/>
        </p:nvSpPr>
        <p:spPr>
          <a:xfrm>
            <a:off x="4273603" y="3429000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k-anonymity; no full hash transmitted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68" name="Google Shape;468;p35"/>
          <p:cNvSpPr/>
          <p:nvPr/>
        </p:nvSpPr>
        <p:spPr>
          <a:xfrm>
            <a:off x="342986" y="3662172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5"/>
          <p:cNvSpPr txBox="1"/>
          <p:nvPr/>
        </p:nvSpPr>
        <p:spPr>
          <a:xfrm>
            <a:off x="411583" y="3717036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 / Export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70" name="Google Shape;470;p35"/>
          <p:cNvSpPr/>
          <p:nvPr/>
        </p:nvSpPr>
        <p:spPr>
          <a:xfrm>
            <a:off x="1612033" y="3662172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5"/>
          <p:cNvSpPr txBox="1"/>
          <p:nvPr/>
        </p:nvSpPr>
        <p:spPr>
          <a:xfrm>
            <a:off x="1680630" y="3717036"/>
            <a:ext cx="1701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Jinja2 + Pandoc (LaTeX)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72" name="Google Shape;472;p35"/>
          <p:cNvSpPr/>
          <p:nvPr/>
        </p:nvSpPr>
        <p:spPr>
          <a:xfrm>
            <a:off x="3416139" y="3662172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5"/>
          <p:cNvSpPr txBox="1"/>
          <p:nvPr/>
        </p:nvSpPr>
        <p:spPr>
          <a:xfrm>
            <a:off x="3484736" y="3717036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≥3.1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74" name="Google Shape;474;p35"/>
          <p:cNvSpPr/>
          <p:nvPr/>
        </p:nvSpPr>
        <p:spPr>
          <a:xfrm>
            <a:off x="4205006" y="3662172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5"/>
          <p:cNvSpPr txBox="1"/>
          <p:nvPr/>
        </p:nvSpPr>
        <p:spPr>
          <a:xfrm>
            <a:off x="4273603" y="3717036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/ PDF / JSON / CSV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76" name="Google Shape;476;p35"/>
          <p:cNvSpPr/>
          <p:nvPr/>
        </p:nvSpPr>
        <p:spPr>
          <a:xfrm>
            <a:off x="342986" y="3950208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5"/>
          <p:cNvSpPr txBox="1"/>
          <p:nvPr/>
        </p:nvSpPr>
        <p:spPr>
          <a:xfrm>
            <a:off x="411583" y="4005072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Persistence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78" name="Google Shape;478;p35"/>
          <p:cNvSpPr/>
          <p:nvPr/>
        </p:nvSpPr>
        <p:spPr>
          <a:xfrm>
            <a:off x="1612033" y="3950208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5"/>
          <p:cNvSpPr txBox="1"/>
          <p:nvPr/>
        </p:nvSpPr>
        <p:spPr>
          <a:xfrm>
            <a:off x="1680630" y="4005072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SQLite3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80" name="Google Shape;480;p35"/>
          <p:cNvSpPr/>
          <p:nvPr/>
        </p:nvSpPr>
        <p:spPr>
          <a:xfrm>
            <a:off x="3416139" y="3950208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5"/>
          <p:cNvSpPr txBox="1"/>
          <p:nvPr/>
        </p:nvSpPr>
        <p:spPr>
          <a:xfrm>
            <a:off x="3484736" y="4005072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stdlib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82" name="Google Shape;482;p35"/>
          <p:cNvSpPr/>
          <p:nvPr/>
        </p:nvSpPr>
        <p:spPr>
          <a:xfrm>
            <a:off x="4205006" y="3950208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5"/>
          <p:cNvSpPr txBox="1"/>
          <p:nvPr/>
        </p:nvSpPr>
        <p:spPr>
          <a:xfrm>
            <a:off x="4273603" y="4005072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Zero-dependency; investigator-local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84" name="Google Shape;484;p35"/>
          <p:cNvSpPr/>
          <p:nvPr/>
        </p:nvSpPr>
        <p:spPr>
          <a:xfrm>
            <a:off x="342986" y="4238244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5"/>
          <p:cNvSpPr txBox="1"/>
          <p:nvPr/>
        </p:nvSpPr>
        <p:spPr>
          <a:xfrm>
            <a:off x="411583" y="4293108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/ Lint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1612033" y="4238244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5"/>
          <p:cNvSpPr txBox="1"/>
          <p:nvPr/>
        </p:nvSpPr>
        <p:spPr>
          <a:xfrm>
            <a:off x="1680630" y="4293108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pytest + ruff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88" name="Google Shape;488;p35"/>
          <p:cNvSpPr/>
          <p:nvPr/>
        </p:nvSpPr>
        <p:spPr>
          <a:xfrm>
            <a:off x="3416139" y="4238244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5"/>
          <p:cNvSpPr txBox="1"/>
          <p:nvPr/>
        </p:nvSpPr>
        <p:spPr>
          <a:xfrm>
            <a:off x="3484736" y="4293108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≥7.0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90" name="Google Shape;490;p35"/>
          <p:cNvSpPr/>
          <p:nvPr/>
        </p:nvSpPr>
        <p:spPr>
          <a:xfrm>
            <a:off x="4205006" y="4238244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5"/>
          <p:cNvSpPr txBox="1"/>
          <p:nvPr/>
        </p:nvSpPr>
        <p:spPr>
          <a:xfrm>
            <a:off x="4273603" y="4293108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71% coverage (572 tests); ruff cleanup in progress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92" name="Google Shape;492;p35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12 / 30</a:t>
            </a:r>
            <a:endParaRPr sz="1100"/>
          </a:p>
        </p:txBody>
      </p:sp>
      <p:pic>
        <p:nvPicPr>
          <p:cNvPr id="493" name="Google Shape;4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 — CYBER DEFENSE &amp; THREAT MODELING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Threat Model — Platform Threats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0" name="Google Shape;500;p36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6"/>
          <p:cNvSpPr/>
          <p:nvPr/>
        </p:nvSpPr>
        <p:spPr>
          <a:xfrm>
            <a:off x="1463081" y="114737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6"/>
          <p:cNvSpPr/>
          <p:nvPr/>
        </p:nvSpPr>
        <p:spPr>
          <a:xfrm>
            <a:off x="1463086" y="1147370"/>
            <a:ext cx="377400" cy="5349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6"/>
          <p:cNvSpPr txBox="1"/>
          <p:nvPr/>
        </p:nvSpPr>
        <p:spPr>
          <a:xfrm>
            <a:off x="1463086" y="1270813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100"/>
          </a:p>
        </p:txBody>
      </p:sp>
      <p:sp>
        <p:nvSpPr>
          <p:cNvPr id="504" name="Google Shape;504;p36"/>
          <p:cNvSpPr txBox="1"/>
          <p:nvPr/>
        </p:nvSpPr>
        <p:spPr>
          <a:xfrm>
            <a:off x="1908967" y="118166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Spoofing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5" name="Google Shape;505;p36"/>
          <p:cNvSpPr txBox="1"/>
          <p:nvPr/>
        </p:nvSpPr>
        <p:spPr>
          <a:xfrm>
            <a:off x="1908967" y="1421689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Adversary lookalike domain returns false OSINT positives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6362556" y="1270829"/>
            <a:ext cx="891900" cy="26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6"/>
          <p:cNvSpPr txBox="1"/>
          <p:nvPr/>
        </p:nvSpPr>
        <p:spPr>
          <a:xfrm>
            <a:off x="6362556" y="131883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08" name="Google Shape;508;p36"/>
          <p:cNvSpPr/>
          <p:nvPr/>
        </p:nvSpPr>
        <p:spPr>
          <a:xfrm>
            <a:off x="1463081" y="176459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6"/>
          <p:cNvSpPr/>
          <p:nvPr/>
        </p:nvSpPr>
        <p:spPr>
          <a:xfrm>
            <a:off x="1463086" y="1764590"/>
            <a:ext cx="377400" cy="5349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6"/>
          <p:cNvSpPr txBox="1"/>
          <p:nvPr/>
        </p:nvSpPr>
        <p:spPr>
          <a:xfrm>
            <a:off x="1463086" y="188803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1100"/>
          </a:p>
        </p:txBody>
      </p:sp>
      <p:sp>
        <p:nvSpPr>
          <p:cNvPr id="511" name="Google Shape;511;p36"/>
          <p:cNvSpPr txBox="1"/>
          <p:nvPr/>
        </p:nvSpPr>
        <p:spPr>
          <a:xfrm>
            <a:off x="1908967" y="1798879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Tampering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2" name="Google Shape;512;p36"/>
          <p:cNvSpPr txBox="1"/>
          <p:nvPr/>
        </p:nvSpPr>
        <p:spPr>
          <a:xfrm>
            <a:off x="1908967" y="2038909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filesystem access corrupts SQLite evidence chains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3" name="Google Shape;513;p36"/>
          <p:cNvSpPr/>
          <p:nvPr/>
        </p:nvSpPr>
        <p:spPr>
          <a:xfrm>
            <a:off x="6362556" y="1888050"/>
            <a:ext cx="891900" cy="2607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6"/>
          <p:cNvSpPr txBox="1"/>
          <p:nvPr/>
        </p:nvSpPr>
        <p:spPr>
          <a:xfrm>
            <a:off x="6362556" y="193605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15" name="Google Shape;515;p36"/>
          <p:cNvSpPr/>
          <p:nvPr/>
        </p:nvSpPr>
        <p:spPr>
          <a:xfrm>
            <a:off x="1463081" y="238181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1463086" y="2381810"/>
            <a:ext cx="377400" cy="5349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6"/>
          <p:cNvSpPr txBox="1"/>
          <p:nvPr/>
        </p:nvSpPr>
        <p:spPr>
          <a:xfrm>
            <a:off x="1463086" y="250525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100"/>
          </a:p>
        </p:txBody>
      </p:sp>
      <p:sp>
        <p:nvSpPr>
          <p:cNvPr id="518" name="Google Shape;518;p36"/>
          <p:cNvSpPr txBox="1"/>
          <p:nvPr/>
        </p:nvSpPr>
        <p:spPr>
          <a:xfrm>
            <a:off x="1908967" y="241610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Repudiation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9" name="Google Shape;519;p36"/>
          <p:cNvSpPr txBox="1"/>
          <p:nvPr/>
        </p:nvSpPr>
        <p:spPr>
          <a:xfrm>
            <a:off x="1908967" y="265613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signed audit log; investigator denies query history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6362556" y="2505270"/>
            <a:ext cx="891900" cy="26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6"/>
          <p:cNvSpPr txBox="1"/>
          <p:nvPr/>
        </p:nvSpPr>
        <p:spPr>
          <a:xfrm>
            <a:off x="6362556" y="255327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22" name="Google Shape;522;p36"/>
          <p:cNvSpPr/>
          <p:nvPr/>
        </p:nvSpPr>
        <p:spPr>
          <a:xfrm>
            <a:off x="1463081" y="299903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6"/>
          <p:cNvSpPr/>
          <p:nvPr/>
        </p:nvSpPr>
        <p:spPr>
          <a:xfrm>
            <a:off x="1463086" y="2999029"/>
            <a:ext cx="377400" cy="5349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6"/>
          <p:cNvSpPr txBox="1"/>
          <p:nvPr/>
        </p:nvSpPr>
        <p:spPr>
          <a:xfrm>
            <a:off x="1463086" y="3122473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/>
          </a:p>
        </p:txBody>
      </p:sp>
      <p:sp>
        <p:nvSpPr>
          <p:cNvPr id="525" name="Google Shape;525;p36"/>
          <p:cNvSpPr txBox="1"/>
          <p:nvPr/>
        </p:nvSpPr>
        <p:spPr>
          <a:xfrm>
            <a:off x="1908967" y="3033319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Disclosure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6" name="Google Shape;526;p36"/>
          <p:cNvSpPr txBox="1"/>
          <p:nvPr/>
        </p:nvSpPr>
        <p:spPr>
          <a:xfrm>
            <a:off x="1908967" y="327335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PII in HTTP query params or stdout in CI/CD environments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7" name="Google Shape;527;p36"/>
          <p:cNvSpPr/>
          <p:nvPr/>
        </p:nvSpPr>
        <p:spPr>
          <a:xfrm>
            <a:off x="6362556" y="3122490"/>
            <a:ext cx="891900" cy="2607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6"/>
          <p:cNvSpPr txBox="1"/>
          <p:nvPr/>
        </p:nvSpPr>
        <p:spPr>
          <a:xfrm>
            <a:off x="6362556" y="3170495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29" name="Google Shape;529;p36"/>
          <p:cNvSpPr/>
          <p:nvPr/>
        </p:nvSpPr>
        <p:spPr>
          <a:xfrm>
            <a:off x="1463081" y="3616256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6"/>
          <p:cNvSpPr/>
          <p:nvPr/>
        </p:nvSpPr>
        <p:spPr>
          <a:xfrm>
            <a:off x="1463086" y="3616250"/>
            <a:ext cx="377400" cy="534900"/>
          </a:xfrm>
          <a:prstGeom prst="rect">
            <a:avLst/>
          </a:prstGeom>
          <a:solidFill>
            <a:srgbClr val="39D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6"/>
          <p:cNvSpPr txBox="1"/>
          <p:nvPr/>
        </p:nvSpPr>
        <p:spPr>
          <a:xfrm>
            <a:off x="1463086" y="373969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100"/>
          </a:p>
        </p:txBody>
      </p:sp>
      <p:sp>
        <p:nvSpPr>
          <p:cNvPr id="532" name="Google Shape;532;p36"/>
          <p:cNvSpPr txBox="1"/>
          <p:nvPr/>
        </p:nvSpPr>
        <p:spPr>
          <a:xfrm>
            <a:off x="1908967" y="365054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Denial of Service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33" name="Google Shape;533;p36"/>
          <p:cNvSpPr txBox="1"/>
          <p:nvPr/>
        </p:nvSpPr>
        <p:spPr>
          <a:xfrm>
            <a:off x="1908967" y="389057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Unbounded BFS traversal exhausts external API rate limits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6362556" y="3739710"/>
            <a:ext cx="891900" cy="260700"/>
          </a:xfrm>
          <a:prstGeom prst="rect">
            <a:avLst/>
          </a:prstGeom>
          <a:solidFill>
            <a:srgbClr val="39D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6362556" y="378771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36" name="Google Shape;536;p36"/>
          <p:cNvSpPr/>
          <p:nvPr/>
        </p:nvSpPr>
        <p:spPr>
          <a:xfrm>
            <a:off x="1463081" y="4233476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6"/>
          <p:cNvSpPr/>
          <p:nvPr/>
        </p:nvSpPr>
        <p:spPr>
          <a:xfrm>
            <a:off x="1463086" y="4233470"/>
            <a:ext cx="377400" cy="534900"/>
          </a:xfrm>
          <a:prstGeom prst="rect">
            <a:avLst/>
          </a:prstGeom>
          <a:solidFill>
            <a:srgbClr val="FF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6"/>
          <p:cNvSpPr txBox="1"/>
          <p:nvPr/>
        </p:nvSpPr>
        <p:spPr>
          <a:xfrm>
            <a:off x="1463086" y="435691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100"/>
          </a:p>
        </p:txBody>
      </p:sp>
      <p:sp>
        <p:nvSpPr>
          <p:cNvPr id="539" name="Google Shape;539;p36"/>
          <p:cNvSpPr txBox="1"/>
          <p:nvPr/>
        </p:nvSpPr>
        <p:spPr>
          <a:xfrm>
            <a:off x="1908967" y="426776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Elev. of Privilege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40" name="Google Shape;540;p36"/>
          <p:cNvSpPr txBox="1"/>
          <p:nvPr/>
        </p:nvSpPr>
        <p:spPr>
          <a:xfrm>
            <a:off x="1908967" y="450779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Shell metacharacters in OSINT response → subprocess inject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41" name="Google Shape;541;p36"/>
          <p:cNvSpPr/>
          <p:nvPr/>
        </p:nvSpPr>
        <p:spPr>
          <a:xfrm>
            <a:off x="6362556" y="4356930"/>
            <a:ext cx="891900" cy="260700"/>
          </a:xfrm>
          <a:prstGeom prst="rect">
            <a:avLst/>
          </a:prstGeom>
          <a:solidFill>
            <a:srgbClr val="FF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6"/>
          <p:cNvSpPr txBox="1"/>
          <p:nvPr/>
        </p:nvSpPr>
        <p:spPr>
          <a:xfrm>
            <a:off x="6362556" y="440493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43" name="Google Shape;543;p36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17 / 30</a:t>
            </a:r>
            <a:endParaRPr sz="1100"/>
          </a:p>
        </p:txBody>
      </p:sp>
      <p:pic>
        <p:nvPicPr>
          <p:cNvPr id="544" name="Google Shape;54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7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 — THREAT MODELING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50" name="Google Shape;550;p37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MITRE ATT&amp;CK Coverage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51" name="Google Shape;551;p37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7"/>
          <p:cNvSpPr/>
          <p:nvPr/>
        </p:nvSpPr>
        <p:spPr>
          <a:xfrm>
            <a:off x="342986" y="113157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7"/>
          <p:cNvSpPr/>
          <p:nvPr/>
        </p:nvSpPr>
        <p:spPr>
          <a:xfrm>
            <a:off x="342986" y="113157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7"/>
          <p:cNvSpPr/>
          <p:nvPr/>
        </p:nvSpPr>
        <p:spPr>
          <a:xfrm>
            <a:off x="445882" y="1234439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7"/>
          <p:cNvSpPr txBox="1"/>
          <p:nvPr/>
        </p:nvSpPr>
        <p:spPr>
          <a:xfrm>
            <a:off x="445882" y="1268729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T1585.001</a:t>
            </a:r>
            <a:endParaRPr sz="1300"/>
          </a:p>
        </p:txBody>
      </p:sp>
      <p:sp>
        <p:nvSpPr>
          <p:cNvPr id="556" name="Google Shape;556;p37"/>
          <p:cNvSpPr txBox="1"/>
          <p:nvPr/>
        </p:nvSpPr>
        <p:spPr>
          <a:xfrm>
            <a:off x="1440540" y="117957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 Accounts — Social Media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57" name="Google Shape;557;p37"/>
          <p:cNvSpPr txBox="1"/>
          <p:nvPr/>
        </p:nvSpPr>
        <p:spPr>
          <a:xfrm>
            <a:off x="1440540" y="1392173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Sherlock/Maigret parallel enumeration across 400+ platforms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58" name="Google Shape;558;p37"/>
          <p:cNvSpPr/>
          <p:nvPr/>
        </p:nvSpPr>
        <p:spPr>
          <a:xfrm>
            <a:off x="342986" y="168021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7"/>
          <p:cNvSpPr/>
          <p:nvPr/>
        </p:nvSpPr>
        <p:spPr>
          <a:xfrm>
            <a:off x="342986" y="168021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445882" y="178308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7"/>
          <p:cNvSpPr txBox="1"/>
          <p:nvPr/>
        </p:nvSpPr>
        <p:spPr>
          <a:xfrm>
            <a:off x="445882" y="181737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T1585.002</a:t>
            </a:r>
            <a:endParaRPr sz="1300"/>
          </a:p>
        </p:txBody>
      </p:sp>
      <p:sp>
        <p:nvSpPr>
          <p:cNvPr id="562" name="Google Shape;562;p37"/>
          <p:cNvSpPr txBox="1"/>
          <p:nvPr/>
        </p:nvSpPr>
        <p:spPr>
          <a:xfrm>
            <a:off x="1440540" y="172821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 Accounts — Email Accounts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63" name="Google Shape;563;p37"/>
          <p:cNvSpPr txBox="1"/>
          <p:nvPr/>
        </p:nvSpPr>
        <p:spPr>
          <a:xfrm>
            <a:off x="1440540" y="194081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Holehe registration detection; disposable domain classification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342986" y="222885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7"/>
          <p:cNvSpPr/>
          <p:nvPr/>
        </p:nvSpPr>
        <p:spPr>
          <a:xfrm>
            <a:off x="342986" y="222885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445882" y="233172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7"/>
          <p:cNvSpPr txBox="1"/>
          <p:nvPr/>
        </p:nvSpPr>
        <p:spPr>
          <a:xfrm>
            <a:off x="445882" y="236601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T1586</a:t>
            </a:r>
            <a:endParaRPr sz="1300"/>
          </a:p>
        </p:txBody>
      </p:sp>
      <p:sp>
        <p:nvSpPr>
          <p:cNvPr id="568" name="Google Shape;568;p37"/>
          <p:cNvSpPr txBox="1"/>
          <p:nvPr/>
        </p:nvSpPr>
        <p:spPr>
          <a:xfrm>
            <a:off x="1440540" y="227685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Compromise Accounts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69" name="Google Shape;569;p37"/>
          <p:cNvSpPr txBox="1"/>
          <p:nvPr/>
        </p:nvSpPr>
        <p:spPr>
          <a:xfrm>
            <a:off x="1440540" y="248945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HIBP breach correlation; stolen credentials to active accounts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70" name="Google Shape;570;p37"/>
          <p:cNvSpPr/>
          <p:nvPr/>
        </p:nvSpPr>
        <p:spPr>
          <a:xfrm>
            <a:off x="342986" y="277749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7"/>
          <p:cNvSpPr/>
          <p:nvPr/>
        </p:nvSpPr>
        <p:spPr>
          <a:xfrm>
            <a:off x="342986" y="277749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445882" y="288036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7"/>
          <p:cNvSpPr txBox="1"/>
          <p:nvPr/>
        </p:nvSpPr>
        <p:spPr>
          <a:xfrm>
            <a:off x="445882" y="291465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T1598</a:t>
            </a:r>
            <a:endParaRPr sz="1300"/>
          </a:p>
        </p:txBody>
      </p:sp>
      <p:sp>
        <p:nvSpPr>
          <p:cNvPr id="574" name="Google Shape;574;p37"/>
          <p:cNvSpPr txBox="1"/>
          <p:nvPr/>
        </p:nvSpPr>
        <p:spPr>
          <a:xfrm>
            <a:off x="1440540" y="282549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Phishing for Information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75" name="Google Shape;575;p37"/>
          <p:cNvSpPr txBox="1"/>
          <p:nvPr/>
        </p:nvSpPr>
        <p:spPr>
          <a:xfrm>
            <a:off x="1440540" y="303809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Phone/email artifacts in social engineering from breach data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76" name="Google Shape;576;p37"/>
          <p:cNvSpPr/>
          <p:nvPr/>
        </p:nvSpPr>
        <p:spPr>
          <a:xfrm>
            <a:off x="342986" y="332613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7"/>
          <p:cNvSpPr/>
          <p:nvPr/>
        </p:nvSpPr>
        <p:spPr>
          <a:xfrm>
            <a:off x="342986" y="332613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7"/>
          <p:cNvSpPr/>
          <p:nvPr/>
        </p:nvSpPr>
        <p:spPr>
          <a:xfrm>
            <a:off x="445882" y="342900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7"/>
          <p:cNvSpPr txBox="1"/>
          <p:nvPr/>
        </p:nvSpPr>
        <p:spPr>
          <a:xfrm>
            <a:off x="445882" y="346329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T1650</a:t>
            </a:r>
            <a:endParaRPr sz="1300"/>
          </a:p>
        </p:txBody>
      </p:sp>
      <p:sp>
        <p:nvSpPr>
          <p:cNvPr id="580" name="Google Shape;580;p37"/>
          <p:cNvSpPr txBox="1"/>
          <p:nvPr/>
        </p:nvSpPr>
        <p:spPr>
          <a:xfrm>
            <a:off x="1440540" y="337413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 — Prepaid/VoIP Numbers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1" name="Google Shape;581;p37"/>
          <p:cNvSpPr txBox="1"/>
          <p:nvPr/>
        </p:nvSpPr>
        <p:spPr>
          <a:xfrm>
            <a:off x="1440540" y="358673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phoneinfoga carrier &amp; line-type detection; VoIP flag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2" name="Google Shape;582;p37"/>
          <p:cNvSpPr/>
          <p:nvPr/>
        </p:nvSpPr>
        <p:spPr>
          <a:xfrm>
            <a:off x="342986" y="387477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7"/>
          <p:cNvSpPr/>
          <p:nvPr/>
        </p:nvSpPr>
        <p:spPr>
          <a:xfrm>
            <a:off x="342986" y="387477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7"/>
          <p:cNvSpPr/>
          <p:nvPr/>
        </p:nvSpPr>
        <p:spPr>
          <a:xfrm>
            <a:off x="445882" y="397764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7"/>
          <p:cNvSpPr txBox="1"/>
          <p:nvPr/>
        </p:nvSpPr>
        <p:spPr>
          <a:xfrm>
            <a:off x="445882" y="401193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T1566.003</a:t>
            </a:r>
            <a:endParaRPr sz="1300"/>
          </a:p>
        </p:txBody>
      </p:sp>
      <p:sp>
        <p:nvSpPr>
          <p:cNvPr id="586" name="Google Shape;586;p37"/>
          <p:cNvSpPr txBox="1"/>
          <p:nvPr/>
        </p:nvSpPr>
        <p:spPr>
          <a:xfrm>
            <a:off x="1440540" y="392277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Spearphishing via Service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7" name="Google Shape;587;p37"/>
          <p:cNvSpPr txBox="1"/>
          <p:nvPr/>
        </p:nvSpPr>
        <p:spPr>
          <a:xfrm>
            <a:off x="1440540" y="413537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Profile image reverse search reveals stolen impersonation photos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8" name="Google Shape;588;p37"/>
          <p:cNvSpPr/>
          <p:nvPr/>
        </p:nvSpPr>
        <p:spPr>
          <a:xfrm>
            <a:off x="342986" y="442341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7"/>
          <p:cNvSpPr/>
          <p:nvPr/>
        </p:nvSpPr>
        <p:spPr>
          <a:xfrm>
            <a:off x="342986" y="442341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7"/>
          <p:cNvSpPr/>
          <p:nvPr/>
        </p:nvSpPr>
        <p:spPr>
          <a:xfrm>
            <a:off x="445882" y="452628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7"/>
          <p:cNvSpPr txBox="1"/>
          <p:nvPr/>
        </p:nvSpPr>
        <p:spPr>
          <a:xfrm>
            <a:off x="445882" y="456057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T1056.003</a:t>
            </a:r>
            <a:endParaRPr sz="1300"/>
          </a:p>
        </p:txBody>
      </p:sp>
      <p:sp>
        <p:nvSpPr>
          <p:cNvPr id="592" name="Google Shape;592;p37"/>
          <p:cNvSpPr txBox="1"/>
          <p:nvPr/>
        </p:nvSpPr>
        <p:spPr>
          <a:xfrm>
            <a:off x="1440540" y="447141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Capture — Web Portal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93" name="Google Shape;593;p37"/>
          <p:cNvSpPr txBox="1"/>
          <p:nvPr/>
        </p:nvSpPr>
        <p:spPr>
          <a:xfrm>
            <a:off x="1440540" y="468401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Breach data links account credentials to targeted services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94" name="Google Shape;594;p37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18 / 30</a:t>
            </a:r>
            <a:endParaRPr sz="1100"/>
          </a:p>
        </p:txBody>
      </p:sp>
      <p:pic>
        <p:nvPicPr>
          <p:cNvPr id="595" name="Google Shape;5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8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 — SECURITY CONTROLS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01" name="Google Shape;601;p38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NIST SP 800-53 Rev. 5 Control Mapping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02" name="Google Shape;602;p38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8"/>
          <p:cNvSpPr/>
          <p:nvPr/>
        </p:nvSpPr>
        <p:spPr>
          <a:xfrm>
            <a:off x="342986" y="1131570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8"/>
          <p:cNvSpPr/>
          <p:nvPr/>
        </p:nvSpPr>
        <p:spPr>
          <a:xfrm>
            <a:off x="445882" y="1200150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8"/>
          <p:cNvSpPr txBox="1"/>
          <p:nvPr/>
        </p:nvSpPr>
        <p:spPr>
          <a:xfrm>
            <a:off x="445882" y="1227582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PREVENTIVE</a:t>
            </a:r>
            <a:endParaRPr sz="1300"/>
          </a:p>
        </p:txBody>
      </p:sp>
      <p:sp>
        <p:nvSpPr>
          <p:cNvPr id="606" name="Google Shape;606;p38"/>
          <p:cNvSpPr/>
          <p:nvPr/>
        </p:nvSpPr>
        <p:spPr>
          <a:xfrm>
            <a:off x="1646332" y="1200150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8"/>
          <p:cNvSpPr txBox="1"/>
          <p:nvPr/>
        </p:nvSpPr>
        <p:spPr>
          <a:xfrm>
            <a:off x="1646332" y="1227582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SI-10</a:t>
            </a:r>
            <a:endParaRPr sz="1100"/>
          </a:p>
        </p:txBody>
      </p:sp>
      <p:sp>
        <p:nvSpPr>
          <p:cNvPr id="608" name="Google Shape;608;p38"/>
          <p:cNvSpPr txBox="1"/>
          <p:nvPr/>
        </p:nvSpPr>
        <p:spPr>
          <a:xfrm>
            <a:off x="2366602" y="1165860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Validation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09" name="Google Shape;609;p38"/>
          <p:cNvSpPr txBox="1"/>
          <p:nvPr/>
        </p:nvSpPr>
        <p:spPr>
          <a:xfrm>
            <a:off x="2366602" y="1337310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E.164/RFC5321 format checks; subprocess list args only — no shell=True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10" name="Google Shape;610;p38"/>
          <p:cNvSpPr/>
          <p:nvPr/>
        </p:nvSpPr>
        <p:spPr>
          <a:xfrm>
            <a:off x="342986" y="1563623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8"/>
          <p:cNvSpPr/>
          <p:nvPr/>
        </p:nvSpPr>
        <p:spPr>
          <a:xfrm>
            <a:off x="445882" y="1632204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8"/>
          <p:cNvSpPr txBox="1"/>
          <p:nvPr/>
        </p:nvSpPr>
        <p:spPr>
          <a:xfrm>
            <a:off x="445882" y="1659636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PREVENTIVE</a:t>
            </a:r>
            <a:endParaRPr sz="1300"/>
          </a:p>
        </p:txBody>
      </p:sp>
      <p:sp>
        <p:nvSpPr>
          <p:cNvPr id="613" name="Google Shape;613;p38"/>
          <p:cNvSpPr/>
          <p:nvPr/>
        </p:nvSpPr>
        <p:spPr>
          <a:xfrm>
            <a:off x="1646332" y="1632204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8"/>
          <p:cNvSpPr txBox="1"/>
          <p:nvPr/>
        </p:nvSpPr>
        <p:spPr>
          <a:xfrm>
            <a:off x="1646332" y="1659636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IA-5</a:t>
            </a:r>
            <a:endParaRPr sz="1100"/>
          </a:p>
        </p:txBody>
      </p:sp>
      <p:sp>
        <p:nvSpPr>
          <p:cNvPr id="615" name="Google Shape;615;p38"/>
          <p:cNvSpPr txBox="1"/>
          <p:nvPr/>
        </p:nvSpPr>
        <p:spPr>
          <a:xfrm>
            <a:off x="2366602" y="1597913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Secrets Mgmt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16" name="Google Shape;616;p38"/>
          <p:cNvSpPr txBox="1"/>
          <p:nvPr/>
        </p:nvSpPr>
        <p:spPr>
          <a:xfrm>
            <a:off x="2366602" y="1769363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keys from env vars only; .env excluded from VCS via .gitignore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17" name="Google Shape;617;p38"/>
          <p:cNvSpPr/>
          <p:nvPr/>
        </p:nvSpPr>
        <p:spPr>
          <a:xfrm>
            <a:off x="342986" y="1995678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8"/>
          <p:cNvSpPr/>
          <p:nvPr/>
        </p:nvSpPr>
        <p:spPr>
          <a:xfrm>
            <a:off x="445882" y="2064258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8"/>
          <p:cNvSpPr txBox="1"/>
          <p:nvPr/>
        </p:nvSpPr>
        <p:spPr>
          <a:xfrm>
            <a:off x="445882" y="2091690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PREVENTIVE</a:t>
            </a:r>
            <a:endParaRPr sz="1300"/>
          </a:p>
        </p:txBody>
      </p:sp>
      <p:sp>
        <p:nvSpPr>
          <p:cNvPr id="620" name="Google Shape;620;p38"/>
          <p:cNvSpPr/>
          <p:nvPr/>
        </p:nvSpPr>
        <p:spPr>
          <a:xfrm>
            <a:off x="1646332" y="2064258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8"/>
          <p:cNvSpPr txBox="1"/>
          <p:nvPr/>
        </p:nvSpPr>
        <p:spPr>
          <a:xfrm>
            <a:off x="1646332" y="2091690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SC-8</a:t>
            </a:r>
            <a:endParaRPr sz="1100"/>
          </a:p>
        </p:txBody>
      </p:sp>
      <p:sp>
        <p:nvSpPr>
          <p:cNvPr id="622" name="Google Shape;622;p38"/>
          <p:cNvSpPr txBox="1"/>
          <p:nvPr/>
        </p:nvSpPr>
        <p:spPr>
          <a:xfrm>
            <a:off x="2366602" y="2029968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Enforcement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23" name="Google Shape;623;p38"/>
          <p:cNvSpPr txBox="1"/>
          <p:nvPr/>
        </p:nvSpPr>
        <p:spPr>
          <a:xfrm>
            <a:off x="2366602" y="2201418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httpx verify=True; HTTP-to-HTTPS redirect enforcement; min TLS 1.2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24" name="Google Shape;624;p38"/>
          <p:cNvSpPr/>
          <p:nvPr/>
        </p:nvSpPr>
        <p:spPr>
          <a:xfrm>
            <a:off x="342986" y="2427732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8"/>
          <p:cNvSpPr/>
          <p:nvPr/>
        </p:nvSpPr>
        <p:spPr>
          <a:xfrm>
            <a:off x="445882" y="2496312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8"/>
          <p:cNvSpPr txBox="1"/>
          <p:nvPr/>
        </p:nvSpPr>
        <p:spPr>
          <a:xfrm>
            <a:off x="445882" y="2523744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DETECTIVE</a:t>
            </a:r>
            <a:endParaRPr sz="1300"/>
          </a:p>
        </p:txBody>
      </p:sp>
      <p:sp>
        <p:nvSpPr>
          <p:cNvPr id="627" name="Google Shape;627;p38"/>
          <p:cNvSpPr/>
          <p:nvPr/>
        </p:nvSpPr>
        <p:spPr>
          <a:xfrm>
            <a:off x="1646332" y="2496312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8"/>
          <p:cNvSpPr txBox="1"/>
          <p:nvPr/>
        </p:nvSpPr>
        <p:spPr>
          <a:xfrm>
            <a:off x="1646332" y="2523744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AU-2</a:t>
            </a:r>
            <a:endParaRPr sz="1100"/>
          </a:p>
        </p:txBody>
      </p:sp>
      <p:sp>
        <p:nvSpPr>
          <p:cNvPr id="629" name="Google Shape;629;p38"/>
          <p:cNvSpPr txBox="1"/>
          <p:nvPr/>
        </p:nvSpPr>
        <p:spPr>
          <a:xfrm>
            <a:off x="2366602" y="2462022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Logging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30" name="Google Shape;630;p38"/>
          <p:cNvSpPr txBox="1"/>
          <p:nvPr/>
        </p:nvSpPr>
        <p:spPr>
          <a:xfrm>
            <a:off x="2366602" y="2633472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 8601 timestamps; module name; SHA-256 hashed artifact values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31" name="Google Shape;631;p38"/>
          <p:cNvSpPr/>
          <p:nvPr/>
        </p:nvSpPr>
        <p:spPr>
          <a:xfrm>
            <a:off x="342986" y="2859786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8"/>
          <p:cNvSpPr/>
          <p:nvPr/>
        </p:nvSpPr>
        <p:spPr>
          <a:xfrm>
            <a:off x="445882" y="2928365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8"/>
          <p:cNvSpPr txBox="1"/>
          <p:nvPr/>
        </p:nvSpPr>
        <p:spPr>
          <a:xfrm>
            <a:off x="445882" y="2955797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DETECTIVE</a:t>
            </a:r>
            <a:endParaRPr sz="1300"/>
          </a:p>
        </p:txBody>
      </p:sp>
      <p:sp>
        <p:nvSpPr>
          <p:cNvPr id="634" name="Google Shape;634;p38"/>
          <p:cNvSpPr/>
          <p:nvPr/>
        </p:nvSpPr>
        <p:spPr>
          <a:xfrm>
            <a:off x="1646332" y="2928365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8"/>
          <p:cNvSpPr txBox="1"/>
          <p:nvPr/>
        </p:nvSpPr>
        <p:spPr>
          <a:xfrm>
            <a:off x="1646332" y="2955797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AU-3</a:t>
            </a:r>
            <a:endParaRPr sz="1100"/>
          </a:p>
        </p:txBody>
      </p:sp>
      <p:sp>
        <p:nvSpPr>
          <p:cNvPr id="636" name="Google Shape;636;p38"/>
          <p:cNvSpPr txBox="1"/>
          <p:nvPr/>
        </p:nvSpPr>
        <p:spPr>
          <a:xfrm>
            <a:off x="2366602" y="2894076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 Provenance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37" name="Google Shape;637;p38"/>
          <p:cNvSpPr txBox="1"/>
          <p:nvPr/>
        </p:nvSpPr>
        <p:spPr>
          <a:xfrm>
            <a:off x="2366602" y="3065526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source_module + raw_evidence_ref + discovered_at per artifact row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38" name="Google Shape;638;p38"/>
          <p:cNvSpPr/>
          <p:nvPr/>
        </p:nvSpPr>
        <p:spPr>
          <a:xfrm>
            <a:off x="342986" y="3291840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8"/>
          <p:cNvSpPr/>
          <p:nvPr/>
        </p:nvSpPr>
        <p:spPr>
          <a:xfrm>
            <a:off x="445882" y="3360419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8"/>
          <p:cNvSpPr txBox="1"/>
          <p:nvPr/>
        </p:nvSpPr>
        <p:spPr>
          <a:xfrm>
            <a:off x="445882" y="3387852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DETECTIVE</a:t>
            </a:r>
            <a:endParaRPr sz="1300"/>
          </a:p>
        </p:txBody>
      </p:sp>
      <p:sp>
        <p:nvSpPr>
          <p:cNvPr id="641" name="Google Shape;641;p38"/>
          <p:cNvSpPr/>
          <p:nvPr/>
        </p:nvSpPr>
        <p:spPr>
          <a:xfrm>
            <a:off x="1646332" y="3360419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8"/>
          <p:cNvSpPr txBox="1"/>
          <p:nvPr/>
        </p:nvSpPr>
        <p:spPr>
          <a:xfrm>
            <a:off x="1646332" y="3387852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SI-7</a:t>
            </a:r>
            <a:endParaRPr sz="1100"/>
          </a:p>
        </p:txBody>
      </p:sp>
      <p:sp>
        <p:nvSpPr>
          <p:cNvPr id="643" name="Google Shape;643;p38"/>
          <p:cNvSpPr txBox="1"/>
          <p:nvPr/>
        </p:nvSpPr>
        <p:spPr>
          <a:xfrm>
            <a:off x="2366602" y="3326130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 Integrity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44" name="Google Shape;644;p38"/>
          <p:cNvSpPr txBox="1"/>
          <p:nvPr/>
        </p:nvSpPr>
        <p:spPr>
          <a:xfrm>
            <a:off x="2366602" y="3497580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SHA-256 hash of SQLite DB computed on close; verified on report gen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45" name="Google Shape;645;p38"/>
          <p:cNvSpPr/>
          <p:nvPr/>
        </p:nvSpPr>
        <p:spPr>
          <a:xfrm>
            <a:off x="342986" y="3723894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8"/>
          <p:cNvSpPr/>
          <p:nvPr/>
        </p:nvSpPr>
        <p:spPr>
          <a:xfrm>
            <a:off x="445882" y="3792473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8"/>
          <p:cNvSpPr txBox="1"/>
          <p:nvPr/>
        </p:nvSpPr>
        <p:spPr>
          <a:xfrm>
            <a:off x="445882" y="3819905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RESPONSIVE</a:t>
            </a:r>
            <a:endParaRPr sz="1300"/>
          </a:p>
        </p:txBody>
      </p:sp>
      <p:sp>
        <p:nvSpPr>
          <p:cNvPr id="648" name="Google Shape;648;p38"/>
          <p:cNvSpPr/>
          <p:nvPr/>
        </p:nvSpPr>
        <p:spPr>
          <a:xfrm>
            <a:off x="1646332" y="3792473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8"/>
          <p:cNvSpPr txBox="1"/>
          <p:nvPr/>
        </p:nvSpPr>
        <p:spPr>
          <a:xfrm>
            <a:off x="1646332" y="3819905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SC-5</a:t>
            </a:r>
            <a:endParaRPr sz="1100"/>
          </a:p>
        </p:txBody>
      </p:sp>
      <p:sp>
        <p:nvSpPr>
          <p:cNvPr id="650" name="Google Shape;650;p38"/>
          <p:cNvSpPr txBox="1"/>
          <p:nvPr/>
        </p:nvSpPr>
        <p:spPr>
          <a:xfrm>
            <a:off x="2366602" y="3758184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Limit Backoff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51" name="Google Shape;651;p38"/>
          <p:cNvSpPr txBox="1"/>
          <p:nvPr/>
        </p:nvSpPr>
        <p:spPr>
          <a:xfrm>
            <a:off x="2366602" y="3929634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Exp. backoff with jitter on HTTP 429; max 3 retries per endpoint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52" name="Google Shape;652;p38"/>
          <p:cNvSpPr/>
          <p:nvPr/>
        </p:nvSpPr>
        <p:spPr>
          <a:xfrm>
            <a:off x="342986" y="4155948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8"/>
          <p:cNvSpPr/>
          <p:nvPr/>
        </p:nvSpPr>
        <p:spPr>
          <a:xfrm>
            <a:off x="445882" y="4224528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8"/>
          <p:cNvSpPr txBox="1"/>
          <p:nvPr/>
        </p:nvSpPr>
        <p:spPr>
          <a:xfrm>
            <a:off x="445882" y="4251960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RESPONSIVE</a:t>
            </a:r>
            <a:endParaRPr sz="1300"/>
          </a:p>
        </p:txBody>
      </p:sp>
      <p:sp>
        <p:nvSpPr>
          <p:cNvPr id="655" name="Google Shape;655;p38"/>
          <p:cNvSpPr/>
          <p:nvPr/>
        </p:nvSpPr>
        <p:spPr>
          <a:xfrm>
            <a:off x="1646332" y="4224528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8"/>
          <p:cNvSpPr txBox="1"/>
          <p:nvPr/>
        </p:nvSpPr>
        <p:spPr>
          <a:xfrm>
            <a:off x="1646332" y="4251960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IR-4</a:t>
            </a:r>
            <a:endParaRPr sz="1100"/>
          </a:p>
        </p:txBody>
      </p:sp>
      <p:sp>
        <p:nvSpPr>
          <p:cNvPr id="657" name="Google Shape;657;p38"/>
          <p:cNvSpPr txBox="1"/>
          <p:nvPr/>
        </p:nvSpPr>
        <p:spPr>
          <a:xfrm>
            <a:off x="2366602" y="4190238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 Packaging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58" name="Google Shape;658;p38"/>
          <p:cNvSpPr txBox="1"/>
          <p:nvPr/>
        </p:nvSpPr>
        <p:spPr>
          <a:xfrm>
            <a:off x="2366602" y="4361688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Signed timestamped ZIP: SQLite DB + raw evidence + report on close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59" name="Google Shape;659;p38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19 / 30</a:t>
            </a:r>
            <a:endParaRPr sz="1100"/>
          </a:p>
        </p:txBody>
      </p:sp>
      <p:pic>
        <p:nvPicPr>
          <p:cNvPr id="660" name="Google Shape;66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9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 — IMPLEMENTATION BLUEPRINT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6" name="Google Shape;666;p39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Delivery Milestones — 4-Week Roadmap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7" name="Google Shape;667;p39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9"/>
          <p:cNvSpPr/>
          <p:nvPr/>
        </p:nvSpPr>
        <p:spPr>
          <a:xfrm>
            <a:off x="342986" y="1131570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9"/>
          <p:cNvSpPr/>
          <p:nvPr/>
        </p:nvSpPr>
        <p:spPr>
          <a:xfrm>
            <a:off x="445882" y="1268729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9"/>
          <p:cNvSpPr txBox="1"/>
          <p:nvPr/>
        </p:nvSpPr>
        <p:spPr>
          <a:xfrm>
            <a:off x="445882" y="1316736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/>
          </a:p>
        </p:txBody>
      </p:sp>
      <p:sp>
        <p:nvSpPr>
          <p:cNvPr id="671" name="Google Shape;671;p39"/>
          <p:cNvSpPr txBox="1"/>
          <p:nvPr/>
        </p:nvSpPr>
        <p:spPr>
          <a:xfrm>
            <a:off x="1440540" y="1200150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Wk 1–2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2" name="Google Shape;672;p39"/>
          <p:cNvSpPr txBox="1"/>
          <p:nvPr/>
        </p:nvSpPr>
        <p:spPr>
          <a:xfrm>
            <a:off x="1440540" y="1313630"/>
            <a:ext cx="2743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&amp;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Infrastructure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73" name="Google Shape;673;p39"/>
          <p:cNvSpPr txBox="1"/>
          <p:nvPr/>
        </p:nvSpPr>
        <p:spPr>
          <a:xfrm>
            <a:off x="3136276" y="1337300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schema · BFS orchestrator · CLI entry point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4" name="Google Shape;674;p39"/>
          <p:cNvSpPr/>
          <p:nvPr/>
        </p:nvSpPr>
        <p:spPr>
          <a:xfrm>
            <a:off x="342986" y="1872234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9"/>
          <p:cNvSpPr/>
          <p:nvPr/>
        </p:nvSpPr>
        <p:spPr>
          <a:xfrm>
            <a:off x="445882" y="2009394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9"/>
          <p:cNvSpPr txBox="1"/>
          <p:nvPr/>
        </p:nvSpPr>
        <p:spPr>
          <a:xfrm>
            <a:off x="445882" y="2057400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/>
          </a:p>
        </p:txBody>
      </p:sp>
      <p:sp>
        <p:nvSpPr>
          <p:cNvPr id="677" name="Google Shape;677;p39"/>
          <p:cNvSpPr txBox="1"/>
          <p:nvPr/>
        </p:nvSpPr>
        <p:spPr>
          <a:xfrm>
            <a:off x="1440540" y="1940814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Wk 1–</a:t>
            </a:r>
            <a:r>
              <a:rPr b="1"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8" name="Google Shape;678;p39"/>
          <p:cNvSpPr txBox="1"/>
          <p:nvPr/>
        </p:nvSpPr>
        <p:spPr>
          <a:xfrm>
            <a:off x="1440540" y="2125980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Collection Modules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79" name="Google Shape;679;p39"/>
          <p:cNvSpPr txBox="1"/>
          <p:nvPr/>
        </p:nvSpPr>
        <p:spPr>
          <a:xfrm>
            <a:off x="3136276" y="2077968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· Email · Username · Image · Breach modules + unit tests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0" name="Google Shape;680;p39"/>
          <p:cNvSpPr/>
          <p:nvPr/>
        </p:nvSpPr>
        <p:spPr>
          <a:xfrm>
            <a:off x="342986" y="2612898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9"/>
          <p:cNvSpPr/>
          <p:nvPr/>
        </p:nvSpPr>
        <p:spPr>
          <a:xfrm>
            <a:off x="445882" y="2750058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9"/>
          <p:cNvSpPr txBox="1"/>
          <p:nvPr/>
        </p:nvSpPr>
        <p:spPr>
          <a:xfrm>
            <a:off x="445882" y="2798064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/>
          </a:p>
        </p:txBody>
      </p:sp>
      <p:sp>
        <p:nvSpPr>
          <p:cNvPr id="683" name="Google Shape;683;p39"/>
          <p:cNvSpPr txBox="1"/>
          <p:nvPr/>
        </p:nvSpPr>
        <p:spPr>
          <a:xfrm>
            <a:off x="1440540" y="2681478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Wk </a:t>
            </a:r>
            <a:r>
              <a:rPr b="1"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1"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1440540" y="2866643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Engine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85" name="Google Shape;685;p39"/>
          <p:cNvSpPr txBox="1"/>
          <p:nvPr/>
        </p:nvSpPr>
        <p:spPr>
          <a:xfrm>
            <a:off x="3136276" y="2818637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NetworkX graph · Connected components · Confidence scorer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6" name="Google Shape;686;p39"/>
          <p:cNvSpPr/>
          <p:nvPr/>
        </p:nvSpPr>
        <p:spPr>
          <a:xfrm>
            <a:off x="342986" y="3353562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9"/>
          <p:cNvSpPr/>
          <p:nvPr/>
        </p:nvSpPr>
        <p:spPr>
          <a:xfrm>
            <a:off x="445882" y="3490722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445882" y="3538728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/>
          </a:p>
        </p:txBody>
      </p:sp>
      <p:sp>
        <p:nvSpPr>
          <p:cNvPr id="689" name="Google Shape;689;p39"/>
          <p:cNvSpPr txBox="1"/>
          <p:nvPr/>
        </p:nvSpPr>
        <p:spPr>
          <a:xfrm>
            <a:off x="1440540" y="3422142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Wk </a:t>
            </a:r>
            <a:r>
              <a:rPr b="1"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1"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0" name="Google Shape;690;p39"/>
          <p:cNvSpPr txBox="1"/>
          <p:nvPr/>
        </p:nvSpPr>
        <p:spPr>
          <a:xfrm>
            <a:off x="1440540" y="3607308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Reporting &amp; Export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1" name="Google Shape;691;p39"/>
          <p:cNvSpPr txBox="1"/>
          <p:nvPr/>
        </p:nvSpPr>
        <p:spPr>
          <a:xfrm>
            <a:off x="3136276" y="3559305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Jinja2 HTML · WeasyPrint PDF · python-stix2 CTI bundle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2" name="Google Shape;692;p39"/>
          <p:cNvSpPr/>
          <p:nvPr/>
        </p:nvSpPr>
        <p:spPr>
          <a:xfrm>
            <a:off x="342986" y="4094226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9"/>
          <p:cNvSpPr/>
          <p:nvPr/>
        </p:nvSpPr>
        <p:spPr>
          <a:xfrm>
            <a:off x="445882" y="4231386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9"/>
          <p:cNvSpPr txBox="1"/>
          <p:nvPr/>
        </p:nvSpPr>
        <p:spPr>
          <a:xfrm>
            <a:off x="445882" y="4279392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5</a:t>
            </a:r>
            <a:endParaRPr/>
          </a:p>
        </p:txBody>
      </p:sp>
      <p:sp>
        <p:nvSpPr>
          <p:cNvPr id="695" name="Google Shape;695;p39"/>
          <p:cNvSpPr txBox="1"/>
          <p:nvPr/>
        </p:nvSpPr>
        <p:spPr>
          <a:xfrm>
            <a:off x="1440540" y="4162806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Wk </a:t>
            </a:r>
            <a:r>
              <a:rPr b="1"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1"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6" name="Google Shape;696;p39"/>
          <p:cNvSpPr txBox="1"/>
          <p:nvPr/>
        </p:nvSpPr>
        <p:spPr>
          <a:xfrm>
            <a:off x="1440540" y="4347972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&amp; Hardening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7" name="Google Shape;697;p39"/>
          <p:cNvSpPr txBox="1"/>
          <p:nvPr/>
        </p:nvSpPr>
        <p:spPr>
          <a:xfrm>
            <a:off x="3136276" y="4299974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tests · Injection hardening · Rate-limit compliance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8" name="Google Shape;698;p39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20 / 30</a:t>
            </a:r>
            <a:endParaRPr sz="1100"/>
          </a:p>
        </p:txBody>
      </p:sp>
      <p:pic>
        <p:nvPicPr>
          <p:cNvPr id="699" name="Google Shape;6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0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 — PHASE 1: STORAGE LAYER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05" name="Google Shape;705;p40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Investigation Schema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06" name="Google Shape;706;p40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0"/>
          <p:cNvSpPr/>
          <p:nvPr/>
        </p:nvSpPr>
        <p:spPr>
          <a:xfrm>
            <a:off x="342986" y="1131570"/>
            <a:ext cx="4047232" cy="2331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0"/>
          <p:cNvSpPr txBox="1"/>
          <p:nvPr/>
        </p:nvSpPr>
        <p:spPr>
          <a:xfrm>
            <a:off x="445882" y="1114198"/>
            <a:ext cx="390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investigations</a:t>
            </a:r>
            <a:endParaRPr sz="1300"/>
          </a:p>
        </p:txBody>
      </p:sp>
      <p:sp>
        <p:nvSpPr>
          <p:cNvPr id="709" name="Google Shape;709;p40"/>
          <p:cNvSpPr txBox="1"/>
          <p:nvPr/>
        </p:nvSpPr>
        <p:spPr>
          <a:xfrm>
            <a:off x="480180" y="1405889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investigation_id  TEXT  PK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0" name="Google Shape;710;p40"/>
          <p:cNvSpPr txBox="1"/>
          <p:nvPr/>
        </p:nvSpPr>
        <p:spPr>
          <a:xfrm>
            <a:off x="480180" y="162877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1" name="Google Shape;711;p40"/>
          <p:cNvSpPr txBox="1"/>
          <p:nvPr/>
        </p:nvSpPr>
        <p:spPr>
          <a:xfrm>
            <a:off x="480180" y="1851659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  TEXT  CHECK(...)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2" name="Google Shape;712;p40"/>
          <p:cNvSpPr txBox="1"/>
          <p:nvPr/>
        </p:nvSpPr>
        <p:spPr>
          <a:xfrm>
            <a:off x="480180" y="207454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created_at  DATETIME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3" name="Google Shape;713;p40"/>
          <p:cNvSpPr txBox="1"/>
          <p:nvPr/>
        </p:nvSpPr>
        <p:spPr>
          <a:xfrm>
            <a:off x="480180" y="2297429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completed_at  DATETIME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4" name="Google Shape;714;p40"/>
          <p:cNvSpPr txBox="1"/>
          <p:nvPr/>
        </p:nvSpPr>
        <p:spPr>
          <a:xfrm>
            <a:off x="480180" y="252031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db_sha256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5" name="Google Shape;715;p40"/>
          <p:cNvSpPr/>
          <p:nvPr/>
        </p:nvSpPr>
        <p:spPr>
          <a:xfrm>
            <a:off x="4822380" y="1131570"/>
            <a:ext cx="4047232" cy="2331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0"/>
          <p:cNvSpPr txBox="1"/>
          <p:nvPr/>
        </p:nvSpPr>
        <p:spPr>
          <a:xfrm>
            <a:off x="4925276" y="1114198"/>
            <a:ext cx="390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artifacts</a:t>
            </a:r>
            <a:endParaRPr sz="1300"/>
          </a:p>
        </p:txBody>
      </p:sp>
      <p:sp>
        <p:nvSpPr>
          <p:cNvPr id="717" name="Google Shape;717;p40"/>
          <p:cNvSpPr txBox="1"/>
          <p:nvPr/>
        </p:nvSpPr>
        <p:spPr>
          <a:xfrm>
            <a:off x="4959575" y="1405889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artifact_id  TEXT  PK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8" name="Google Shape;718;p40"/>
          <p:cNvSpPr txBox="1"/>
          <p:nvPr/>
        </p:nvSpPr>
        <p:spPr>
          <a:xfrm>
            <a:off x="4959575" y="1596934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investigation_id  TEXT  FK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9" name="Google Shape;719;p40"/>
          <p:cNvSpPr txBox="1"/>
          <p:nvPr/>
        </p:nvSpPr>
        <p:spPr>
          <a:xfrm>
            <a:off x="4959575" y="1787978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artifact_type  TEXT  CHECK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0" name="Google Shape;720;p40"/>
          <p:cNvSpPr txBox="1"/>
          <p:nvPr/>
        </p:nvSpPr>
        <p:spPr>
          <a:xfrm>
            <a:off x="4959575" y="1979023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1" name="Google Shape;721;p40"/>
          <p:cNvSpPr txBox="1"/>
          <p:nvPr/>
        </p:nvSpPr>
        <p:spPr>
          <a:xfrm>
            <a:off x="4959575" y="2170067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source_module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2" name="Google Shape;722;p40"/>
          <p:cNvSpPr txBox="1"/>
          <p:nvPr/>
        </p:nvSpPr>
        <p:spPr>
          <a:xfrm>
            <a:off x="4959575" y="2361111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 REAL  CHECK(0-1)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3" name="Google Shape;723;p40"/>
          <p:cNvSpPr txBox="1"/>
          <p:nvPr/>
        </p:nvSpPr>
        <p:spPr>
          <a:xfrm>
            <a:off x="4959575" y="255215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raw_evidence_ref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4" name="Google Shape;724;p40"/>
          <p:cNvSpPr/>
          <p:nvPr/>
        </p:nvSpPr>
        <p:spPr>
          <a:xfrm>
            <a:off x="342986" y="2811779"/>
            <a:ext cx="4047232" cy="2331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0"/>
          <p:cNvSpPr txBox="1"/>
          <p:nvPr/>
        </p:nvSpPr>
        <p:spPr>
          <a:xfrm>
            <a:off x="445882" y="2794407"/>
            <a:ext cx="390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artifact_links</a:t>
            </a:r>
            <a:endParaRPr sz="1300"/>
          </a:p>
        </p:txBody>
      </p:sp>
      <p:sp>
        <p:nvSpPr>
          <p:cNvPr id="726" name="Google Shape;726;p40"/>
          <p:cNvSpPr txBox="1"/>
          <p:nvPr/>
        </p:nvSpPr>
        <p:spPr>
          <a:xfrm>
            <a:off x="480180" y="3086100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link_id  TEXT  PK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7" name="Google Shape;727;p40"/>
          <p:cNvSpPr txBox="1"/>
          <p:nvPr/>
        </p:nvSpPr>
        <p:spPr>
          <a:xfrm>
            <a:off x="480180" y="336613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source_artifact  TEXT  FK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8" name="Google Shape;728;p40"/>
          <p:cNvSpPr txBox="1"/>
          <p:nvPr/>
        </p:nvSpPr>
        <p:spPr>
          <a:xfrm>
            <a:off x="480180" y="3646170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target_artifact  TEXT  FK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9" name="Google Shape;729;p40"/>
          <p:cNvSpPr txBox="1"/>
          <p:nvPr/>
        </p:nvSpPr>
        <p:spPr>
          <a:xfrm>
            <a:off x="480180" y="392620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link_type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0" name="Google Shape;730;p40"/>
          <p:cNvSpPr txBox="1"/>
          <p:nvPr/>
        </p:nvSpPr>
        <p:spPr>
          <a:xfrm>
            <a:off x="480180" y="4206240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 REAL  CHECK(0-1)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1" name="Google Shape;731;p40"/>
          <p:cNvSpPr txBox="1"/>
          <p:nvPr/>
        </p:nvSpPr>
        <p:spPr>
          <a:xfrm>
            <a:off x="480180" y="448627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  TEXT (JSON)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2" name="Google Shape;732;p40"/>
          <p:cNvSpPr/>
          <p:nvPr/>
        </p:nvSpPr>
        <p:spPr>
          <a:xfrm>
            <a:off x="4822380" y="2811779"/>
            <a:ext cx="4047232" cy="2331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0"/>
          <p:cNvSpPr txBox="1"/>
          <p:nvPr/>
        </p:nvSpPr>
        <p:spPr>
          <a:xfrm>
            <a:off x="4925276" y="2794407"/>
            <a:ext cx="390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platform_presence</a:t>
            </a:r>
            <a:endParaRPr sz="1300"/>
          </a:p>
        </p:txBody>
      </p:sp>
      <p:sp>
        <p:nvSpPr>
          <p:cNvPr id="734" name="Google Shape;734;p40"/>
          <p:cNvSpPr txBox="1"/>
          <p:nvPr/>
        </p:nvSpPr>
        <p:spPr>
          <a:xfrm>
            <a:off x="4959575" y="3086100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presence_id  TEXT  PK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5" name="Google Shape;735;p40"/>
          <p:cNvSpPr txBox="1"/>
          <p:nvPr/>
        </p:nvSpPr>
        <p:spPr>
          <a:xfrm>
            <a:off x="4959575" y="336613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platform_name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6" name="Google Shape;736;p40"/>
          <p:cNvSpPr txBox="1"/>
          <p:nvPr/>
        </p:nvSpPr>
        <p:spPr>
          <a:xfrm>
            <a:off x="4959575" y="3646170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profile_url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7" name="Google Shape;737;p40"/>
          <p:cNvSpPr txBox="1"/>
          <p:nvPr/>
        </p:nvSpPr>
        <p:spPr>
          <a:xfrm>
            <a:off x="4959575" y="392620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8" name="Google Shape;738;p40"/>
          <p:cNvSpPr txBox="1"/>
          <p:nvPr/>
        </p:nvSpPr>
        <p:spPr>
          <a:xfrm>
            <a:off x="4959575" y="4206240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is_verified  BOOLEAN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9" name="Google Shape;739;p40"/>
          <p:cNvSpPr txBox="1"/>
          <p:nvPr/>
        </p:nvSpPr>
        <p:spPr>
          <a:xfrm>
            <a:off x="4959575" y="448627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raw_evidence_ref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40" name="Google Shape;740;p40"/>
          <p:cNvSpPr txBox="1"/>
          <p:nvPr/>
        </p:nvSpPr>
        <p:spPr>
          <a:xfrm>
            <a:off x="342986" y="4821173"/>
            <a:ext cx="845803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PK = Primary Key   FK = Foreign Key   CHECK = DB Constraint   ·  Also present: investigation_metadata, audit_trail, evidence, geocode_cache</a:t>
            </a:r>
            <a:endParaRPr sz="1100"/>
          </a:p>
        </p:txBody>
      </p:sp>
      <p:sp>
        <p:nvSpPr>
          <p:cNvPr id="741" name="Google Shape;741;p40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21 / 30</a:t>
            </a:r>
            <a:endParaRPr sz="1100"/>
          </a:p>
        </p:txBody>
      </p:sp>
      <p:pic>
        <p:nvPicPr>
          <p:cNvPr id="742" name="Google Shape;7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1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 — PHASE 3: CORRELATION ENGINE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8" name="Google Shape;748;p41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Graph &amp; Confidence Scoring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9" name="Google Shape;749;p41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1"/>
          <p:cNvSpPr/>
          <p:nvPr/>
        </p:nvSpPr>
        <p:spPr>
          <a:xfrm>
            <a:off x="342986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1"/>
          <p:cNvSpPr txBox="1"/>
          <p:nvPr/>
        </p:nvSpPr>
        <p:spPr>
          <a:xfrm>
            <a:off x="493900" y="1200150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GRAPH (NetworkX DiGraph)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52" name="Google Shape;752;p41"/>
          <p:cNvSpPr txBox="1"/>
          <p:nvPr/>
        </p:nvSpPr>
        <p:spPr>
          <a:xfrm>
            <a:off x="493900" y="1488186"/>
            <a:ext cx="3772800" cy="31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Nodes:   Artifact records (phone, email,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username, image)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Edges:   Directed weighted relationships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(link_type + confidence score)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Algorithm: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1. Build DiGraph from DB artifacts + links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2. Find weakly connected components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3. Each component = one persona cluster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Score = cross-type link density / 5.0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(capped at 1.0)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classification per cluster: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burner_or_voip_phone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disposable_email_address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credential_breach_exposure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stolen_profile_photograph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53" name="Google Shape;753;p41"/>
          <p:cNvSpPr/>
          <p:nvPr/>
        </p:nvSpPr>
        <p:spPr>
          <a:xfrm>
            <a:off x="4698905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1"/>
          <p:cNvSpPr txBox="1"/>
          <p:nvPr/>
        </p:nvSpPr>
        <p:spPr>
          <a:xfrm>
            <a:off x="4849819" y="1200150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SCORING MODEL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55" name="Google Shape;755;p41"/>
          <p:cNvSpPr/>
          <p:nvPr/>
        </p:nvSpPr>
        <p:spPr>
          <a:xfrm>
            <a:off x="4849819" y="1488186"/>
            <a:ext cx="3807142" cy="246888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1"/>
          <p:cNvSpPr txBox="1"/>
          <p:nvPr/>
        </p:nvSpPr>
        <p:spPr>
          <a:xfrm>
            <a:off x="4884118" y="1522476"/>
            <a:ext cx="2743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Link Type</a:t>
            </a:r>
            <a:endParaRPr sz="1300"/>
          </a:p>
        </p:txBody>
      </p:sp>
      <p:sp>
        <p:nvSpPr>
          <p:cNvPr id="757" name="Google Shape;757;p41"/>
          <p:cNvSpPr txBox="1"/>
          <p:nvPr/>
        </p:nvSpPr>
        <p:spPr>
          <a:xfrm>
            <a:off x="7545688" y="1522476"/>
            <a:ext cx="548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sz="1300"/>
          </a:p>
        </p:txBody>
      </p:sp>
      <p:sp>
        <p:nvSpPr>
          <p:cNvPr id="758" name="Google Shape;758;p41"/>
          <p:cNvSpPr/>
          <p:nvPr/>
        </p:nvSpPr>
        <p:spPr>
          <a:xfrm>
            <a:off x="4849819" y="1735074"/>
            <a:ext cx="3807142" cy="342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1"/>
          <p:cNvSpPr txBox="1"/>
          <p:nvPr/>
        </p:nvSpPr>
        <p:spPr>
          <a:xfrm>
            <a:off x="4938996" y="1803654"/>
            <a:ext cx="24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exact_match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60" name="Google Shape;760;p41"/>
          <p:cNvSpPr/>
          <p:nvPr/>
        </p:nvSpPr>
        <p:spPr>
          <a:xfrm>
            <a:off x="7408493" y="1789938"/>
            <a:ext cx="617374" cy="233172"/>
          </a:xfrm>
          <a:prstGeom prst="rect">
            <a:avLst/>
          </a:prstGeom>
          <a:solidFill>
            <a:srgbClr val="39D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1"/>
          <p:cNvSpPr txBox="1"/>
          <p:nvPr/>
        </p:nvSpPr>
        <p:spPr>
          <a:xfrm>
            <a:off x="7408493" y="1817370"/>
            <a:ext cx="6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sz="1300"/>
          </a:p>
        </p:txBody>
      </p:sp>
      <p:sp>
        <p:nvSpPr>
          <p:cNvPr id="762" name="Google Shape;762;p41"/>
          <p:cNvSpPr/>
          <p:nvPr/>
        </p:nvSpPr>
        <p:spPr>
          <a:xfrm>
            <a:off x="4849819" y="2105406"/>
            <a:ext cx="3807142" cy="342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41"/>
          <p:cNvSpPr txBox="1"/>
          <p:nvPr/>
        </p:nvSpPr>
        <p:spPr>
          <a:xfrm>
            <a:off x="4938996" y="2173986"/>
            <a:ext cx="24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registered_with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64" name="Google Shape;764;p41"/>
          <p:cNvSpPr/>
          <p:nvPr/>
        </p:nvSpPr>
        <p:spPr>
          <a:xfrm>
            <a:off x="7408493" y="2160270"/>
            <a:ext cx="617374" cy="233172"/>
          </a:xfrm>
          <a:prstGeom prst="rect">
            <a:avLst/>
          </a:prstGeom>
          <a:solidFill>
            <a:srgbClr val="39D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1"/>
          <p:cNvSpPr txBox="1"/>
          <p:nvPr/>
        </p:nvSpPr>
        <p:spPr>
          <a:xfrm>
            <a:off x="7408493" y="2187702"/>
            <a:ext cx="6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0.90</a:t>
            </a:r>
            <a:endParaRPr sz="1300"/>
          </a:p>
        </p:txBody>
      </p:sp>
      <p:sp>
        <p:nvSpPr>
          <p:cNvPr id="766" name="Google Shape;766;p41"/>
          <p:cNvSpPr/>
          <p:nvPr/>
        </p:nvSpPr>
        <p:spPr>
          <a:xfrm>
            <a:off x="4849819" y="2475738"/>
            <a:ext cx="3807142" cy="342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1"/>
          <p:cNvSpPr txBox="1"/>
          <p:nvPr/>
        </p:nvSpPr>
        <p:spPr>
          <a:xfrm>
            <a:off x="4938996" y="2544318"/>
            <a:ext cx="24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breach_linked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68" name="Google Shape;768;p41"/>
          <p:cNvSpPr/>
          <p:nvPr/>
        </p:nvSpPr>
        <p:spPr>
          <a:xfrm>
            <a:off x="7408493" y="2530602"/>
            <a:ext cx="617374" cy="2331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1"/>
          <p:cNvSpPr txBox="1"/>
          <p:nvPr/>
        </p:nvSpPr>
        <p:spPr>
          <a:xfrm>
            <a:off x="7408493" y="2558034"/>
            <a:ext cx="6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0.80</a:t>
            </a:r>
            <a:endParaRPr sz="1300"/>
          </a:p>
        </p:txBody>
      </p:sp>
      <p:sp>
        <p:nvSpPr>
          <p:cNvPr id="770" name="Google Shape;770;p41"/>
          <p:cNvSpPr/>
          <p:nvPr/>
        </p:nvSpPr>
        <p:spPr>
          <a:xfrm>
            <a:off x="4849819" y="2846070"/>
            <a:ext cx="3807142" cy="342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1"/>
          <p:cNvSpPr txBox="1"/>
          <p:nvPr/>
        </p:nvSpPr>
        <p:spPr>
          <a:xfrm>
            <a:off x="4938996" y="2914650"/>
            <a:ext cx="24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image_match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72" name="Google Shape;772;p41"/>
          <p:cNvSpPr/>
          <p:nvPr/>
        </p:nvSpPr>
        <p:spPr>
          <a:xfrm>
            <a:off x="7408493" y="2900934"/>
            <a:ext cx="617374" cy="2331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1"/>
          <p:cNvSpPr txBox="1"/>
          <p:nvPr/>
        </p:nvSpPr>
        <p:spPr>
          <a:xfrm>
            <a:off x="7408493" y="2928366"/>
            <a:ext cx="6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0.70</a:t>
            </a:r>
            <a:endParaRPr sz="1300"/>
          </a:p>
        </p:txBody>
      </p:sp>
      <p:sp>
        <p:nvSpPr>
          <p:cNvPr id="774" name="Google Shape;774;p41"/>
          <p:cNvSpPr/>
          <p:nvPr/>
        </p:nvSpPr>
        <p:spPr>
          <a:xfrm>
            <a:off x="4849819" y="3216402"/>
            <a:ext cx="3807142" cy="342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1"/>
          <p:cNvSpPr txBox="1"/>
          <p:nvPr/>
        </p:nvSpPr>
        <p:spPr>
          <a:xfrm>
            <a:off x="4938996" y="3284981"/>
            <a:ext cx="24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username_pattern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76" name="Google Shape;776;p41"/>
          <p:cNvSpPr/>
          <p:nvPr/>
        </p:nvSpPr>
        <p:spPr>
          <a:xfrm>
            <a:off x="7408493" y="3271266"/>
            <a:ext cx="617374" cy="233172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1"/>
          <p:cNvSpPr txBox="1"/>
          <p:nvPr/>
        </p:nvSpPr>
        <p:spPr>
          <a:xfrm>
            <a:off x="7408493" y="3298698"/>
            <a:ext cx="6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0.60</a:t>
            </a:r>
            <a:endParaRPr sz="1300"/>
          </a:p>
        </p:txBody>
      </p:sp>
      <p:sp>
        <p:nvSpPr>
          <p:cNvPr id="778" name="Google Shape;778;p41"/>
          <p:cNvSpPr/>
          <p:nvPr/>
        </p:nvSpPr>
        <p:spPr>
          <a:xfrm>
            <a:off x="4849819" y="3586734"/>
            <a:ext cx="3807142" cy="342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1"/>
          <p:cNvSpPr txBox="1"/>
          <p:nvPr/>
        </p:nvSpPr>
        <p:spPr>
          <a:xfrm>
            <a:off x="4938996" y="3655314"/>
            <a:ext cx="24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temporal_match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80" name="Google Shape;780;p41"/>
          <p:cNvSpPr/>
          <p:nvPr/>
        </p:nvSpPr>
        <p:spPr>
          <a:xfrm>
            <a:off x="7408493" y="3641598"/>
            <a:ext cx="617374" cy="233172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1"/>
          <p:cNvSpPr txBox="1"/>
          <p:nvPr/>
        </p:nvSpPr>
        <p:spPr>
          <a:xfrm>
            <a:off x="7408493" y="3669030"/>
            <a:ext cx="6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0.40</a:t>
            </a:r>
            <a:endParaRPr sz="1300"/>
          </a:p>
        </p:txBody>
      </p:sp>
      <p:sp>
        <p:nvSpPr>
          <p:cNvPr id="782" name="Google Shape;782;p41"/>
          <p:cNvSpPr txBox="1"/>
          <p:nvPr/>
        </p:nvSpPr>
        <p:spPr>
          <a:xfrm>
            <a:off x="4849819" y="3977640"/>
            <a:ext cx="380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Staleness Decay:  &gt;365 days → ×0.80   |   &gt;730 days → ×0.60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83" name="Google Shape;783;p41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22 / 30</a:t>
            </a:r>
            <a:endParaRPr sz="1100"/>
          </a:p>
        </p:txBody>
      </p:sp>
      <p:pic>
        <p:nvPicPr>
          <p:cNvPr id="784" name="Google Shape;78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2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 — PHASE 4: REPORTING &amp; EXPORT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90" name="Google Shape;790;p42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Investigation Reports &amp; Export Formats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91" name="Google Shape;791;p42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2"/>
          <p:cNvSpPr/>
          <p:nvPr/>
        </p:nvSpPr>
        <p:spPr>
          <a:xfrm>
            <a:off x="342986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2"/>
          <p:cNvSpPr txBox="1"/>
          <p:nvPr/>
        </p:nvSpPr>
        <p:spPr>
          <a:xfrm>
            <a:off x="493900" y="1200150"/>
            <a:ext cx="5076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 STRUCTURE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94" name="Google Shape;794;p42"/>
          <p:cNvSpPr/>
          <p:nvPr/>
        </p:nvSpPr>
        <p:spPr>
          <a:xfrm>
            <a:off x="493900" y="1488186"/>
            <a:ext cx="5076190" cy="246888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2"/>
          <p:cNvSpPr txBox="1"/>
          <p:nvPr/>
        </p:nvSpPr>
        <p:spPr>
          <a:xfrm>
            <a:off x="528198" y="1522476"/>
            <a:ext cx="2195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96" name="Google Shape;796;p42"/>
          <p:cNvSpPr txBox="1"/>
          <p:nvPr/>
        </p:nvSpPr>
        <p:spPr>
          <a:xfrm>
            <a:off x="2675289" y="1522476"/>
            <a:ext cx="102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97" name="Google Shape;797;p42"/>
          <p:cNvSpPr txBox="1"/>
          <p:nvPr/>
        </p:nvSpPr>
        <p:spPr>
          <a:xfrm>
            <a:off x="3738545" y="1522476"/>
            <a:ext cx="171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98" name="Google Shape;798;p42"/>
          <p:cNvSpPr txBox="1"/>
          <p:nvPr/>
        </p:nvSpPr>
        <p:spPr>
          <a:xfrm>
            <a:off x="562497" y="1803654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99" name="Google Shape;799;p42"/>
          <p:cNvSpPr/>
          <p:nvPr/>
        </p:nvSpPr>
        <p:spPr>
          <a:xfrm>
            <a:off x="2675289" y="1796795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2"/>
          <p:cNvSpPr txBox="1"/>
          <p:nvPr/>
        </p:nvSpPr>
        <p:spPr>
          <a:xfrm>
            <a:off x="2675289" y="1817370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+ 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1" name="Google Shape;801;p42"/>
          <p:cNvSpPr txBox="1"/>
          <p:nvPr/>
        </p:nvSpPr>
        <p:spPr>
          <a:xfrm>
            <a:off x="3738545" y="1803654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Seed artifacts; persona count; confidence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2" name="Google Shape;802;p42"/>
          <p:cNvSpPr txBox="1"/>
          <p:nvPr/>
        </p:nvSpPr>
        <p:spPr>
          <a:xfrm>
            <a:off x="562497" y="2160270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Profile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3" name="Google Shape;803;p42"/>
          <p:cNvSpPr/>
          <p:nvPr/>
        </p:nvSpPr>
        <p:spPr>
          <a:xfrm>
            <a:off x="2675289" y="2153411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2"/>
          <p:cNvSpPr txBox="1"/>
          <p:nvPr/>
        </p:nvSpPr>
        <p:spPr>
          <a:xfrm>
            <a:off x="2675289" y="2173986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+ 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5" name="Google Shape;805;p42"/>
          <p:cNvSpPr txBox="1"/>
          <p:nvPr/>
        </p:nvSpPr>
        <p:spPr>
          <a:xfrm>
            <a:off x="3738545" y="2160270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Consolidated emails, phones, usernames, images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6" name="Google Shape;806;p42"/>
          <p:cNvSpPr txBox="1"/>
          <p:nvPr/>
        </p:nvSpPr>
        <p:spPr>
          <a:xfrm>
            <a:off x="562497" y="2516886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Presence Matrix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7" name="Google Shape;807;p42"/>
          <p:cNvSpPr/>
          <p:nvPr/>
        </p:nvSpPr>
        <p:spPr>
          <a:xfrm>
            <a:off x="2675289" y="2510027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2"/>
          <p:cNvSpPr txBox="1"/>
          <p:nvPr/>
        </p:nvSpPr>
        <p:spPr>
          <a:xfrm>
            <a:off x="2675289" y="2530602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+ 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9" name="Google Shape;809;p42"/>
          <p:cNvSpPr txBox="1"/>
          <p:nvPr/>
        </p:nvSpPr>
        <p:spPr>
          <a:xfrm>
            <a:off x="3738545" y="2516886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Profile URLs, creation dates, verification status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0" name="Google Shape;810;p42"/>
          <p:cNvSpPr txBox="1"/>
          <p:nvPr/>
        </p:nvSpPr>
        <p:spPr>
          <a:xfrm>
            <a:off x="562497" y="2873501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 Graph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1" name="Google Shape;811;p42"/>
          <p:cNvSpPr/>
          <p:nvPr/>
        </p:nvSpPr>
        <p:spPr>
          <a:xfrm>
            <a:off x="2675289" y="2866643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2"/>
          <p:cNvSpPr txBox="1"/>
          <p:nvPr/>
        </p:nvSpPr>
        <p:spPr>
          <a:xfrm>
            <a:off x="2675289" y="2887218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only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3" name="Google Shape;813;p42"/>
          <p:cNvSpPr txBox="1"/>
          <p:nvPr/>
        </p:nvSpPr>
        <p:spPr>
          <a:xfrm>
            <a:off x="3738545" y="2873501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pyvis force-directed graph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4" name="Google Shape;814;p42"/>
          <p:cNvSpPr txBox="1"/>
          <p:nvPr/>
        </p:nvSpPr>
        <p:spPr>
          <a:xfrm>
            <a:off x="562497" y="3230117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Breach Exposure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5" name="Google Shape;815;p42"/>
          <p:cNvSpPr/>
          <p:nvPr/>
        </p:nvSpPr>
        <p:spPr>
          <a:xfrm>
            <a:off x="2675289" y="3223259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2"/>
          <p:cNvSpPr txBox="1"/>
          <p:nvPr/>
        </p:nvSpPr>
        <p:spPr>
          <a:xfrm>
            <a:off x="2675289" y="3243834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+ 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7" name="Google Shape;817;p42"/>
          <p:cNvSpPr txBox="1"/>
          <p:nvPr/>
        </p:nvSpPr>
        <p:spPr>
          <a:xfrm>
            <a:off x="3738545" y="3230117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Breaches per artifact; data types; pwd exposure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8" name="Google Shape;818;p42"/>
          <p:cNvSpPr txBox="1"/>
          <p:nvPr/>
        </p:nvSpPr>
        <p:spPr>
          <a:xfrm>
            <a:off x="562497" y="3586734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 Chain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9" name="Google Shape;819;p42"/>
          <p:cNvSpPr/>
          <p:nvPr/>
        </p:nvSpPr>
        <p:spPr>
          <a:xfrm>
            <a:off x="2675289" y="3579876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2"/>
          <p:cNvSpPr txBox="1"/>
          <p:nvPr/>
        </p:nvSpPr>
        <p:spPr>
          <a:xfrm>
            <a:off x="2675289" y="3600450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+ 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1" name="Google Shape;821;p42"/>
          <p:cNvSpPr txBox="1"/>
          <p:nvPr/>
        </p:nvSpPr>
        <p:spPr>
          <a:xfrm>
            <a:off x="3738545" y="3586734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Ordered audit trail with raw evidence references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2" name="Google Shape;822;p42"/>
          <p:cNvSpPr txBox="1"/>
          <p:nvPr/>
        </p:nvSpPr>
        <p:spPr>
          <a:xfrm>
            <a:off x="562497" y="3943350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CSV Export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3" name="Google Shape;823;p42"/>
          <p:cNvSpPr/>
          <p:nvPr/>
        </p:nvSpPr>
        <p:spPr>
          <a:xfrm>
            <a:off x="2675289" y="3936492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2"/>
          <p:cNvSpPr txBox="1"/>
          <p:nvPr/>
        </p:nvSpPr>
        <p:spPr>
          <a:xfrm>
            <a:off x="2675289" y="3957066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CSV file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5" name="Google Shape;825;p42"/>
          <p:cNvSpPr txBox="1"/>
          <p:nvPr/>
        </p:nvSpPr>
        <p:spPr>
          <a:xfrm>
            <a:off x="3738545" y="3943350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Flat artifact &amp; link tables for spreadsheet analysis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6" name="Google Shape;826;p42"/>
          <p:cNvSpPr/>
          <p:nvPr/>
        </p:nvSpPr>
        <p:spPr>
          <a:xfrm>
            <a:off x="5899356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2"/>
          <p:cNvSpPr txBox="1"/>
          <p:nvPr/>
        </p:nvSpPr>
        <p:spPr>
          <a:xfrm>
            <a:off x="6050270" y="1200150"/>
            <a:ext cx="2606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PDF EXPORT PIPELINE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8" name="Google Shape;828;p42"/>
          <p:cNvSpPr txBox="1"/>
          <p:nvPr/>
        </p:nvSpPr>
        <p:spPr>
          <a:xfrm>
            <a:off x="6139445" y="1543050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pandoc (primary)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9" name="Google Shape;829;p42"/>
          <p:cNvSpPr txBox="1"/>
          <p:nvPr/>
        </p:nvSpPr>
        <p:spPr>
          <a:xfrm>
            <a:off x="6139445" y="1776222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→ PDF via a LaTeX engine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0" name="Google Shape;830;p42"/>
          <p:cNvSpPr txBox="1"/>
          <p:nvPr/>
        </p:nvSpPr>
        <p:spPr>
          <a:xfrm>
            <a:off x="6139445" y="2194560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xelatex → pdflatex → lualatex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1" name="Google Shape;831;p42"/>
          <p:cNvSpPr txBox="1"/>
          <p:nvPr/>
        </p:nvSpPr>
        <p:spPr>
          <a:xfrm>
            <a:off x="6139445" y="2427732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Ordered LaTeX engine fallback chain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2" name="Google Shape;832;p42"/>
          <p:cNvSpPr txBox="1"/>
          <p:nvPr/>
        </p:nvSpPr>
        <p:spPr>
          <a:xfrm>
            <a:off x="6139445" y="2846070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wkhtmltopdf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3" name="Google Shape;833;p42"/>
          <p:cNvSpPr txBox="1"/>
          <p:nvPr/>
        </p:nvSpPr>
        <p:spPr>
          <a:xfrm>
            <a:off x="6139445" y="3079242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Fallback if no LaTeX engine is present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4" name="Google Shape;834;p42"/>
          <p:cNvSpPr txBox="1"/>
          <p:nvPr/>
        </p:nvSpPr>
        <p:spPr>
          <a:xfrm>
            <a:off x="6139445" y="3497580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weasyprint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5" name="Google Shape;835;p42"/>
          <p:cNvSpPr txBox="1"/>
          <p:nvPr/>
        </p:nvSpPr>
        <p:spPr>
          <a:xfrm>
            <a:off x="6139445" y="3730752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fallback, pure-Python HTML→PDF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6" name="Google Shape;836;p42"/>
          <p:cNvSpPr txBox="1"/>
          <p:nvPr/>
        </p:nvSpPr>
        <p:spPr>
          <a:xfrm>
            <a:off x="6139445" y="4149090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CSV / JSON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7" name="Google Shape;837;p42"/>
          <p:cNvSpPr txBox="1"/>
          <p:nvPr/>
        </p:nvSpPr>
        <p:spPr>
          <a:xfrm>
            <a:off x="6139445" y="4382262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available, no external engine required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8" name="Google Shape;838;p42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24 / 30</a:t>
            </a:r>
            <a:endParaRPr sz="1100"/>
          </a:p>
        </p:txBody>
      </p:sp>
      <p:pic>
        <p:nvPicPr>
          <p:cNvPr id="839" name="Google Shape;83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3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5 — PRODUCTION-READY QUALITY STANDARDS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45" name="Google Shape;845;p43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Quality, Constraints &amp; Compliance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46" name="Google Shape;846;p43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3"/>
          <p:cNvSpPr/>
          <p:nvPr/>
        </p:nvSpPr>
        <p:spPr>
          <a:xfrm>
            <a:off x="342986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3"/>
          <p:cNvSpPr txBox="1"/>
          <p:nvPr/>
        </p:nvSpPr>
        <p:spPr>
          <a:xfrm>
            <a:off x="493900" y="1200150"/>
            <a:ext cx="3772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QUALITY STANDARDS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49" name="Google Shape;849;p43"/>
          <p:cNvSpPr txBox="1"/>
          <p:nvPr/>
        </p:nvSpPr>
        <p:spPr>
          <a:xfrm>
            <a:off x="583076" y="1529334"/>
            <a:ext cx="150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Annotations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0" name="Google Shape;850;p43"/>
          <p:cNvSpPr txBox="1"/>
          <p:nvPr/>
        </p:nvSpPr>
        <p:spPr>
          <a:xfrm>
            <a:off x="583076" y="1728216"/>
            <a:ext cx="35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hints throughout (mypy gate planned)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1" name="Google Shape;851;p43"/>
          <p:cNvSpPr txBox="1"/>
          <p:nvPr/>
        </p:nvSpPr>
        <p:spPr>
          <a:xfrm>
            <a:off x="583076" y="2064258"/>
            <a:ext cx="150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Linting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2" name="Google Shape;852;p43"/>
          <p:cNvSpPr txBox="1"/>
          <p:nvPr/>
        </p:nvSpPr>
        <p:spPr>
          <a:xfrm>
            <a:off x="583076" y="2263140"/>
            <a:ext cx="35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 ruff findings (28 auto-fixable); cleanup in progress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3" name="Google Shape;853;p43"/>
          <p:cNvSpPr txBox="1"/>
          <p:nvPr/>
        </p:nvSpPr>
        <p:spPr>
          <a:xfrm>
            <a:off x="583076" y="2599182"/>
            <a:ext cx="150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Coverage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4" name="Google Shape;854;p43"/>
          <p:cNvSpPr txBox="1"/>
          <p:nvPr/>
        </p:nvSpPr>
        <p:spPr>
          <a:xfrm>
            <a:off x="583076" y="2798064"/>
            <a:ext cx="35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71% line coverage · 572 / 572 tests passing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5" name="Google Shape;855;p43"/>
          <p:cNvSpPr txBox="1"/>
          <p:nvPr/>
        </p:nvSpPr>
        <p:spPr>
          <a:xfrm>
            <a:off x="583076" y="3134105"/>
            <a:ext cx="150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Docstrings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6" name="Google Shape;856;p43"/>
          <p:cNvSpPr txBox="1"/>
          <p:nvPr/>
        </p:nvSpPr>
        <p:spPr>
          <a:xfrm>
            <a:off x="583076" y="3332987"/>
            <a:ext cx="35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style; all public APIs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7" name="Google Shape;857;p43"/>
          <p:cNvSpPr txBox="1"/>
          <p:nvPr/>
        </p:nvSpPr>
        <p:spPr>
          <a:xfrm>
            <a:off x="583076" y="3669030"/>
            <a:ext cx="150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 Pinning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8" name="Google Shape;858;p43"/>
          <p:cNvSpPr txBox="1"/>
          <p:nvPr/>
        </p:nvSpPr>
        <p:spPr>
          <a:xfrm>
            <a:off x="583076" y="3867912"/>
            <a:ext cx="35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requirements.lock via pip-compile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9" name="Google Shape;859;p43"/>
          <p:cNvSpPr txBox="1"/>
          <p:nvPr/>
        </p:nvSpPr>
        <p:spPr>
          <a:xfrm>
            <a:off x="583076" y="4203954"/>
            <a:ext cx="150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Secrets Scanning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0" name="Google Shape;860;p43"/>
          <p:cNvSpPr txBox="1"/>
          <p:nvPr/>
        </p:nvSpPr>
        <p:spPr>
          <a:xfrm>
            <a:off x="583076" y="4402836"/>
            <a:ext cx="35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git-secrets pre-commit; no keys in VCS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1" name="Google Shape;861;p43"/>
          <p:cNvSpPr/>
          <p:nvPr/>
        </p:nvSpPr>
        <p:spPr>
          <a:xfrm>
            <a:off x="4596010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3"/>
          <p:cNvSpPr txBox="1"/>
          <p:nvPr/>
        </p:nvSpPr>
        <p:spPr>
          <a:xfrm>
            <a:off x="4746924" y="1200150"/>
            <a:ext cx="1783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CONSTRAINTS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3" name="Google Shape;863;p43"/>
          <p:cNvSpPr txBox="1"/>
          <p:nvPr/>
        </p:nvSpPr>
        <p:spPr>
          <a:xfrm>
            <a:off x="4836100" y="1529334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BFS Depth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4" name="Google Shape;864;p43"/>
          <p:cNvSpPr txBox="1"/>
          <p:nvPr/>
        </p:nvSpPr>
        <p:spPr>
          <a:xfrm>
            <a:off x="4836100" y="1721358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 2 hops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5" name="Google Shape;865;p43"/>
          <p:cNvSpPr txBox="1"/>
          <p:nvPr/>
        </p:nvSpPr>
        <p:spPr>
          <a:xfrm>
            <a:off x="4836100" y="2077974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HIBP Rate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6" name="Google Shape;866;p43"/>
          <p:cNvSpPr txBox="1"/>
          <p:nvPr/>
        </p:nvSpPr>
        <p:spPr>
          <a:xfrm>
            <a:off x="4836100" y="2269998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≥1,500 ms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7" name="Google Shape;867;p43"/>
          <p:cNvSpPr txBox="1"/>
          <p:nvPr/>
        </p:nvSpPr>
        <p:spPr>
          <a:xfrm>
            <a:off x="4836100" y="2626614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Subprocess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8" name="Google Shape;868;p43"/>
          <p:cNvSpPr txBox="1"/>
          <p:nvPr/>
        </p:nvSpPr>
        <p:spPr>
          <a:xfrm>
            <a:off x="4836100" y="2818638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sec timeout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9" name="Google Shape;869;p43"/>
          <p:cNvSpPr txBox="1"/>
          <p:nvPr/>
        </p:nvSpPr>
        <p:spPr>
          <a:xfrm>
            <a:off x="4836100" y="3175254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Conn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0" name="Google Shape;870;p43"/>
          <p:cNvSpPr txBox="1"/>
          <p:nvPr/>
        </p:nvSpPr>
        <p:spPr>
          <a:xfrm>
            <a:off x="4836100" y="3367278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sec timeout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1" name="Google Shape;871;p43"/>
          <p:cNvSpPr txBox="1"/>
          <p:nvPr/>
        </p:nvSpPr>
        <p:spPr>
          <a:xfrm>
            <a:off x="4836100" y="3723894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 Warning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2" name="Google Shape;872;p43"/>
          <p:cNvSpPr txBox="1"/>
          <p:nvPr/>
        </p:nvSpPr>
        <p:spPr>
          <a:xfrm>
            <a:off x="4836100" y="3915918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500 MB soft limit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3" name="Google Shape;873;p43"/>
          <p:cNvSpPr txBox="1"/>
          <p:nvPr/>
        </p:nvSpPr>
        <p:spPr>
          <a:xfrm>
            <a:off x="4836100" y="4272534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PII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4" name="Google Shape;874;p43"/>
          <p:cNvSpPr txBox="1"/>
          <p:nvPr/>
        </p:nvSpPr>
        <p:spPr>
          <a:xfrm>
            <a:off x="4836100" y="4464558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SHA-256 hashed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5" name="Google Shape;875;p43"/>
          <p:cNvSpPr/>
          <p:nvPr/>
        </p:nvSpPr>
        <p:spPr>
          <a:xfrm>
            <a:off x="6825417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3"/>
          <p:cNvSpPr txBox="1"/>
          <p:nvPr/>
        </p:nvSpPr>
        <p:spPr>
          <a:xfrm>
            <a:off x="6976331" y="1200150"/>
            <a:ext cx="1783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LEGAL &amp; ETHICAL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7" name="Google Shape;877;p43"/>
          <p:cNvSpPr txBox="1"/>
          <p:nvPr/>
        </p:nvSpPr>
        <p:spPr>
          <a:xfrm>
            <a:off x="6976331" y="1495044"/>
            <a:ext cx="181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Passive OSINT only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8" name="Google Shape;878;p43"/>
          <p:cNvSpPr txBox="1"/>
          <p:nvPr/>
        </p:nvSpPr>
        <p:spPr>
          <a:xfrm>
            <a:off x="6976331" y="1961388"/>
            <a:ext cx="181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No credential stuffing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9" name="Google Shape;879;p43"/>
          <p:cNvSpPr txBox="1"/>
          <p:nvPr/>
        </p:nvSpPr>
        <p:spPr>
          <a:xfrm>
            <a:off x="6976331" y="2427732"/>
            <a:ext cx="181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No active exploitation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80" name="Google Shape;880;p43"/>
          <p:cNvSpPr txBox="1"/>
          <p:nvPr/>
        </p:nvSpPr>
        <p:spPr>
          <a:xfrm>
            <a:off x="6976331" y="2894076"/>
            <a:ext cx="181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GDPR / CCPA / IT Act 2000 compliance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81" name="Google Shape;881;p43"/>
          <p:cNvSpPr txBox="1"/>
          <p:nvPr/>
        </p:nvSpPr>
        <p:spPr>
          <a:xfrm>
            <a:off x="6976331" y="3360420"/>
            <a:ext cx="181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API ToS adherence + rate limits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82" name="Google Shape;882;p43"/>
          <p:cNvSpPr txBox="1"/>
          <p:nvPr/>
        </p:nvSpPr>
        <p:spPr>
          <a:xfrm>
            <a:off x="6976331" y="3826764"/>
            <a:ext cx="181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Full chain-of-custody audit trail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83" name="Google Shape;883;p43"/>
          <p:cNvSpPr txBox="1"/>
          <p:nvPr/>
        </p:nvSpPr>
        <p:spPr>
          <a:xfrm>
            <a:off x="6976331" y="4293108"/>
            <a:ext cx="181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Admissibility-ready evidence packaging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84" name="Google Shape;884;p43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25 / 30</a:t>
            </a:r>
            <a:endParaRPr sz="1100"/>
          </a:p>
        </p:txBody>
      </p:sp>
      <p:pic>
        <p:nvPicPr>
          <p:cNvPr id="885" name="Google Shape;88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44"/>
          <p:cNvSpPr/>
          <p:nvPr/>
        </p:nvSpPr>
        <p:spPr>
          <a:xfrm>
            <a:off x="4376499" y="0"/>
            <a:ext cx="96036" cy="51435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4"/>
          <p:cNvSpPr txBox="1"/>
          <p:nvPr/>
        </p:nvSpPr>
        <p:spPr>
          <a:xfrm>
            <a:off x="411583" y="891540"/>
            <a:ext cx="3772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92" name="Google Shape;892;p44"/>
          <p:cNvSpPr txBox="1"/>
          <p:nvPr/>
        </p:nvSpPr>
        <p:spPr>
          <a:xfrm>
            <a:off x="411575" y="1200150"/>
            <a:ext cx="3531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 Identity Hunter: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93" name="Google Shape;893;p44"/>
          <p:cNvSpPr txBox="1"/>
          <p:nvPr/>
        </p:nvSpPr>
        <p:spPr>
          <a:xfrm>
            <a:off x="411583" y="2023110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►  Automated BFS OSINT collection across 4 artifact types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94" name="Google Shape;894;p44"/>
          <p:cNvSpPr txBox="1"/>
          <p:nvPr/>
        </p:nvSpPr>
        <p:spPr>
          <a:xfrm>
            <a:off x="411583" y="2475738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►  Graph-theoretic persona correlation with quantified confidence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95" name="Google Shape;895;p44"/>
          <p:cNvSpPr txBox="1"/>
          <p:nvPr/>
        </p:nvSpPr>
        <p:spPr>
          <a:xfrm>
            <a:off x="411583" y="2928366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►  STRIDE-modeled security controls mapped to NIST SP 800-53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96" name="Google Shape;896;p44"/>
          <p:cNvSpPr txBox="1"/>
          <p:nvPr/>
        </p:nvSpPr>
        <p:spPr>
          <a:xfrm>
            <a:off x="411583" y="3380994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►  7 MITRE ATT&amp;CK techniques detected (T1585–T1650)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97" name="Google Shape;897;p44"/>
          <p:cNvSpPr txBox="1"/>
          <p:nvPr/>
        </p:nvSpPr>
        <p:spPr>
          <a:xfrm>
            <a:off x="411583" y="3833622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►  Legally defensible HTML / PDF / JSON / CSV output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98" name="Google Shape;898;p44"/>
          <p:cNvSpPr txBox="1"/>
          <p:nvPr/>
        </p:nvSpPr>
        <p:spPr>
          <a:xfrm>
            <a:off x="411583" y="4286250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►  Zero infrastructure cost · Passive OSINT only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99" name="Google Shape;899;p44"/>
          <p:cNvSpPr/>
          <p:nvPr/>
        </p:nvSpPr>
        <p:spPr>
          <a:xfrm>
            <a:off x="4870398" y="1508760"/>
            <a:ext cx="1852123" cy="4114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4"/>
          <p:cNvSpPr txBox="1"/>
          <p:nvPr/>
        </p:nvSpPr>
        <p:spPr>
          <a:xfrm>
            <a:off x="4870398" y="1714500"/>
            <a:ext cx="1852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400+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01" name="Google Shape;901;p44"/>
          <p:cNvSpPr txBox="1"/>
          <p:nvPr/>
        </p:nvSpPr>
        <p:spPr>
          <a:xfrm>
            <a:off x="4938995" y="2503170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Platforms via Sherlock/Maigret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02" name="Google Shape;902;p44"/>
          <p:cNvSpPr/>
          <p:nvPr/>
        </p:nvSpPr>
        <p:spPr>
          <a:xfrm>
            <a:off x="6996910" y="1508760"/>
            <a:ext cx="1852123" cy="4114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4"/>
          <p:cNvSpPr txBox="1"/>
          <p:nvPr/>
        </p:nvSpPr>
        <p:spPr>
          <a:xfrm>
            <a:off x="6996910" y="1714500"/>
            <a:ext cx="1852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04" name="Google Shape;904;p44"/>
          <p:cNvSpPr txBox="1"/>
          <p:nvPr/>
        </p:nvSpPr>
        <p:spPr>
          <a:xfrm>
            <a:off x="7065507" y="2503170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ATT&amp;CK techniques covered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05" name="Google Shape;905;p44"/>
          <p:cNvSpPr/>
          <p:nvPr/>
        </p:nvSpPr>
        <p:spPr>
          <a:xfrm>
            <a:off x="4870398" y="3223260"/>
            <a:ext cx="1852123" cy="4114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44"/>
          <p:cNvSpPr txBox="1"/>
          <p:nvPr/>
        </p:nvSpPr>
        <p:spPr>
          <a:xfrm>
            <a:off x="4870398" y="3429000"/>
            <a:ext cx="1852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07" name="Google Shape;907;p44"/>
          <p:cNvSpPr txBox="1"/>
          <p:nvPr/>
        </p:nvSpPr>
        <p:spPr>
          <a:xfrm>
            <a:off x="4938995" y="4217670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NIST controls implemented          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08" name="Google Shape;908;p44"/>
          <p:cNvSpPr/>
          <p:nvPr/>
        </p:nvSpPr>
        <p:spPr>
          <a:xfrm>
            <a:off x="6996910" y="3223260"/>
            <a:ext cx="1852123" cy="4114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44"/>
          <p:cNvSpPr txBox="1"/>
          <p:nvPr/>
        </p:nvSpPr>
        <p:spPr>
          <a:xfrm>
            <a:off x="6996910" y="3429000"/>
            <a:ext cx="1852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10" name="Google Shape;910;p44"/>
          <p:cNvSpPr txBox="1"/>
          <p:nvPr/>
        </p:nvSpPr>
        <p:spPr>
          <a:xfrm>
            <a:off x="7065507" y="4217670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Infrastructur e cost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11" name="Google Shape;911;p44"/>
          <p:cNvSpPr txBox="1"/>
          <p:nvPr/>
        </p:nvSpPr>
        <p:spPr>
          <a:xfrm>
            <a:off x="4527413" y="4732020"/>
            <a:ext cx="445881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Version 0.1.0  ·  Capstone Program  ·  August 2026</a:t>
            </a:r>
            <a:endParaRPr sz="1100"/>
          </a:p>
        </p:txBody>
      </p:sp>
      <p:pic>
        <p:nvPicPr>
          <p:cNvPr id="912" name="Google Shape;91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5" name="Google Shape;665;p39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 — PHASE 3: CORRELATION ENGINE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6" name="Google Shape;666;p39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Scoring Algorithm — How It Works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7" name="Google Shape;667;p39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9"/>
          <p:cNvSpPr/>
          <p:nvPr/>
        </p:nvSpPr>
        <p:spPr>
          <a:xfrm>
            <a:off x="342986" y="1131570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9"/>
          <p:cNvSpPr/>
          <p:nvPr/>
        </p:nvSpPr>
        <p:spPr>
          <a:xfrm>
            <a:off x="445882" y="1268729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9"/>
          <p:cNvSpPr txBox="1"/>
          <p:nvPr/>
        </p:nvSpPr>
        <p:spPr>
          <a:xfrm>
            <a:off x="445882" y="1316736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71" name="Google Shape;671;p39"/>
          <p:cNvSpPr txBox="1"/>
          <p:nvPr/>
        </p:nvSpPr>
        <p:spPr>
          <a:xfrm>
            <a:off x="1440540" y="1200150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2" name="Google Shape;672;p39"/>
          <p:cNvSpPr txBox="1"/>
          <p:nvPr/>
        </p:nvSpPr>
        <p:spPr>
          <a:xfrm>
            <a:off x="1440540" y="1313630"/>
            <a:ext cx="2743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Score by Link Type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9"/>
          <p:cNvSpPr txBox="1"/>
          <p:nvPr/>
        </p:nvSpPr>
        <p:spPr>
          <a:xfrm>
            <a:off x="3136276" y="1337300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BASE_SCORES lookup: exact_match 1.00 down to temporal_match 0.40 (scorer.py)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4" name="Google Shape;674;p39"/>
          <p:cNvSpPr/>
          <p:nvPr/>
        </p:nvSpPr>
        <p:spPr>
          <a:xfrm>
            <a:off x="342986" y="1872234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9"/>
          <p:cNvSpPr/>
          <p:nvPr/>
        </p:nvSpPr>
        <p:spPr>
          <a:xfrm>
            <a:off x="445882" y="2009394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9"/>
          <p:cNvSpPr txBox="1"/>
          <p:nvPr/>
        </p:nvSpPr>
        <p:spPr>
          <a:xfrm>
            <a:off x="445882" y="2057400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77" name="Google Shape;677;p39"/>
          <p:cNvSpPr txBox="1"/>
          <p:nvPr/>
        </p:nvSpPr>
        <p:spPr>
          <a:xfrm>
            <a:off x="1440540" y="1940814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Decay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8" name="Google Shape;678;p39"/>
          <p:cNvSpPr txBox="1"/>
          <p:nvPr/>
        </p:nvSpPr>
        <p:spPr>
          <a:xfrm>
            <a:off x="1440540" y="2125980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Freshness Decay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79" name="Google Shape;679;p39"/>
          <p:cNvSpPr txBox="1"/>
          <p:nvPr/>
        </p:nvSpPr>
        <p:spPr>
          <a:xfrm>
            <a:off x="3136276" y="2077968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&gt;365 days → ×0.80  |  &gt;730 days → ×0.60, applied to the base score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0" name="Google Shape;680;p39"/>
          <p:cNvSpPr/>
          <p:nvPr/>
        </p:nvSpPr>
        <p:spPr>
          <a:xfrm>
            <a:off x="342986" y="2612898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9"/>
          <p:cNvSpPr/>
          <p:nvPr/>
        </p:nvSpPr>
        <p:spPr>
          <a:xfrm>
            <a:off x="445882" y="2750058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9"/>
          <p:cNvSpPr txBox="1"/>
          <p:nvPr/>
        </p:nvSpPr>
        <p:spPr>
          <a:xfrm>
            <a:off x="445882" y="2798064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83" name="Google Shape;683;p39"/>
          <p:cNvSpPr txBox="1"/>
          <p:nvPr/>
        </p:nvSpPr>
        <p:spPr>
          <a:xfrm>
            <a:off x="1440540" y="2681478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×Src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1440540" y="2866643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Reliability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85" name="Google Shape;685;p39"/>
          <p:cNvSpPr txBox="1"/>
          <p:nvPr/>
        </p:nvSpPr>
        <p:spPr>
          <a:xfrm>
            <a:off x="3136276" y="2818637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 = base × source_reliability (0.0–1.0, defaults to 1.0)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6" name="Google Shape;686;p39"/>
          <p:cNvSpPr/>
          <p:nvPr/>
        </p:nvSpPr>
        <p:spPr>
          <a:xfrm>
            <a:off x="342986" y="3353562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9"/>
          <p:cNvSpPr/>
          <p:nvPr/>
        </p:nvSpPr>
        <p:spPr>
          <a:xfrm>
            <a:off x="445882" y="3490722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445882" y="3538728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89" name="Google Shape;689;p39"/>
          <p:cNvSpPr txBox="1"/>
          <p:nvPr/>
        </p:nvSpPr>
        <p:spPr>
          <a:xfrm>
            <a:off x="1440540" y="3422142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Clamp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0" name="Google Shape;690;p39"/>
          <p:cNvSpPr txBox="1"/>
          <p:nvPr/>
        </p:nvSpPr>
        <p:spPr>
          <a:xfrm>
            <a:off x="1440540" y="3607308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 &amp; Round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1" name="Google Shape;691;p39"/>
          <p:cNvSpPr txBox="1"/>
          <p:nvPr/>
        </p:nvSpPr>
        <p:spPr>
          <a:xfrm>
            <a:off x="3136276" y="3559305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round(min(score, 1.0), 3) → final per-link confidence value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2" name="Google Shape;692;p39"/>
          <p:cNvSpPr/>
          <p:nvPr/>
        </p:nvSpPr>
        <p:spPr>
          <a:xfrm>
            <a:off x="342986" y="4094226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9"/>
          <p:cNvSpPr/>
          <p:nvPr/>
        </p:nvSpPr>
        <p:spPr>
          <a:xfrm>
            <a:off x="445882" y="4231386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9"/>
          <p:cNvSpPr txBox="1"/>
          <p:nvPr/>
        </p:nvSpPr>
        <p:spPr>
          <a:xfrm>
            <a:off x="445882" y="4279392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95" name="Google Shape;695;p39"/>
          <p:cNvSpPr txBox="1"/>
          <p:nvPr/>
        </p:nvSpPr>
        <p:spPr>
          <a:xfrm>
            <a:off x="1440540" y="4162806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ΣCap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6" name="Google Shape;696;p39"/>
          <p:cNvSpPr txBox="1"/>
          <p:nvPr/>
        </p:nvSpPr>
        <p:spPr>
          <a:xfrm>
            <a:off x="1440540" y="4347972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Aggregation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7" name="Google Shape;697;p39"/>
          <p:cNvSpPr txBox="1"/>
          <p:nvPr/>
        </p:nvSpPr>
        <p:spPr>
          <a:xfrm>
            <a:off x="3136276" y="4299974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Σ indicator weights, capped at 1.0 → critical ≥.8, high ≥.6, medium ≥.4, low ≥.2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8" name="Google Shape;698;p39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23 / 30</a:t>
            </a:r>
            <a:endParaRPr sz="1100"/>
          </a:p>
        </p:txBody>
      </p:sp>
      <p:pic>
        <p:nvPicPr>
          <p:cNvPr id="699" name="Google Shape;69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5" name="Google Shape;665;p39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5 — LIVE WORKFLOW WALKTHROUGH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6" name="Google Shape;666;p39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Investigation — CLI Walkthrough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7" name="Google Shape;667;p39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9"/>
          <p:cNvSpPr/>
          <p:nvPr/>
        </p:nvSpPr>
        <p:spPr>
          <a:xfrm>
            <a:off x="342986" y="1131570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9"/>
          <p:cNvSpPr/>
          <p:nvPr/>
        </p:nvSpPr>
        <p:spPr>
          <a:xfrm>
            <a:off x="445882" y="1268729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9"/>
          <p:cNvSpPr txBox="1"/>
          <p:nvPr/>
        </p:nvSpPr>
        <p:spPr>
          <a:xfrm>
            <a:off x="445882" y="1316736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/>
          </a:p>
        </p:txBody>
      </p:sp>
      <p:sp>
        <p:nvSpPr>
          <p:cNvPr id="671" name="Google Shape;671;p39"/>
          <p:cNvSpPr txBox="1"/>
          <p:nvPr/>
        </p:nvSpPr>
        <p:spPr>
          <a:xfrm>
            <a:off x="1440540" y="1200150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2" name="Google Shape;672;p39"/>
          <p:cNvSpPr txBox="1"/>
          <p:nvPr/>
        </p:nvSpPr>
        <p:spPr>
          <a:xfrm>
            <a:off x="1440540" y="1313630"/>
            <a:ext cx="2743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Launch Investigation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9"/>
          <p:cNvSpPr txBox="1"/>
          <p:nvPr/>
        </p:nvSpPr>
        <p:spPr>
          <a:xfrm>
            <a:off x="3136276" y="1337300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ghost-hunter investigate --phone +1... --email ... --username ... --depth 2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4" name="Google Shape;674;p39"/>
          <p:cNvSpPr/>
          <p:nvPr/>
        </p:nvSpPr>
        <p:spPr>
          <a:xfrm>
            <a:off x="342986" y="1872234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9"/>
          <p:cNvSpPr/>
          <p:nvPr/>
        </p:nvSpPr>
        <p:spPr>
          <a:xfrm>
            <a:off x="445882" y="2009394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9"/>
          <p:cNvSpPr txBox="1"/>
          <p:nvPr/>
        </p:nvSpPr>
        <p:spPr>
          <a:xfrm>
            <a:off x="445882" y="2057400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/>
          </a:p>
        </p:txBody>
      </p:sp>
      <p:sp>
        <p:nvSpPr>
          <p:cNvPr id="677" name="Google Shape;677;p39"/>
          <p:cNvSpPr txBox="1"/>
          <p:nvPr/>
        </p:nvSpPr>
        <p:spPr>
          <a:xfrm>
            <a:off x="1440540" y="1940814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8" name="Google Shape;678;p39"/>
          <p:cNvSpPr txBox="1"/>
          <p:nvPr/>
        </p:nvSpPr>
        <p:spPr>
          <a:xfrm>
            <a:off x="1440540" y="2125980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 Collection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79" name="Google Shape;679;p39"/>
          <p:cNvSpPr txBox="1"/>
          <p:nvPr/>
        </p:nvSpPr>
        <p:spPr>
          <a:xfrm>
            <a:off x="3136276" y="2077968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Orchestrator dispatches phone/email/username/image plugins across the BFS frontier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0" name="Google Shape;680;p39"/>
          <p:cNvSpPr/>
          <p:nvPr/>
        </p:nvSpPr>
        <p:spPr>
          <a:xfrm>
            <a:off x="342986" y="2612898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9"/>
          <p:cNvSpPr/>
          <p:nvPr/>
        </p:nvSpPr>
        <p:spPr>
          <a:xfrm>
            <a:off x="445882" y="2750058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9"/>
          <p:cNvSpPr txBox="1"/>
          <p:nvPr/>
        </p:nvSpPr>
        <p:spPr>
          <a:xfrm>
            <a:off x="445882" y="2798064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/>
          </a:p>
        </p:txBody>
      </p:sp>
      <p:sp>
        <p:nvSpPr>
          <p:cNvPr id="683" name="Google Shape;683;p39"/>
          <p:cNvSpPr txBox="1"/>
          <p:nvPr/>
        </p:nvSpPr>
        <p:spPr>
          <a:xfrm>
            <a:off x="1440540" y="2681478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1440540" y="2866643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Correlation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85" name="Google Shape;685;p39"/>
          <p:cNvSpPr txBox="1"/>
          <p:nvPr/>
        </p:nvSpPr>
        <p:spPr>
          <a:xfrm>
            <a:off x="3136276" y="2818637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ghost-hunter correlate — builds NetworkX graph, scores links, decays stale evidence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6" name="Google Shape;686;p39"/>
          <p:cNvSpPr/>
          <p:nvPr/>
        </p:nvSpPr>
        <p:spPr>
          <a:xfrm>
            <a:off x="342986" y="3353562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9"/>
          <p:cNvSpPr/>
          <p:nvPr/>
        </p:nvSpPr>
        <p:spPr>
          <a:xfrm>
            <a:off x="445882" y="3490722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445882" y="3538728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/>
          </a:p>
        </p:txBody>
      </p:sp>
      <p:sp>
        <p:nvSpPr>
          <p:cNvPr id="689" name="Google Shape;689;p39"/>
          <p:cNvSpPr txBox="1"/>
          <p:nvPr/>
        </p:nvSpPr>
        <p:spPr>
          <a:xfrm>
            <a:off x="1440540" y="3422142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0" name="Google Shape;690;p39"/>
          <p:cNvSpPr txBox="1"/>
          <p:nvPr/>
        </p:nvSpPr>
        <p:spPr>
          <a:xfrm>
            <a:off x="1440540" y="3607308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Review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1" name="Google Shape;691;p39"/>
          <p:cNvSpPr txBox="1"/>
          <p:nvPr/>
        </p:nvSpPr>
        <p:spPr>
          <a:xfrm>
            <a:off x="3136276" y="3559305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ghost-hunter graph — opens the interactive pyvis identity graph in-browser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2" name="Google Shape;692;p39"/>
          <p:cNvSpPr/>
          <p:nvPr/>
        </p:nvSpPr>
        <p:spPr>
          <a:xfrm>
            <a:off x="342986" y="4094226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9"/>
          <p:cNvSpPr/>
          <p:nvPr/>
        </p:nvSpPr>
        <p:spPr>
          <a:xfrm>
            <a:off x="445882" y="4231386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9"/>
          <p:cNvSpPr txBox="1"/>
          <p:nvPr/>
        </p:nvSpPr>
        <p:spPr>
          <a:xfrm>
            <a:off x="445882" y="4279392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5</a:t>
            </a:r>
            <a:endParaRPr/>
          </a:p>
        </p:txBody>
      </p:sp>
      <p:sp>
        <p:nvSpPr>
          <p:cNvPr id="695" name="Google Shape;695;p39"/>
          <p:cNvSpPr txBox="1"/>
          <p:nvPr/>
        </p:nvSpPr>
        <p:spPr>
          <a:xfrm>
            <a:off x="1440540" y="4162806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6" name="Google Shape;696;p39"/>
          <p:cNvSpPr txBox="1"/>
          <p:nvPr/>
        </p:nvSpPr>
        <p:spPr>
          <a:xfrm>
            <a:off x="1440540" y="4347972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 Evidence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7" name="Google Shape;697;p39"/>
          <p:cNvSpPr txBox="1"/>
          <p:nvPr/>
        </p:nvSpPr>
        <p:spPr>
          <a:xfrm>
            <a:off x="3136276" y="4299974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ghost-hunter report --report-format html,pdf,json,csv  +  ghost-hunter evidence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8" name="Google Shape;698;p39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28 / 30</a:t>
            </a:r>
            <a:endParaRPr sz="1100"/>
          </a:p>
        </p:txBody>
      </p:sp>
      <p:pic>
        <p:nvPicPr>
          <p:cNvPr id="699" name="Google Shape;69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33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5 — VERIFIED RESULTS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3" name="Google Shape;293;p33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Performance, Testing &amp; Results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4" name="Google Shape;294;p33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3"/>
          <p:cNvSpPr/>
          <p:nvPr/>
        </p:nvSpPr>
        <p:spPr>
          <a:xfrm>
            <a:off x="342986" y="1363340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3"/>
          <p:cNvSpPr/>
          <p:nvPr/>
        </p:nvSpPr>
        <p:spPr>
          <a:xfrm>
            <a:off x="342986" y="1363340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3"/>
          <p:cNvSpPr txBox="1"/>
          <p:nvPr/>
        </p:nvSpPr>
        <p:spPr>
          <a:xfrm>
            <a:off x="493900" y="1418195"/>
            <a:ext cx="3556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Suite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8" name="Google Shape;298;p33"/>
          <p:cNvSpPr txBox="1"/>
          <p:nvPr/>
        </p:nvSpPr>
        <p:spPr>
          <a:xfrm>
            <a:off x="493900" y="1637653"/>
            <a:ext cx="355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572 tests · 0 failures · ~32–46s full run (pytest)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4822380" y="1363340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3"/>
          <p:cNvSpPr/>
          <p:nvPr/>
        </p:nvSpPr>
        <p:spPr>
          <a:xfrm>
            <a:off x="4822380" y="1363340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3"/>
          <p:cNvSpPr txBox="1"/>
          <p:nvPr/>
        </p:nvSpPr>
        <p:spPr>
          <a:xfrm>
            <a:off x="4973299" y="1418195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Coverage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2" name="Google Shape;302;p33"/>
          <p:cNvSpPr txBox="1"/>
          <p:nvPr/>
        </p:nvSpPr>
        <p:spPr>
          <a:xfrm>
            <a:off x="4973299" y="1637650"/>
            <a:ext cx="333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71% overall (7,327 statements) — measured via pytest --cov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342986" y="2035424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3"/>
          <p:cNvSpPr/>
          <p:nvPr/>
        </p:nvSpPr>
        <p:spPr>
          <a:xfrm>
            <a:off x="342986" y="2035424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3"/>
          <p:cNvSpPr txBox="1"/>
          <p:nvPr/>
        </p:nvSpPr>
        <p:spPr>
          <a:xfrm>
            <a:off x="493900" y="2090295"/>
            <a:ext cx="3556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Weakest Modules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6" name="Google Shape;306;p33"/>
          <p:cNvSpPr txBox="1"/>
          <p:nvPr/>
        </p:nvSpPr>
        <p:spPr>
          <a:xfrm>
            <a:off x="493900" y="2309753"/>
            <a:ext cx="355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exports.py 32% · http_client.py 61% · tool_checker.py 76%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4822380" y="2035424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4822380" y="2035424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3"/>
          <p:cNvSpPr txBox="1"/>
          <p:nvPr/>
        </p:nvSpPr>
        <p:spPr>
          <a:xfrm>
            <a:off x="4973299" y="2090279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Analysis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4973299" y="2309736"/>
            <a:ext cx="3333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ruff: 37 findings, 28 auto-fixable — cleanup in progress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1" name="Google Shape;311;p33"/>
          <p:cNvSpPr/>
          <p:nvPr/>
        </p:nvSpPr>
        <p:spPr>
          <a:xfrm>
            <a:off x="342986" y="2707508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342986" y="2707508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3"/>
          <p:cNvSpPr txBox="1"/>
          <p:nvPr/>
        </p:nvSpPr>
        <p:spPr>
          <a:xfrm>
            <a:off x="493900" y="2762370"/>
            <a:ext cx="3439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Checking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493900" y="2981828"/>
            <a:ext cx="343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hints throughout source; mypy CI gate not yet wired up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5" name="Google Shape;315;p33"/>
          <p:cNvSpPr/>
          <p:nvPr/>
        </p:nvSpPr>
        <p:spPr>
          <a:xfrm>
            <a:off x="4822380" y="2707508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3"/>
          <p:cNvSpPr/>
          <p:nvPr/>
        </p:nvSpPr>
        <p:spPr>
          <a:xfrm>
            <a:off x="4822380" y="2707508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3"/>
          <p:cNvSpPr txBox="1"/>
          <p:nvPr/>
        </p:nvSpPr>
        <p:spPr>
          <a:xfrm>
            <a:off x="4973299" y="2762364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 Optimization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8" name="Google Shape;318;p33"/>
          <p:cNvSpPr txBox="1"/>
          <p:nvPr/>
        </p:nvSpPr>
        <p:spPr>
          <a:xfrm>
            <a:off x="4973299" y="2981820"/>
            <a:ext cx="3333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 BFS cut a representative run from hours to ~21s (partial run, external tools disabled)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9" name="Google Shape;319;p33"/>
          <p:cNvSpPr/>
          <p:nvPr/>
        </p:nvSpPr>
        <p:spPr>
          <a:xfrm>
            <a:off x="342986" y="3379592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3"/>
          <p:cNvSpPr/>
          <p:nvPr/>
        </p:nvSpPr>
        <p:spPr>
          <a:xfrm>
            <a:off x="342986" y="3379592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3"/>
          <p:cNvSpPr txBox="1"/>
          <p:nvPr/>
        </p:nvSpPr>
        <p:spPr>
          <a:xfrm>
            <a:off x="493900" y="3434445"/>
            <a:ext cx="328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 Gate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2" name="Google Shape;322;p33"/>
          <p:cNvSpPr txBox="1"/>
          <p:nvPr/>
        </p:nvSpPr>
        <p:spPr>
          <a:xfrm>
            <a:off x="493900" y="3653903"/>
            <a:ext cx="328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pytest + ruff on pre-commit; mypy and coverage gate planned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4822380" y="3379592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4822380" y="3379592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3"/>
          <p:cNvSpPr txBox="1"/>
          <p:nvPr/>
        </p:nvSpPr>
        <p:spPr>
          <a:xfrm>
            <a:off x="4973299" y="3434449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Investigation Depth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6" name="Google Shape;326;p33"/>
          <p:cNvSpPr txBox="1"/>
          <p:nvPr/>
        </p:nvSpPr>
        <p:spPr>
          <a:xfrm>
            <a:off x="4973299" y="3653905"/>
            <a:ext cx="333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MAX_DEPTH=2 default · 30s subprocess / 10s HTTP timeouts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342986" y="4375404"/>
            <a:ext cx="8458030" cy="58293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411583" y="4409694"/>
            <a:ext cx="197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572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411583" y="4704587"/>
            <a:ext cx="197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Tests passing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2526090" y="4409694"/>
            <a:ext cx="197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71%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2526090" y="4704587"/>
            <a:ext cx="197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 coverage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4640598" y="4409694"/>
            <a:ext cx="197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4640598" y="4704587"/>
            <a:ext cx="197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ruff findings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6755105" y="4409694"/>
            <a:ext cx="197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~21s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6755105" y="4704587"/>
            <a:ext cx="197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(optimized, partial run)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26 / 30</a:t>
            </a:r>
            <a:endParaRPr sz="1100"/>
          </a:p>
        </p:txBody>
      </p:sp>
      <p:pic>
        <p:nvPicPr>
          <p:cNvPr id="337" name="Google Shape;337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8" name="Google Shape;498;p36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6 — HONEST ASSESSMENT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Known Limitations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0" name="Google Shape;500;p36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6"/>
          <p:cNvSpPr/>
          <p:nvPr/>
        </p:nvSpPr>
        <p:spPr>
          <a:xfrm>
            <a:off x="1463081" y="114737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6"/>
          <p:cNvSpPr/>
          <p:nvPr/>
        </p:nvSpPr>
        <p:spPr>
          <a:xfrm>
            <a:off x="1463086" y="1147370"/>
            <a:ext cx="377400" cy="5349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6"/>
          <p:cNvSpPr txBox="1"/>
          <p:nvPr/>
        </p:nvSpPr>
        <p:spPr>
          <a:xfrm>
            <a:off x="1463086" y="1270813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504" name="Google Shape;504;p36"/>
          <p:cNvSpPr txBox="1"/>
          <p:nvPr/>
        </p:nvSpPr>
        <p:spPr>
          <a:xfrm>
            <a:off x="1908967" y="118166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Coverage Gap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5" name="Google Shape;505;p36"/>
          <p:cNvSpPr txBox="1"/>
          <p:nvPr/>
        </p:nvSpPr>
        <p:spPr>
          <a:xfrm>
            <a:off x="1908967" y="1421689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keyed API providers + 22 local CLI plugins vs. Maltego's 99+ transforms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6362556" y="1270829"/>
            <a:ext cx="891900" cy="2607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6"/>
          <p:cNvSpPr txBox="1"/>
          <p:nvPr/>
        </p:nvSpPr>
        <p:spPr>
          <a:xfrm>
            <a:off x="6362556" y="131883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08" name="Google Shape;508;p36"/>
          <p:cNvSpPr/>
          <p:nvPr/>
        </p:nvSpPr>
        <p:spPr>
          <a:xfrm>
            <a:off x="1463081" y="176459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6"/>
          <p:cNvSpPr/>
          <p:nvPr/>
        </p:nvSpPr>
        <p:spPr>
          <a:xfrm>
            <a:off x="1463086" y="1764590"/>
            <a:ext cx="377400" cy="5349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6"/>
          <p:cNvSpPr txBox="1"/>
          <p:nvPr/>
        </p:nvSpPr>
        <p:spPr>
          <a:xfrm>
            <a:off x="1463086" y="188803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511" name="Google Shape;511;p36"/>
          <p:cNvSpPr txBox="1"/>
          <p:nvPr/>
        </p:nvSpPr>
        <p:spPr>
          <a:xfrm>
            <a:off x="1908967" y="1798879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CTI/STIX Export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2" name="Google Shape;512;p36"/>
          <p:cNvSpPr txBox="1"/>
          <p:nvPr/>
        </p:nvSpPr>
        <p:spPr>
          <a:xfrm>
            <a:off x="1908967" y="2038909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Threat-actor / indicator export (STIX 2.1) is designed but not yet implemented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3" name="Google Shape;513;p36"/>
          <p:cNvSpPr/>
          <p:nvPr/>
        </p:nvSpPr>
        <p:spPr>
          <a:xfrm>
            <a:off x="6362556" y="1888050"/>
            <a:ext cx="891900" cy="26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6"/>
          <p:cNvSpPr txBox="1"/>
          <p:nvPr/>
        </p:nvSpPr>
        <p:spPr>
          <a:xfrm>
            <a:off x="6362556" y="193605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15" name="Google Shape;515;p36"/>
          <p:cNvSpPr/>
          <p:nvPr/>
        </p:nvSpPr>
        <p:spPr>
          <a:xfrm>
            <a:off x="1463081" y="238181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1463086" y="2381810"/>
            <a:ext cx="377400" cy="5349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6"/>
          <p:cNvSpPr txBox="1"/>
          <p:nvPr/>
        </p:nvSpPr>
        <p:spPr>
          <a:xfrm>
            <a:off x="1463086" y="250525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518" name="Google Shape;518;p36"/>
          <p:cNvSpPr txBox="1"/>
          <p:nvPr/>
        </p:nvSpPr>
        <p:spPr>
          <a:xfrm>
            <a:off x="1908967" y="241610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Concurrency Risks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9" name="Google Shape;519;p36"/>
          <p:cNvSpPr txBox="1"/>
          <p:nvPr/>
        </p:nvSpPr>
        <p:spPr>
          <a:xfrm>
            <a:off x="1908967" y="265613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Nested thread pools can oversubscribe; rate-limiter holds its lock during sleep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6362556" y="2505270"/>
            <a:ext cx="891900" cy="2607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6"/>
          <p:cNvSpPr txBox="1"/>
          <p:nvPr/>
        </p:nvSpPr>
        <p:spPr>
          <a:xfrm>
            <a:off x="6362556" y="255327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22" name="Google Shape;522;p36"/>
          <p:cNvSpPr/>
          <p:nvPr/>
        </p:nvSpPr>
        <p:spPr>
          <a:xfrm>
            <a:off x="1463081" y="299903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6"/>
          <p:cNvSpPr/>
          <p:nvPr/>
        </p:nvSpPr>
        <p:spPr>
          <a:xfrm>
            <a:off x="1463086" y="2999029"/>
            <a:ext cx="377400" cy="5349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6"/>
          <p:cNvSpPr txBox="1"/>
          <p:nvPr/>
        </p:nvSpPr>
        <p:spPr>
          <a:xfrm>
            <a:off x="1463086" y="3122473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525" name="Google Shape;525;p36"/>
          <p:cNvSpPr txBox="1"/>
          <p:nvPr/>
        </p:nvSpPr>
        <p:spPr>
          <a:xfrm>
            <a:off x="1908967" y="3033319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Type-Check Gate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6" name="Google Shape;526;p36"/>
          <p:cNvSpPr txBox="1"/>
          <p:nvPr/>
        </p:nvSpPr>
        <p:spPr>
          <a:xfrm>
            <a:off x="1908967" y="327335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mypy is not wired into CI yet, despite type hints being present throughout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7" name="Google Shape;527;p36"/>
          <p:cNvSpPr/>
          <p:nvPr/>
        </p:nvSpPr>
        <p:spPr>
          <a:xfrm>
            <a:off x="6362556" y="3122490"/>
            <a:ext cx="891900" cy="26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6"/>
          <p:cNvSpPr txBox="1"/>
          <p:nvPr/>
        </p:nvSpPr>
        <p:spPr>
          <a:xfrm>
            <a:off x="6362556" y="3170495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29" name="Google Shape;529;p36"/>
          <p:cNvSpPr/>
          <p:nvPr/>
        </p:nvSpPr>
        <p:spPr>
          <a:xfrm>
            <a:off x="1463081" y="3616256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6"/>
          <p:cNvSpPr/>
          <p:nvPr/>
        </p:nvSpPr>
        <p:spPr>
          <a:xfrm>
            <a:off x="1463086" y="3616250"/>
            <a:ext cx="377400" cy="5349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6"/>
          <p:cNvSpPr txBox="1"/>
          <p:nvPr/>
        </p:nvSpPr>
        <p:spPr>
          <a:xfrm>
            <a:off x="1463086" y="373969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  <p:sp>
        <p:nvSpPr>
          <p:cNvPr id="532" name="Google Shape;532;p36"/>
          <p:cNvSpPr txBox="1"/>
          <p:nvPr/>
        </p:nvSpPr>
        <p:spPr>
          <a:xfrm>
            <a:off x="1908967" y="365054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Under-tested Modules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33" name="Google Shape;533;p36"/>
          <p:cNvSpPr txBox="1"/>
          <p:nvPr/>
        </p:nvSpPr>
        <p:spPr>
          <a:xfrm>
            <a:off x="1908967" y="389057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exports.py (32%) and http_client.py (61%) fall well below the 71% average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6362556" y="3739710"/>
            <a:ext cx="891900" cy="26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6362556" y="378771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36" name="Google Shape;536;p36"/>
          <p:cNvSpPr/>
          <p:nvPr/>
        </p:nvSpPr>
        <p:spPr>
          <a:xfrm>
            <a:off x="1463081" y="4233476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6"/>
          <p:cNvSpPr/>
          <p:nvPr/>
        </p:nvSpPr>
        <p:spPr>
          <a:xfrm>
            <a:off x="1463086" y="4233470"/>
            <a:ext cx="377400" cy="534900"/>
          </a:xfrm>
          <a:prstGeom prst="rect">
            <a:avLst/>
          </a:prstGeom>
          <a:solidFill>
            <a:srgbClr val="39D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6"/>
          <p:cNvSpPr txBox="1"/>
          <p:nvPr/>
        </p:nvSpPr>
        <p:spPr>
          <a:xfrm>
            <a:off x="1463086" y="435691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/>
          </a:p>
        </p:txBody>
      </p:sp>
      <p:sp>
        <p:nvSpPr>
          <p:cNvPr id="539" name="Google Shape;539;p36"/>
          <p:cNvSpPr txBox="1"/>
          <p:nvPr/>
        </p:nvSpPr>
        <p:spPr>
          <a:xfrm>
            <a:off x="1908967" y="426776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Face-Match Perf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40" name="Google Shape;540;p36"/>
          <p:cNvSpPr txBox="1"/>
          <p:nvPr/>
        </p:nvSpPr>
        <p:spPr>
          <a:xfrm>
            <a:off x="1908967" y="450779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CPU-bound face_recognition runs on threads, not a ProcessPoolExecutor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41" name="Google Shape;541;p36"/>
          <p:cNvSpPr/>
          <p:nvPr/>
        </p:nvSpPr>
        <p:spPr>
          <a:xfrm>
            <a:off x="6362556" y="4356930"/>
            <a:ext cx="891900" cy="260700"/>
          </a:xfrm>
          <a:prstGeom prst="rect">
            <a:avLst/>
          </a:prstGeom>
          <a:solidFill>
            <a:srgbClr val="39D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6"/>
          <p:cNvSpPr txBox="1"/>
          <p:nvPr/>
        </p:nvSpPr>
        <p:spPr>
          <a:xfrm>
            <a:off x="6362556" y="440493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43" name="Google Shape;543;p36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27 / 30</a:t>
            </a:r>
            <a:endParaRPr sz="1100"/>
          </a:p>
        </p:txBody>
      </p:sp>
      <p:pic>
        <p:nvPicPr>
          <p:cNvPr id="544" name="Google Shape;54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5" name="Google Shape;665;p39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6 — WHAT'S NEXT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6" name="Google Shape;666;p39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Roadmap — Next Phases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7" name="Google Shape;667;p39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9"/>
          <p:cNvSpPr/>
          <p:nvPr/>
        </p:nvSpPr>
        <p:spPr>
          <a:xfrm>
            <a:off x="342986" y="1131570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9"/>
          <p:cNvSpPr/>
          <p:nvPr/>
        </p:nvSpPr>
        <p:spPr>
          <a:xfrm>
            <a:off x="445882" y="1268729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9"/>
          <p:cNvSpPr txBox="1"/>
          <p:nvPr/>
        </p:nvSpPr>
        <p:spPr>
          <a:xfrm>
            <a:off x="445882" y="1316736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/>
          </a:p>
        </p:txBody>
      </p:sp>
      <p:sp>
        <p:nvSpPr>
          <p:cNvPr id="671" name="Google Shape;671;p39"/>
          <p:cNvSpPr txBox="1"/>
          <p:nvPr/>
        </p:nvSpPr>
        <p:spPr>
          <a:xfrm>
            <a:off x="1440540" y="1200150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2" name="Google Shape;672;p39"/>
          <p:cNvSpPr txBox="1"/>
          <p:nvPr/>
        </p:nvSpPr>
        <p:spPr>
          <a:xfrm>
            <a:off x="1440540" y="1313630"/>
            <a:ext cx="2743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Concurrency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Hardening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73" name="Google Shape;673;p39"/>
          <p:cNvSpPr txBox="1"/>
          <p:nvPr/>
        </p:nvSpPr>
        <p:spPr>
          <a:xfrm>
            <a:off x="3136276" y="1337300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 rate-limiter lock-during-sleep bug; move Google Dorks onto the pooled HTTP session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4" name="Google Shape;674;p39"/>
          <p:cNvSpPr/>
          <p:nvPr/>
        </p:nvSpPr>
        <p:spPr>
          <a:xfrm>
            <a:off x="342986" y="1872234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9"/>
          <p:cNvSpPr/>
          <p:nvPr/>
        </p:nvSpPr>
        <p:spPr>
          <a:xfrm>
            <a:off x="445882" y="2009394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9"/>
          <p:cNvSpPr txBox="1"/>
          <p:nvPr/>
        </p:nvSpPr>
        <p:spPr>
          <a:xfrm>
            <a:off x="445882" y="2057400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/>
          </a:p>
        </p:txBody>
      </p:sp>
      <p:sp>
        <p:nvSpPr>
          <p:cNvPr id="677" name="Google Shape;677;p39"/>
          <p:cNvSpPr txBox="1"/>
          <p:nvPr/>
        </p:nvSpPr>
        <p:spPr>
          <a:xfrm>
            <a:off x="1440540" y="1940814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8" name="Google Shape;678;p39"/>
          <p:cNvSpPr txBox="1"/>
          <p:nvPr/>
        </p:nvSpPr>
        <p:spPr>
          <a:xfrm>
            <a:off x="1440540" y="2125980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79" name="Google Shape;679;p39"/>
          <p:cNvSpPr txBox="1"/>
          <p:nvPr/>
        </p:nvSpPr>
        <p:spPr>
          <a:xfrm>
            <a:off x="3136276" y="2077968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ProcessPoolExecutor for CPU-bound face matching; async I/O for platform fan-out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0" name="Google Shape;680;p39"/>
          <p:cNvSpPr/>
          <p:nvPr/>
        </p:nvSpPr>
        <p:spPr>
          <a:xfrm>
            <a:off x="342986" y="2612898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9"/>
          <p:cNvSpPr/>
          <p:nvPr/>
        </p:nvSpPr>
        <p:spPr>
          <a:xfrm>
            <a:off x="445882" y="2750058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9"/>
          <p:cNvSpPr txBox="1"/>
          <p:nvPr/>
        </p:nvSpPr>
        <p:spPr>
          <a:xfrm>
            <a:off x="445882" y="2798064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/>
          </a:p>
        </p:txBody>
      </p:sp>
      <p:sp>
        <p:nvSpPr>
          <p:cNvPr id="683" name="Google Shape;683;p39"/>
          <p:cNvSpPr txBox="1"/>
          <p:nvPr/>
        </p:nvSpPr>
        <p:spPr>
          <a:xfrm>
            <a:off x="1440540" y="2681478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1440540" y="2866643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CTI Export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85" name="Google Shape;685;p39"/>
          <p:cNvSpPr txBox="1"/>
          <p:nvPr/>
        </p:nvSpPr>
        <p:spPr>
          <a:xfrm>
            <a:off x="3136276" y="2818637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STIX 2.1 bundle export — ThreatActor / Indicator / Relationship / Note SDOs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6" name="Google Shape;686;p39"/>
          <p:cNvSpPr/>
          <p:nvPr/>
        </p:nvSpPr>
        <p:spPr>
          <a:xfrm>
            <a:off x="342986" y="3353562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9"/>
          <p:cNvSpPr/>
          <p:nvPr/>
        </p:nvSpPr>
        <p:spPr>
          <a:xfrm>
            <a:off x="445882" y="3490722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445882" y="3538728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/>
          </a:p>
        </p:txBody>
      </p:sp>
      <p:sp>
        <p:nvSpPr>
          <p:cNvPr id="689" name="Google Shape;689;p39"/>
          <p:cNvSpPr txBox="1"/>
          <p:nvPr/>
        </p:nvSpPr>
        <p:spPr>
          <a:xfrm>
            <a:off x="1440540" y="3422142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0" name="Google Shape;690;p39"/>
          <p:cNvSpPr txBox="1"/>
          <p:nvPr/>
        </p:nvSpPr>
        <p:spPr>
          <a:xfrm>
            <a:off x="1440540" y="3607308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 Gate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1" name="Google Shape;691;p39"/>
          <p:cNvSpPr txBox="1"/>
          <p:nvPr/>
        </p:nvSpPr>
        <p:spPr>
          <a:xfrm>
            <a:off x="3136276" y="3559305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mypy --strict to CI; raise coverage on exports.py and http_client.py toward 85%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2" name="Google Shape;692;p39"/>
          <p:cNvSpPr/>
          <p:nvPr/>
        </p:nvSpPr>
        <p:spPr>
          <a:xfrm>
            <a:off x="342986" y="4094226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9"/>
          <p:cNvSpPr/>
          <p:nvPr/>
        </p:nvSpPr>
        <p:spPr>
          <a:xfrm>
            <a:off x="445882" y="4231386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9"/>
          <p:cNvSpPr txBox="1"/>
          <p:nvPr/>
        </p:nvSpPr>
        <p:spPr>
          <a:xfrm>
            <a:off x="445882" y="4279392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/>
          </a:p>
        </p:txBody>
      </p:sp>
      <p:sp>
        <p:nvSpPr>
          <p:cNvPr id="695" name="Google Shape;695;p39"/>
          <p:cNvSpPr txBox="1"/>
          <p:nvPr/>
        </p:nvSpPr>
        <p:spPr>
          <a:xfrm>
            <a:off x="1440540" y="4162806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P5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6" name="Google Shape;696;p39"/>
          <p:cNvSpPr txBox="1"/>
          <p:nvPr/>
        </p:nvSpPr>
        <p:spPr>
          <a:xfrm>
            <a:off x="1440540" y="4347972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Growth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7" name="Google Shape;697;p39"/>
          <p:cNvSpPr txBox="1"/>
          <p:nvPr/>
        </p:nvSpPr>
        <p:spPr>
          <a:xfrm>
            <a:off x="3136276" y="4299974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keyed-API and plugin coverage toward parity with commercial OSINT platforms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8" name="Google Shape;698;p39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16 / 30</a:t>
            </a:r>
            <a:endParaRPr sz="1100"/>
          </a:p>
        </p:txBody>
      </p:sp>
      <p:pic>
        <p:nvPicPr>
          <p:cNvPr id="699" name="Google Shape;69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9" name="Google Shape;129;p25"/>
          <p:cNvSpPr/>
          <p:nvPr/>
        </p:nvSpPr>
        <p:spPr>
          <a:xfrm>
            <a:off x="4390218" y="0"/>
            <a:ext cx="82317" cy="51435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411583" y="960120"/>
            <a:ext cx="397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CSCD — GROUP 2 · CAPSTONE PROJECT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411583" y="1303020"/>
            <a:ext cx="3841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b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 Discussion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411583" y="2846070"/>
            <a:ext cx="3841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 Identity Hunter — Thank You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411583" y="3669030"/>
            <a:ext cx="3772844" cy="2743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11583" y="3771900"/>
            <a:ext cx="3772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Version 0.1.0  ·  Capstone Program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5444203" y="1554625"/>
            <a:ext cx="3095400" cy="4938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5336667" y="1554625"/>
            <a:ext cx="41100" cy="4938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5377825" y="1691785"/>
            <a:ext cx="377400" cy="219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5384685" y="1705501"/>
            <a:ext cx="35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&gt;&gt;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5799420" y="1684927"/>
            <a:ext cx="2638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documentation in /docs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5444203" y="2206137"/>
            <a:ext cx="3095400" cy="4938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5336667" y="2206135"/>
            <a:ext cx="41100" cy="4938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5377825" y="2343295"/>
            <a:ext cx="377400" cy="219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5384685" y="2357011"/>
            <a:ext cx="35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&gt;&gt;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5799420" y="2336440"/>
            <a:ext cx="2638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CLI demo available on request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5444203" y="2896623"/>
            <a:ext cx="3095400" cy="4938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5336667" y="2896615"/>
            <a:ext cx="41100" cy="4938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5377825" y="3033775"/>
            <a:ext cx="377400" cy="219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5384685" y="3047491"/>
            <a:ext cx="35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&gt;&gt;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5799420" y="3026926"/>
            <a:ext cx="2638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floor for questions &amp; discussion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800" y="80650"/>
            <a:ext cx="2683045" cy="4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5" name="Google Shape;665;p39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ARCHITECTURAL DESIGN  ·  DHAYA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6" name="Google Shape;666;p39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Walkthrough — End-to-End Investigation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7" name="Google Shape;667;p39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9"/>
          <p:cNvSpPr/>
          <p:nvPr/>
        </p:nvSpPr>
        <p:spPr>
          <a:xfrm>
            <a:off x="342986" y="1131570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9"/>
          <p:cNvSpPr/>
          <p:nvPr/>
        </p:nvSpPr>
        <p:spPr>
          <a:xfrm>
            <a:off x="445882" y="1268729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9"/>
          <p:cNvSpPr txBox="1"/>
          <p:nvPr/>
        </p:nvSpPr>
        <p:spPr>
          <a:xfrm>
            <a:off x="445882" y="1316736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71" name="Google Shape;671;p39"/>
          <p:cNvSpPr txBox="1"/>
          <p:nvPr/>
        </p:nvSpPr>
        <p:spPr>
          <a:xfrm>
            <a:off x="1440540" y="1200150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2" name="Google Shape;672;p39"/>
          <p:cNvSpPr txBox="1"/>
          <p:nvPr/>
        </p:nvSpPr>
        <p:spPr>
          <a:xfrm>
            <a:off x="1440540" y="1313630"/>
            <a:ext cx="2743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Seed &amp; Dispatch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9"/>
          <p:cNvSpPr txBox="1"/>
          <p:nvPr/>
        </p:nvSpPr>
        <p:spPr>
          <a:xfrm>
            <a:off x="3136276" y="1337300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cli.py investigate calls orchestrator.run_investigation(); seeds load into the BFS queue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4" name="Google Shape;674;p39"/>
          <p:cNvSpPr/>
          <p:nvPr/>
        </p:nvSpPr>
        <p:spPr>
          <a:xfrm>
            <a:off x="342986" y="1872234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9"/>
          <p:cNvSpPr/>
          <p:nvPr/>
        </p:nvSpPr>
        <p:spPr>
          <a:xfrm>
            <a:off x="445882" y="2009394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9"/>
          <p:cNvSpPr txBox="1"/>
          <p:nvPr/>
        </p:nvSpPr>
        <p:spPr>
          <a:xfrm>
            <a:off x="445882" y="2057400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77" name="Google Shape;677;p39"/>
          <p:cNvSpPr txBox="1"/>
          <p:nvPr/>
        </p:nvSpPr>
        <p:spPr>
          <a:xfrm>
            <a:off x="1440540" y="1940814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8" name="Google Shape;678;p39"/>
          <p:cNvSpPr txBox="1"/>
          <p:nvPr/>
        </p:nvSpPr>
        <p:spPr>
          <a:xfrm>
            <a:off x="1440540" y="2125980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Per-Artifact Processing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79" name="Google Shape;679;p39"/>
          <p:cNvSpPr txBox="1"/>
          <p:nvPr/>
        </p:nvSpPr>
        <p:spPr>
          <a:xfrm>
            <a:off x="3136276" y="2077968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artifact hits its OSINT module, external-tool dispatch, and the plugin system in parallel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0" name="Google Shape;680;p39"/>
          <p:cNvSpPr/>
          <p:nvPr/>
        </p:nvSpPr>
        <p:spPr>
          <a:xfrm>
            <a:off x="342986" y="2612898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9"/>
          <p:cNvSpPr/>
          <p:nvPr/>
        </p:nvSpPr>
        <p:spPr>
          <a:xfrm>
            <a:off x="445882" y="2750058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9"/>
          <p:cNvSpPr txBox="1"/>
          <p:nvPr/>
        </p:nvSpPr>
        <p:spPr>
          <a:xfrm>
            <a:off x="445882" y="2798064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83" name="Google Shape;683;p39"/>
          <p:cNvSpPr txBox="1"/>
          <p:nvPr/>
        </p:nvSpPr>
        <p:spPr>
          <a:xfrm>
            <a:off x="1440540" y="2681478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1440540" y="2866643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the Frontier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85" name="Google Shape;685;p39"/>
          <p:cNvSpPr txBox="1"/>
          <p:nvPr/>
        </p:nvSpPr>
        <p:spPr>
          <a:xfrm>
            <a:off x="3136276" y="2818637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discovered artifacts are deduped, persisted, and queued for the next BFS depth level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6" name="Google Shape;686;p39"/>
          <p:cNvSpPr/>
          <p:nvPr/>
        </p:nvSpPr>
        <p:spPr>
          <a:xfrm>
            <a:off x="342986" y="3353562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9"/>
          <p:cNvSpPr/>
          <p:nvPr/>
        </p:nvSpPr>
        <p:spPr>
          <a:xfrm>
            <a:off x="445882" y="3490722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445882" y="3538728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89" name="Google Shape;689;p39"/>
          <p:cNvSpPr txBox="1"/>
          <p:nvPr/>
        </p:nvSpPr>
        <p:spPr>
          <a:xfrm>
            <a:off x="1440540" y="3422142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0" name="Google Shape;690;p39"/>
          <p:cNvSpPr txBox="1"/>
          <p:nvPr/>
        </p:nvSpPr>
        <p:spPr>
          <a:xfrm>
            <a:off x="1440540" y="3607308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Correlate &amp; Finalize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1" name="Google Shape;691;p39"/>
          <p:cNvSpPr txBox="1"/>
          <p:nvPr/>
        </p:nvSpPr>
        <p:spPr>
          <a:xfrm>
            <a:off x="3136276" y="3559305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analyze_correlation() builds the identity graph; results are stored in investigation_metadata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2" name="Google Shape;692;p39"/>
          <p:cNvSpPr/>
          <p:nvPr/>
        </p:nvSpPr>
        <p:spPr>
          <a:xfrm>
            <a:off x="342986" y="4094226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9"/>
          <p:cNvSpPr/>
          <p:nvPr/>
        </p:nvSpPr>
        <p:spPr>
          <a:xfrm>
            <a:off x="445882" y="4231386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9"/>
          <p:cNvSpPr txBox="1"/>
          <p:nvPr/>
        </p:nvSpPr>
        <p:spPr>
          <a:xfrm>
            <a:off x="445882" y="4279392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95" name="Google Shape;695;p39"/>
          <p:cNvSpPr txBox="1"/>
          <p:nvPr/>
        </p:nvSpPr>
        <p:spPr>
          <a:xfrm>
            <a:off x="1440540" y="4162806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6" name="Google Shape;696;p39"/>
          <p:cNvSpPr txBox="1"/>
          <p:nvPr/>
        </p:nvSpPr>
        <p:spPr>
          <a:xfrm>
            <a:off x="1440540" y="4347972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Auto-Generate Report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7" name="Google Shape;697;p39"/>
          <p:cNvSpPr txBox="1"/>
          <p:nvPr/>
        </p:nvSpPr>
        <p:spPr>
          <a:xfrm>
            <a:off x="3136276" y="4299974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generate_html_report() / generate_json_report() render the finished investigation to reports/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8" name="Google Shape;698;p39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8 / 30</a:t>
            </a:r>
            <a:endParaRPr sz="1100"/>
          </a:p>
        </p:txBody>
      </p:sp>
      <p:pic>
        <p:nvPicPr>
          <p:cNvPr id="699" name="Google Shape;69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5" name="Google Shape;665;p39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ARCHITECTURAL DESIGN  ·  DHAYA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6" name="Google Shape;666;p39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Walkthrough — How the Report Gets Produced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7" name="Google Shape;667;p39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9"/>
          <p:cNvSpPr/>
          <p:nvPr/>
        </p:nvSpPr>
        <p:spPr>
          <a:xfrm>
            <a:off x="342986" y="1131570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9"/>
          <p:cNvSpPr/>
          <p:nvPr/>
        </p:nvSpPr>
        <p:spPr>
          <a:xfrm>
            <a:off x="445882" y="1268729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9"/>
          <p:cNvSpPr txBox="1"/>
          <p:nvPr/>
        </p:nvSpPr>
        <p:spPr>
          <a:xfrm>
            <a:off x="445882" y="1316736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71" name="Google Shape;671;p39"/>
          <p:cNvSpPr txBox="1"/>
          <p:nvPr/>
        </p:nvSpPr>
        <p:spPr>
          <a:xfrm>
            <a:off x="1440540" y="1200150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2" name="Google Shape;672;p39"/>
          <p:cNvSpPr txBox="1"/>
          <p:nvPr/>
        </p:nvSpPr>
        <p:spPr>
          <a:xfrm>
            <a:off x="1440540" y="1313630"/>
            <a:ext cx="2743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Investigation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9"/>
          <p:cNvSpPr txBox="1"/>
          <p:nvPr/>
        </p:nvSpPr>
        <p:spPr>
          <a:xfrm>
            <a:off x="3136276" y="1337300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cli.py report reads artifacts, links, platform presences and the audit trail from SQLite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4" name="Google Shape;674;p39"/>
          <p:cNvSpPr/>
          <p:nvPr/>
        </p:nvSpPr>
        <p:spPr>
          <a:xfrm>
            <a:off x="342986" y="1872234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9"/>
          <p:cNvSpPr/>
          <p:nvPr/>
        </p:nvSpPr>
        <p:spPr>
          <a:xfrm>
            <a:off x="445882" y="2009394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9"/>
          <p:cNvSpPr txBox="1"/>
          <p:nvPr/>
        </p:nvSpPr>
        <p:spPr>
          <a:xfrm>
            <a:off x="445882" y="2057400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77" name="Google Shape;677;p39"/>
          <p:cNvSpPr txBox="1"/>
          <p:nvPr/>
        </p:nvSpPr>
        <p:spPr>
          <a:xfrm>
            <a:off x="1440540" y="1940814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8" name="Google Shape;678;p39"/>
          <p:cNvSpPr txBox="1"/>
          <p:nvPr/>
        </p:nvSpPr>
        <p:spPr>
          <a:xfrm>
            <a:off x="1440540" y="2125980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Correlate Identities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79" name="Google Shape;679;p39"/>
          <p:cNvSpPr txBox="1"/>
          <p:nvPr/>
        </p:nvSpPr>
        <p:spPr>
          <a:xfrm>
            <a:off x="3136276" y="2077968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linker.correlate_identities() rebuilds the identity graph and groups connected components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0" name="Google Shape;680;p39"/>
          <p:cNvSpPr/>
          <p:nvPr/>
        </p:nvSpPr>
        <p:spPr>
          <a:xfrm>
            <a:off x="342986" y="2612898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9"/>
          <p:cNvSpPr/>
          <p:nvPr/>
        </p:nvSpPr>
        <p:spPr>
          <a:xfrm>
            <a:off x="445882" y="2750058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9"/>
          <p:cNvSpPr txBox="1"/>
          <p:nvPr/>
        </p:nvSpPr>
        <p:spPr>
          <a:xfrm>
            <a:off x="445882" y="2798064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83" name="Google Shape;683;p39"/>
          <p:cNvSpPr txBox="1"/>
          <p:nvPr/>
        </p:nvSpPr>
        <p:spPr>
          <a:xfrm>
            <a:off x="1440540" y="2681478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1440540" y="2866643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 &amp; Classify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85" name="Google Shape;685;p39"/>
          <p:cNvSpPr txBox="1"/>
          <p:nvPr/>
        </p:nvSpPr>
        <p:spPr>
          <a:xfrm>
            <a:off x="3136276" y="2818637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compute_identity_risk_score() and classify_risk_level() attach risk to each identity profile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6" name="Google Shape;686;p39"/>
          <p:cNvSpPr/>
          <p:nvPr/>
        </p:nvSpPr>
        <p:spPr>
          <a:xfrm>
            <a:off x="342986" y="3353562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9"/>
          <p:cNvSpPr/>
          <p:nvPr/>
        </p:nvSpPr>
        <p:spPr>
          <a:xfrm>
            <a:off x="445882" y="3490722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445882" y="3538728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89" name="Google Shape;689;p39"/>
          <p:cNvSpPr txBox="1"/>
          <p:nvPr/>
        </p:nvSpPr>
        <p:spPr>
          <a:xfrm>
            <a:off x="1440540" y="3422142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0" name="Google Shape;690;p39"/>
          <p:cNvSpPr txBox="1"/>
          <p:nvPr/>
        </p:nvSpPr>
        <p:spPr>
          <a:xfrm>
            <a:off x="1440540" y="3607308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Sections &amp; Graph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1" name="Google Shape;691;p39"/>
          <p:cNvSpPr txBox="1"/>
          <p:nvPr/>
        </p:nvSpPr>
        <p:spPr>
          <a:xfrm>
            <a:off x="3136276" y="3559305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Timeline, key findings, risk matrix, heatmap, and an embedded pyvis relationship graph are built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2" name="Google Shape;692;p39"/>
          <p:cNvSpPr/>
          <p:nvPr/>
        </p:nvSpPr>
        <p:spPr>
          <a:xfrm>
            <a:off x="342986" y="4094226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9"/>
          <p:cNvSpPr/>
          <p:nvPr/>
        </p:nvSpPr>
        <p:spPr>
          <a:xfrm>
            <a:off x="445882" y="4231386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9"/>
          <p:cNvSpPr txBox="1"/>
          <p:nvPr/>
        </p:nvSpPr>
        <p:spPr>
          <a:xfrm>
            <a:off x="445882" y="4279392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95" name="Google Shape;695;p39"/>
          <p:cNvSpPr txBox="1"/>
          <p:nvPr/>
        </p:nvSpPr>
        <p:spPr>
          <a:xfrm>
            <a:off x="1440540" y="4162806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6" name="Google Shape;696;p39"/>
          <p:cNvSpPr txBox="1"/>
          <p:nvPr/>
        </p:nvSpPr>
        <p:spPr>
          <a:xfrm>
            <a:off x="1440540" y="4347972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 &amp; Save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7" name="Google Shape;697;p39"/>
          <p:cNvSpPr txBox="1"/>
          <p:nvPr/>
        </p:nvSpPr>
        <p:spPr>
          <a:xfrm>
            <a:off x="3136276" y="4299974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Jinja2 renders the selected template; HTML is written to reports/{investigation_id}_report.html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8" name="Google Shape;698;p39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9 / 30</a:t>
            </a:r>
            <a:endParaRPr sz="1100"/>
          </a:p>
        </p:txBody>
      </p:sp>
      <p:pic>
        <p:nvPicPr>
          <p:cNvPr id="699" name="Google Shape;69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2" name="Google Shape;262;p30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DEMO — PHONE NUMBER LOOKUP  ·  KANTI  ·  5 MIN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Number Lookup — Real Investigation Report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342986" y="994410"/>
            <a:ext cx="8457900" cy="2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8574645" y="4869180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13 / 30</a:t>
            </a:r>
            <a:endParaRPr sz="1100"/>
          </a:p>
        </p:txBody>
      </p:sp>
      <p:pic>
        <p:nvPicPr>
          <p:cNvPr id="266" name="Google Shape;26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Picture 266" descr="demo_phone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86" y="1402299"/>
            <a:ext cx="4149014" cy="2815402"/>
          </a:xfrm>
          <a:prstGeom prst="rect">
            <a:avLst/>
          </a:prstGeom>
        </p:spPr>
      </p:pic>
      <p:sp>
        <p:nvSpPr>
          <p:cNvPr id="268" name="TextBox 267"/>
          <p:cNvSpPr txBox="1"/>
          <p:nvPr/>
        </p:nvSpPr>
        <p:spPr>
          <a:xfrm>
            <a:off x="342986" y="4560000"/>
            <a:ext cx="4149014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2263A"/>
                </a:solidFill>
                <a:latin typeface="Calibri"/>
              </a:rPr>
              <a:t>Investigation overview &amp; risk dashboard</a:t>
            </a:r>
          </a:p>
        </p:txBody>
      </p:sp>
      <p:pic>
        <p:nvPicPr>
          <p:cNvPr id="269" name="Picture 268" descr="demo_phone_evid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107" y="1090000"/>
            <a:ext cx="3852800" cy="3440000"/>
          </a:xfrm>
          <a:prstGeom prst="rect">
            <a:avLst/>
          </a:prstGeom>
        </p:spPr>
      </p:pic>
      <p:sp>
        <p:nvSpPr>
          <p:cNvPr id="270" name="TextBox 269"/>
          <p:cNvSpPr txBox="1"/>
          <p:nvPr/>
        </p:nvSpPr>
        <p:spPr>
          <a:xfrm>
            <a:off x="4652000" y="4560000"/>
            <a:ext cx="4149014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2263A"/>
                </a:solidFill>
                <a:latin typeface="Calibri"/>
              </a:rPr>
              <a:t>Evidence basis + PhoneValidationPlugin findings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2" name="Google Shape;262;p30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DEMO — MAIGRET FLOW  ·  SOUMO  ·  5 MIN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Maigret Flow — Real Investigation Report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342986" y="994410"/>
            <a:ext cx="8457900" cy="2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8574645" y="4869180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14 / 30</a:t>
            </a:r>
            <a:endParaRPr sz="1100"/>
          </a:p>
        </p:txBody>
      </p:sp>
      <p:pic>
        <p:nvPicPr>
          <p:cNvPr id="266" name="Google Shape;26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Picture 266" descr="demo_maigret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86" y="1402299"/>
            <a:ext cx="4149014" cy="2815402"/>
          </a:xfrm>
          <a:prstGeom prst="rect">
            <a:avLst/>
          </a:prstGeom>
        </p:spPr>
      </p:pic>
      <p:sp>
        <p:nvSpPr>
          <p:cNvPr id="268" name="TextBox 267"/>
          <p:cNvSpPr txBox="1"/>
          <p:nvPr/>
        </p:nvSpPr>
        <p:spPr>
          <a:xfrm>
            <a:off x="342986" y="4560000"/>
            <a:ext cx="4149014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2263A"/>
                </a:solidFill>
                <a:latin typeface="Calibri"/>
              </a:rPr>
              <a:t>Investigation overview — 9 artifacts, 7 platforms</a:t>
            </a:r>
          </a:p>
        </p:txBody>
      </p:sp>
      <p:pic>
        <p:nvPicPr>
          <p:cNvPr id="269" name="Picture 268" descr="demo_maigret_tool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00" y="1950561"/>
            <a:ext cx="4149014" cy="1718877"/>
          </a:xfrm>
          <a:prstGeom prst="rect">
            <a:avLst/>
          </a:prstGeom>
        </p:spPr>
      </p:pic>
      <p:sp>
        <p:nvSpPr>
          <p:cNvPr id="270" name="TextBox 269"/>
          <p:cNvSpPr txBox="1"/>
          <p:nvPr/>
        </p:nvSpPr>
        <p:spPr>
          <a:xfrm>
            <a:off x="4652000" y="4560000"/>
            <a:ext cx="4149014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2263A"/>
                </a:solidFill>
                <a:latin typeface="Calibri"/>
              </a:rPr>
              <a:t>Per-tool breakdown — Sherlock, Google Dorks, Maigret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2" name="Google Shape;262;p30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DEMO — REST OF THE TOOLS  ·  VINDHYA  ·  5 MIN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Holehe, WHOIS &amp; the Rest of the Toolkit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342986" y="994410"/>
            <a:ext cx="8457900" cy="2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8574645" y="4869180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15 / 30</a:t>
            </a:r>
            <a:endParaRPr sz="1100"/>
          </a:p>
        </p:txBody>
      </p:sp>
      <p:pic>
        <p:nvPicPr>
          <p:cNvPr id="266" name="Google Shape;26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Picture 266" descr="demo_rest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86" y="1402299"/>
            <a:ext cx="4149014" cy="2815402"/>
          </a:xfrm>
          <a:prstGeom prst="rect">
            <a:avLst/>
          </a:prstGeom>
        </p:spPr>
      </p:pic>
      <p:sp>
        <p:nvSpPr>
          <p:cNvPr id="268" name="TextBox 267"/>
          <p:cNvSpPr txBox="1"/>
          <p:nvPr/>
        </p:nvSpPr>
        <p:spPr>
          <a:xfrm>
            <a:off x="342986" y="4560000"/>
            <a:ext cx="4149014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2263A"/>
                </a:solidFill>
                <a:latin typeface="Calibri"/>
              </a:rPr>
              <a:t>Investigation overview — test@example.com</a:t>
            </a:r>
          </a:p>
        </p:txBody>
      </p:sp>
      <p:pic>
        <p:nvPicPr>
          <p:cNvPr id="269" name="Picture 268" descr="demo_rest_holeh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00" y="1883881"/>
            <a:ext cx="4149014" cy="1852238"/>
          </a:xfrm>
          <a:prstGeom prst="rect">
            <a:avLst/>
          </a:prstGeom>
        </p:spPr>
      </p:pic>
      <p:sp>
        <p:nvSpPr>
          <p:cNvPr id="270" name="TextBox 269"/>
          <p:cNvSpPr txBox="1"/>
          <p:nvPr/>
        </p:nvSpPr>
        <p:spPr>
          <a:xfrm>
            <a:off x="4652000" y="4560000"/>
            <a:ext cx="4149014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2263A"/>
                </a:solidFill>
                <a:latin typeface="Calibri"/>
              </a:rPr>
              <a:t>Per-tool breakdown — Holehe found 15 real registered accounts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972" y="2200000"/>
            <a:ext cx="7772056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0C4D8"/>
                </a:solidFill>
                <a:latin typeface="Calibri"/>
              </a:rPr>
              <a:t>Supporting technical detail — threat modeling, schema, scoring algorithm, quality metrics, limitations and tool internals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33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APPENDIX — TOOL INTERNALS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3" name="Google Shape;293;p33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Each OSINT Tool Works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4" name="Google Shape;294;p33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3"/>
          <p:cNvSpPr/>
          <p:nvPr/>
        </p:nvSpPr>
        <p:spPr>
          <a:xfrm>
            <a:off x="342986" y="1363340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3"/>
          <p:cNvSpPr/>
          <p:nvPr/>
        </p:nvSpPr>
        <p:spPr>
          <a:xfrm>
            <a:off x="342986" y="1363340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3"/>
          <p:cNvSpPr txBox="1"/>
          <p:nvPr/>
        </p:nvSpPr>
        <p:spPr>
          <a:xfrm>
            <a:off x="493900" y="1418195"/>
            <a:ext cx="3556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Validation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8" name="Google Shape;298;p33"/>
          <p:cNvSpPr txBox="1"/>
          <p:nvPr/>
        </p:nvSpPr>
        <p:spPr>
          <a:xfrm>
            <a:off x="493900" y="1637653"/>
            <a:ext cx="355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libphonenumber parse · carrier/region from the number, no API call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4822380" y="1363340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3"/>
          <p:cNvSpPr/>
          <p:nvPr/>
        </p:nvSpPr>
        <p:spPr>
          <a:xfrm>
            <a:off x="4822380" y="1363340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3"/>
          <p:cNvSpPr txBox="1"/>
          <p:nvPr/>
        </p:nvSpPr>
        <p:spPr>
          <a:xfrm>
            <a:off x="4973299" y="1418195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Sherlock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2" name="Google Shape;302;p33"/>
          <p:cNvSpPr txBox="1"/>
          <p:nvPr/>
        </p:nvSpPr>
        <p:spPr>
          <a:xfrm>
            <a:off x="4973299" y="1637650"/>
            <a:ext cx="333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~400 site GETs · per-site 200/404 rule = found/not-found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342986" y="2035424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3"/>
          <p:cNvSpPr/>
          <p:nvPr/>
        </p:nvSpPr>
        <p:spPr>
          <a:xfrm>
            <a:off x="342986" y="2035424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3"/>
          <p:cNvSpPr txBox="1"/>
          <p:nvPr/>
        </p:nvSpPr>
        <p:spPr>
          <a:xfrm>
            <a:off x="493900" y="2090295"/>
            <a:ext cx="3556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Maigret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6" name="Google Shape;306;p33"/>
          <p:cNvSpPr txBox="1"/>
          <p:nvPr/>
        </p:nvSpPr>
        <p:spPr>
          <a:xfrm>
            <a:off x="493900" y="2309753"/>
            <a:ext cx="355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probe technique, top 150 sites · run with --no-recursion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4822380" y="2035424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4822380" y="2035424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3"/>
          <p:cNvSpPr txBox="1"/>
          <p:nvPr/>
        </p:nvSpPr>
        <p:spPr>
          <a:xfrm>
            <a:off x="4973299" y="2090279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Holehe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4973299" y="2309736"/>
            <a:ext cx="3333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Password-reset/signup endpoint probe per site · infers account existence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1" name="Google Shape;311;p33"/>
          <p:cNvSpPr/>
          <p:nvPr/>
        </p:nvSpPr>
        <p:spPr>
          <a:xfrm>
            <a:off x="342986" y="2707508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342986" y="2707508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3"/>
          <p:cNvSpPr txBox="1"/>
          <p:nvPr/>
        </p:nvSpPr>
        <p:spPr>
          <a:xfrm>
            <a:off x="493900" y="2762370"/>
            <a:ext cx="3439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theHarvester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493900" y="2981828"/>
            <a:ext cx="343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Passive domain OSINT via search engines + crt.sh · no direct probing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342986" y="4375404"/>
            <a:ext cx="8458030" cy="58293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342986" y="4375404"/>
            <a:ext cx="845803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 screenshots are on the next slide — not mockups. theHarvester wasn't installable here, so it's description-only above.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29 / 30</a:t>
            </a:r>
            <a:endParaRPr sz="1100"/>
          </a:p>
        </p:txBody>
      </p:sp>
      <p:pic>
        <p:nvPicPr>
          <p:cNvPr id="337" name="Google Shape;337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2" name="Google Shape;262;p30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APPENDIX — TOOL INTERNALS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 Output — Reference Screenshots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342986" y="994410"/>
            <a:ext cx="8457900" cy="2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8574645" y="4869180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30 / 30</a:t>
            </a:r>
            <a:endParaRPr sz="1100"/>
          </a:p>
        </p:txBody>
      </p:sp>
      <p:pic>
        <p:nvPicPr>
          <p:cNvPr id="266" name="Google Shape;26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Picture 266" descr="demo_phone_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86" y="1598984"/>
            <a:ext cx="2712676" cy="2422032"/>
          </a:xfrm>
          <a:prstGeom prst="rect">
            <a:avLst/>
          </a:prstGeom>
        </p:spPr>
      </p:pic>
      <p:sp>
        <p:nvSpPr>
          <p:cNvPr id="268" name="TextBox 267"/>
          <p:cNvSpPr txBox="1"/>
          <p:nvPr/>
        </p:nvSpPr>
        <p:spPr>
          <a:xfrm>
            <a:off x="342986" y="4560000"/>
            <a:ext cx="2712676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2263A"/>
                </a:solidFill>
                <a:latin typeface="Calibri"/>
              </a:rPr>
              <a:t>Phone Validation — evidence &amp; confidence</a:t>
            </a:r>
          </a:p>
        </p:txBody>
      </p:sp>
      <p:pic>
        <p:nvPicPr>
          <p:cNvPr id="269" name="Picture 268" descr="demo_maigret_tool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5662" y="2248089"/>
            <a:ext cx="2712676" cy="1123822"/>
          </a:xfrm>
          <a:prstGeom prst="rect">
            <a:avLst/>
          </a:prstGeom>
        </p:spPr>
      </p:pic>
      <p:sp>
        <p:nvSpPr>
          <p:cNvPr id="270" name="TextBox 269"/>
          <p:cNvSpPr txBox="1"/>
          <p:nvPr/>
        </p:nvSpPr>
        <p:spPr>
          <a:xfrm>
            <a:off x="3215662" y="4560000"/>
            <a:ext cx="2712676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2263A"/>
                </a:solidFill>
                <a:latin typeface="Calibri"/>
              </a:rPr>
              <a:t>Sherlock + Maigret — per-tool breakdown</a:t>
            </a:r>
          </a:p>
        </p:txBody>
      </p:sp>
      <p:pic>
        <p:nvPicPr>
          <p:cNvPr id="271" name="Picture 270" descr="demo_rest_holeh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8338" y="2204492"/>
            <a:ext cx="2712676" cy="1211016"/>
          </a:xfrm>
          <a:prstGeom prst="rect">
            <a:avLst/>
          </a:prstGeom>
        </p:spPr>
      </p:pic>
      <p:sp>
        <p:nvSpPr>
          <p:cNvPr id="272" name="TextBox 271"/>
          <p:cNvSpPr txBox="1"/>
          <p:nvPr/>
        </p:nvSpPr>
        <p:spPr>
          <a:xfrm>
            <a:off x="6088338" y="4560000"/>
            <a:ext cx="2712676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2263A"/>
                </a:solidFill>
                <a:latin typeface="Calibri"/>
              </a:rPr>
              <a:t>Holehe — per-tool breakdown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