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ecf330c7cf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g3ecf330c7cf_2_75:notes"/>
          <p:cNvSpPr/>
          <p:nvPr>
            <p:ph idx="2" type="sldImg"/>
          </p:nvPr>
        </p:nvSpPr>
        <p:spPr>
          <a:xfrm>
            <a:off x="1142653" y="685800"/>
            <a:ext cx="4573369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cf330c7cf_2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g3ecf330c7cf_2_113:notes"/>
          <p:cNvSpPr/>
          <p:nvPr>
            <p:ph idx="2" type="sldImg"/>
          </p:nvPr>
        </p:nvSpPr>
        <p:spPr>
          <a:xfrm>
            <a:off x="1142653" y="685800"/>
            <a:ext cx="4573369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ecf330c7cf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g3ecf330c7cf_0_16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ecf330c7cf_2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g3ecf330c7cf_2_149:notes"/>
          <p:cNvSpPr/>
          <p:nvPr>
            <p:ph idx="2" type="sldImg"/>
          </p:nvPr>
        </p:nvSpPr>
        <p:spPr>
          <a:xfrm>
            <a:off x="1142653" y="685800"/>
            <a:ext cx="4573369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ecf330c7cf_2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g3ecf330c7cf_2_165:notes"/>
          <p:cNvSpPr/>
          <p:nvPr>
            <p:ph idx="2" type="sldImg"/>
          </p:nvPr>
        </p:nvSpPr>
        <p:spPr>
          <a:xfrm>
            <a:off x="1142653" y="685800"/>
            <a:ext cx="4573369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ecf330c7cf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g3ecf330c7cf_0_52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ecf330c7cf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g3ecf330c7cf_0_80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ecf330c7cf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g3ecf330c7cf_0_90:notes"/>
          <p:cNvSpPr/>
          <p:nvPr>
            <p:ph idx="2" type="sldImg"/>
          </p:nvPr>
        </p:nvSpPr>
        <p:spPr>
          <a:xfrm>
            <a:off x="1142653" y="685800"/>
            <a:ext cx="4573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ecf330c7cf_2_1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g3ecf330c7cf_2_192:notes"/>
          <p:cNvSpPr/>
          <p:nvPr>
            <p:ph idx="2" type="sldImg"/>
          </p:nvPr>
        </p:nvSpPr>
        <p:spPr>
          <a:xfrm>
            <a:off x="1142653" y="685800"/>
            <a:ext cx="4573369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ecf330c7cf_2_2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g3ecf330c7cf_2_241:notes"/>
          <p:cNvSpPr/>
          <p:nvPr>
            <p:ph idx="2" type="sldImg"/>
          </p:nvPr>
        </p:nvSpPr>
        <p:spPr>
          <a:xfrm>
            <a:off x="1142653" y="685800"/>
            <a:ext cx="4573369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ecf330c7cf_2_2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g3ecf330c7cf_2_294:notes"/>
          <p:cNvSpPr/>
          <p:nvPr>
            <p:ph idx="2" type="sldImg"/>
          </p:nvPr>
        </p:nvSpPr>
        <p:spPr>
          <a:xfrm>
            <a:off x="1142653" y="685800"/>
            <a:ext cx="4573369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3ecf330c7cf_2_3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g3ecf330c7cf_2_398:notes"/>
          <p:cNvSpPr/>
          <p:nvPr>
            <p:ph idx="2" type="sldImg"/>
          </p:nvPr>
        </p:nvSpPr>
        <p:spPr>
          <a:xfrm>
            <a:off x="1142653" y="685800"/>
            <a:ext cx="4573369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g3ecf330c7cf_2_4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g3ecf330c7cf_2_448:notes"/>
          <p:cNvSpPr/>
          <p:nvPr>
            <p:ph idx="2" type="sldImg"/>
          </p:nvPr>
        </p:nvSpPr>
        <p:spPr>
          <a:xfrm>
            <a:off x="1142653" y="685800"/>
            <a:ext cx="4573369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3ecf330c7cf_2_4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8" name="Google Shape;598;g3ecf330c7cf_2_498:notes"/>
          <p:cNvSpPr/>
          <p:nvPr>
            <p:ph idx="2" type="sldImg"/>
          </p:nvPr>
        </p:nvSpPr>
        <p:spPr>
          <a:xfrm>
            <a:off x="1142653" y="685800"/>
            <a:ext cx="4573369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3ecf330c7cf_2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g3ecf330c7cf_2_570:notes"/>
          <p:cNvSpPr/>
          <p:nvPr>
            <p:ph idx="2" type="sldImg"/>
          </p:nvPr>
        </p:nvSpPr>
        <p:spPr>
          <a:xfrm>
            <a:off x="1142653" y="685800"/>
            <a:ext cx="4573369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3ecf330c7cf_2_6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2" name="Google Shape;702;g3ecf330c7cf_2_613:notes"/>
          <p:cNvSpPr/>
          <p:nvPr>
            <p:ph idx="2" type="sldImg"/>
          </p:nvPr>
        </p:nvSpPr>
        <p:spPr>
          <a:xfrm>
            <a:off x="1142653" y="685800"/>
            <a:ext cx="4573369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g3ecf330c7cf_2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5" name="Google Shape;745;g3ecf330c7cf_2_659:notes"/>
          <p:cNvSpPr/>
          <p:nvPr>
            <p:ph idx="2" type="sldImg"/>
          </p:nvPr>
        </p:nvSpPr>
        <p:spPr>
          <a:xfrm>
            <a:off x="1142653" y="685800"/>
            <a:ext cx="4573369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3ecf330c7cf_2_7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7" name="Google Shape;787;g3ecf330c7cf_2_702:notes"/>
          <p:cNvSpPr/>
          <p:nvPr>
            <p:ph idx="2" type="sldImg"/>
          </p:nvPr>
        </p:nvSpPr>
        <p:spPr>
          <a:xfrm>
            <a:off x="1142653" y="685800"/>
            <a:ext cx="4573369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0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g3ecf330c7cf_2_7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2" name="Google Shape;842;g3ecf330c7cf_2_770:notes"/>
          <p:cNvSpPr/>
          <p:nvPr>
            <p:ph idx="2" type="sldImg"/>
          </p:nvPr>
        </p:nvSpPr>
        <p:spPr>
          <a:xfrm>
            <a:off x="1142653" y="685800"/>
            <a:ext cx="4573369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6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g3ecf330c7cf_2_8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8" name="Google Shape;888;g3ecf330c7cf_2_830:notes"/>
          <p:cNvSpPr/>
          <p:nvPr>
            <p:ph idx="2" type="sldImg"/>
          </p:nvPr>
        </p:nvSpPr>
        <p:spPr>
          <a:xfrm>
            <a:off x="1142653" y="685800"/>
            <a:ext cx="4573369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8" name="Google Shape;58;p14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/>
          <p:nvPr>
            <p:ph type="ctrTitle"/>
          </p:nvPr>
        </p:nvSpPr>
        <p:spPr>
          <a:xfrm>
            <a:off x="514479" y="1597819"/>
            <a:ext cx="5830759" cy="1102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2" name="Google Shape;62;p15"/>
          <p:cNvSpPr txBox="1"/>
          <p:nvPr>
            <p:ph idx="1" type="subTitle"/>
          </p:nvPr>
        </p:nvSpPr>
        <p:spPr>
          <a:xfrm>
            <a:off x="1028957" y="2914650"/>
            <a:ext cx="4801801" cy="1314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ctr"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1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63" name="Google Shape;63;p15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8" name="Google Shape;68;p16"/>
          <p:cNvSpPr txBox="1"/>
          <p:nvPr>
            <p:ph idx="1" type="body"/>
          </p:nvPr>
        </p:nvSpPr>
        <p:spPr>
          <a:xfrm>
            <a:off x="342986" y="1200150"/>
            <a:ext cx="6173744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69" name="Google Shape;69;p16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/>
          <p:nvPr>
            <p:ph type="title"/>
          </p:nvPr>
        </p:nvSpPr>
        <p:spPr>
          <a:xfrm>
            <a:off x="541870" y="3305175"/>
            <a:ext cx="5830759" cy="102155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alibri"/>
              <a:buNone/>
              <a:defRPr b="1" sz="3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" type="body"/>
          </p:nvPr>
        </p:nvSpPr>
        <p:spPr>
          <a:xfrm>
            <a:off x="541870" y="2180035"/>
            <a:ext cx="5830759" cy="112514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100"/>
              <a:buNone/>
              <a:defRPr sz="11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75" name="Google Shape;75;p17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>
            <a:off x="342986" y="1200150"/>
            <a:ext cx="30297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1" name="Google Shape;81;p18"/>
          <p:cNvSpPr txBox="1"/>
          <p:nvPr>
            <p:ph idx="2" type="body"/>
          </p:nvPr>
        </p:nvSpPr>
        <p:spPr>
          <a:xfrm>
            <a:off x="3487022" y="1200150"/>
            <a:ext cx="3029708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1pPr>
            <a:lvl2pPr indent="-3429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2pPr>
            <a:lvl3pPr indent="-32385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 sz="1400"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 sz="1400"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9pPr>
          </a:lstStyle>
          <a:p/>
        </p:txBody>
      </p:sp>
      <p:sp>
        <p:nvSpPr>
          <p:cNvPr id="82" name="Google Shape;82;p18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9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87" name="Google Shape;87;p19"/>
          <p:cNvSpPr txBox="1"/>
          <p:nvPr>
            <p:ph idx="1" type="body"/>
          </p:nvPr>
        </p:nvSpPr>
        <p:spPr>
          <a:xfrm>
            <a:off x="342986" y="1151335"/>
            <a:ext cx="3030899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88" name="Google Shape;88;p19"/>
          <p:cNvSpPr txBox="1"/>
          <p:nvPr>
            <p:ph idx="2" type="body"/>
          </p:nvPr>
        </p:nvSpPr>
        <p:spPr>
          <a:xfrm>
            <a:off x="342986" y="1631156"/>
            <a:ext cx="3030899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89" name="Google Shape;89;p19"/>
          <p:cNvSpPr txBox="1"/>
          <p:nvPr>
            <p:ph idx="3" type="body"/>
          </p:nvPr>
        </p:nvSpPr>
        <p:spPr>
          <a:xfrm>
            <a:off x="3484640" y="1151335"/>
            <a:ext cx="3032090" cy="479822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1" sz="1400"/>
            </a:lvl3pPr>
            <a:lvl4pPr indent="-2286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90" name="Google Shape;90;p19"/>
          <p:cNvSpPr txBox="1"/>
          <p:nvPr>
            <p:ph idx="4" type="body"/>
          </p:nvPr>
        </p:nvSpPr>
        <p:spPr>
          <a:xfrm>
            <a:off x="3484640" y="1631156"/>
            <a:ext cx="3032090" cy="2963466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1pPr>
            <a:lvl2pPr indent="-32385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400"/>
            </a:lvl3pPr>
            <a:lvl4pPr indent="-304800" lvl="3" marL="1828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–"/>
              <a:defRPr sz="1200"/>
            </a:lvl4pPr>
            <a:lvl5pPr indent="-304800" lvl="4" marL="22860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»"/>
              <a:defRPr sz="1200"/>
            </a:lvl5pPr>
            <a:lvl6pPr indent="-304800" lvl="5" marL="2743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indent="-304800" lvl="6" marL="3200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indent="-304800" lvl="7" marL="3657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indent="-304800" lvl="8" marL="41148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/>
        </p:txBody>
      </p:sp>
      <p:sp>
        <p:nvSpPr>
          <p:cNvPr id="91" name="Google Shape;91;p19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2" name="Google Shape;92;p19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3" name="Google Shape;93;p19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7" name="Google Shape;97;p20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1"/>
          <p:cNvSpPr txBox="1"/>
          <p:nvPr>
            <p:ph type="title"/>
          </p:nvPr>
        </p:nvSpPr>
        <p:spPr>
          <a:xfrm>
            <a:off x="342986" y="204788"/>
            <a:ext cx="2256799" cy="871538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1" name="Google Shape;101;p21"/>
          <p:cNvSpPr txBox="1"/>
          <p:nvPr>
            <p:ph idx="1" type="body"/>
          </p:nvPr>
        </p:nvSpPr>
        <p:spPr>
          <a:xfrm>
            <a:off x="2681958" y="204788"/>
            <a:ext cx="3834772" cy="4389835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–"/>
              <a:defRPr sz="2100"/>
            </a:lvl2pPr>
            <a:lvl3pPr indent="-3429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–"/>
              <a:defRPr sz="1500"/>
            </a:lvl4pPr>
            <a:lvl5pPr indent="-32385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»"/>
              <a:defRPr sz="1500"/>
            </a:lvl5pPr>
            <a:lvl6pPr indent="-32385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102" name="Google Shape;102;p21"/>
          <p:cNvSpPr txBox="1"/>
          <p:nvPr>
            <p:ph idx="2" type="body"/>
          </p:nvPr>
        </p:nvSpPr>
        <p:spPr>
          <a:xfrm>
            <a:off x="342986" y="1076325"/>
            <a:ext cx="2256799" cy="351829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03" name="Google Shape;103;p21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4" name="Google Shape;104;p21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5" name="Google Shape;105;p21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2"/>
          <p:cNvSpPr txBox="1"/>
          <p:nvPr>
            <p:ph type="title"/>
          </p:nvPr>
        </p:nvSpPr>
        <p:spPr>
          <a:xfrm>
            <a:off x="1344552" y="3600450"/>
            <a:ext cx="4115830" cy="425054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  <a:defRPr b="1" sz="1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8" name="Google Shape;108;p22"/>
          <p:cNvSpPr/>
          <p:nvPr>
            <p:ph idx="2" type="pic"/>
          </p:nvPr>
        </p:nvSpPr>
        <p:spPr>
          <a:xfrm>
            <a:off x="1344552" y="459581"/>
            <a:ext cx="4115830" cy="3086100"/>
          </a:xfrm>
          <a:prstGeom prst="rect">
            <a:avLst/>
          </a:prstGeom>
          <a:noFill/>
          <a:ln>
            <a:noFill/>
          </a:ln>
        </p:spPr>
      </p:sp>
      <p:sp>
        <p:nvSpPr>
          <p:cNvPr id="109" name="Google Shape;109;p22"/>
          <p:cNvSpPr txBox="1"/>
          <p:nvPr>
            <p:ph idx="1" type="body"/>
          </p:nvPr>
        </p:nvSpPr>
        <p:spPr>
          <a:xfrm>
            <a:off x="1344552" y="4025503"/>
            <a:ext cx="4115830" cy="603647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228600" lvl="0" marL="4572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1pPr>
            <a:lvl2pPr indent="-228600" lvl="1" marL="9144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3pPr>
            <a:lvl4pPr indent="-228600" lvl="3" marL="1828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4pPr>
            <a:lvl5pPr indent="-228600" lvl="4" marL="22860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5pPr>
            <a:lvl6pPr indent="-228600" lvl="5" marL="27432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6pPr>
            <a:lvl7pPr indent="-228600" lvl="6" marL="32004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7pPr>
            <a:lvl8pPr indent="-228600" lvl="7" marL="36576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8pPr>
            <a:lvl9pPr indent="-228600" lvl="8" marL="41148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700"/>
              <a:buNone/>
              <a:defRPr sz="700"/>
            </a:lvl9pPr>
          </a:lstStyle>
          <a:p/>
        </p:txBody>
      </p:sp>
      <p:sp>
        <p:nvSpPr>
          <p:cNvPr id="110" name="Google Shape;110;p22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1" name="Google Shape;111;p22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2" name="Google Shape;112;p22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5" name="Google Shape;115;p23"/>
          <p:cNvSpPr txBox="1"/>
          <p:nvPr>
            <p:ph idx="1" type="body"/>
          </p:nvPr>
        </p:nvSpPr>
        <p:spPr>
          <a:xfrm rot="5400000">
            <a:off x="1732622" y="-189486"/>
            <a:ext cx="3394472" cy="6173744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6" name="Google Shape;116;p23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7" name="Google Shape;117;p23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18" name="Google Shape;118;p23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/>
          <p:nvPr>
            <p:ph type="title"/>
          </p:nvPr>
        </p:nvSpPr>
        <p:spPr>
          <a:xfrm rot="5400000">
            <a:off x="3550690" y="1628582"/>
            <a:ext cx="4388644" cy="1543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1" name="Google Shape;121;p24"/>
          <p:cNvSpPr txBox="1"/>
          <p:nvPr>
            <p:ph idx="1" type="body"/>
          </p:nvPr>
        </p:nvSpPr>
        <p:spPr>
          <a:xfrm rot="5400000">
            <a:off x="406654" y="142311"/>
            <a:ext cx="4388644" cy="451598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indent="-317500" lvl="1" marL="914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2pPr>
            <a:lvl3pPr indent="-317500" lvl="2" marL="1371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indent="-317500" lvl="3" marL="1828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indent="-317500" lvl="4" marL="2286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»"/>
              <a:defRPr/>
            </a:lvl5pPr>
            <a:lvl6pPr indent="-317500" lvl="5" marL="27432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24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3" name="Google Shape;123;p24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24" name="Google Shape;124;p24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42986" y="205978"/>
            <a:ext cx="6173744" cy="857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b="0" i="0" sz="3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42986" y="1200150"/>
            <a:ext cx="6173744" cy="3394472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81000" lvl="0" marL="4572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–"/>
              <a:defRPr b="0" i="0" sz="2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–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»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0" type="dt"/>
          </p:nvPr>
        </p:nvSpPr>
        <p:spPr>
          <a:xfrm>
            <a:off x="342986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1" type="ftr"/>
          </p:nvPr>
        </p:nvSpPr>
        <p:spPr>
          <a:xfrm>
            <a:off x="2343736" y="4767263"/>
            <a:ext cx="2172243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4916130" y="4767263"/>
            <a:ext cx="1600600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5"/>
          <p:cNvSpPr/>
          <p:nvPr/>
        </p:nvSpPr>
        <p:spPr>
          <a:xfrm>
            <a:off x="4390218" y="0"/>
            <a:ext cx="82317" cy="51435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5"/>
          <p:cNvSpPr txBox="1"/>
          <p:nvPr/>
        </p:nvSpPr>
        <p:spPr>
          <a:xfrm>
            <a:off x="411583" y="960120"/>
            <a:ext cx="3978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CSCD - GROUP 2 - </a:t>
            </a: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CAPSTONE PROJECT  ·</a:t>
            </a:r>
            <a:r>
              <a:rPr b="1"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FINAL PRESENTATION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31" name="Google Shape;131;p25"/>
          <p:cNvSpPr txBox="1"/>
          <p:nvPr/>
        </p:nvSpPr>
        <p:spPr>
          <a:xfrm>
            <a:off x="411583" y="1303020"/>
            <a:ext cx="3841500" cy="12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Ghost Identity</a:t>
            </a:r>
            <a:br>
              <a:rPr b="1" i="0" lang="en" sz="3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3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Hunter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32" name="Google Shape;132;p25"/>
          <p:cNvSpPr txBox="1"/>
          <p:nvPr/>
        </p:nvSpPr>
        <p:spPr>
          <a:xfrm>
            <a:off x="411583" y="2846070"/>
            <a:ext cx="38415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Automated OSINT Attribution Platfor</a:t>
            </a:r>
            <a:r>
              <a:rPr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33" name="Google Shape;133;p25"/>
          <p:cNvSpPr/>
          <p:nvPr/>
        </p:nvSpPr>
        <p:spPr>
          <a:xfrm>
            <a:off x="411583" y="3669030"/>
            <a:ext cx="3772844" cy="27432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5"/>
          <p:cNvSpPr txBox="1"/>
          <p:nvPr/>
        </p:nvSpPr>
        <p:spPr>
          <a:xfrm>
            <a:off x="411583" y="3771900"/>
            <a:ext cx="3772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Version 2.0  ·  </a:t>
            </a:r>
            <a:r>
              <a:rPr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August</a:t>
            </a: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2026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35" name="Google Shape;135;p25"/>
          <p:cNvSpPr/>
          <p:nvPr/>
        </p:nvSpPr>
        <p:spPr>
          <a:xfrm>
            <a:off x="5444203" y="1554625"/>
            <a:ext cx="3095400" cy="4938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5"/>
          <p:cNvSpPr/>
          <p:nvPr/>
        </p:nvSpPr>
        <p:spPr>
          <a:xfrm>
            <a:off x="5336667" y="1554625"/>
            <a:ext cx="41100" cy="4938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5"/>
          <p:cNvSpPr/>
          <p:nvPr/>
        </p:nvSpPr>
        <p:spPr>
          <a:xfrm>
            <a:off x="5377825" y="1691785"/>
            <a:ext cx="377400" cy="21960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5"/>
          <p:cNvSpPr txBox="1"/>
          <p:nvPr/>
        </p:nvSpPr>
        <p:spPr>
          <a:xfrm>
            <a:off x="5384685" y="1705501"/>
            <a:ext cx="3567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&gt;&gt;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39" name="Google Shape;139;p25"/>
          <p:cNvSpPr txBox="1"/>
          <p:nvPr/>
        </p:nvSpPr>
        <p:spPr>
          <a:xfrm>
            <a:off x="5799420" y="1684927"/>
            <a:ext cx="2638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Multi-Vector OSINT Collection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40" name="Google Shape;140;p25"/>
          <p:cNvSpPr/>
          <p:nvPr/>
        </p:nvSpPr>
        <p:spPr>
          <a:xfrm>
            <a:off x="5444203" y="2206137"/>
            <a:ext cx="3095400" cy="4938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5"/>
          <p:cNvSpPr/>
          <p:nvPr/>
        </p:nvSpPr>
        <p:spPr>
          <a:xfrm>
            <a:off x="5336667" y="2206135"/>
            <a:ext cx="41100" cy="4938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5"/>
          <p:cNvSpPr/>
          <p:nvPr/>
        </p:nvSpPr>
        <p:spPr>
          <a:xfrm>
            <a:off x="5377825" y="2343295"/>
            <a:ext cx="377400" cy="21960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25"/>
          <p:cNvSpPr txBox="1"/>
          <p:nvPr/>
        </p:nvSpPr>
        <p:spPr>
          <a:xfrm>
            <a:off x="5384685" y="2357011"/>
            <a:ext cx="3567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&gt;&gt;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44" name="Google Shape;144;p25"/>
          <p:cNvSpPr txBox="1"/>
          <p:nvPr/>
        </p:nvSpPr>
        <p:spPr>
          <a:xfrm>
            <a:off x="5799420" y="2336440"/>
            <a:ext cx="2638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Graph-Based Identity Correlation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45" name="Google Shape;145;p25"/>
          <p:cNvSpPr/>
          <p:nvPr/>
        </p:nvSpPr>
        <p:spPr>
          <a:xfrm>
            <a:off x="5444203" y="2896623"/>
            <a:ext cx="3095400" cy="4938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25"/>
          <p:cNvSpPr/>
          <p:nvPr/>
        </p:nvSpPr>
        <p:spPr>
          <a:xfrm>
            <a:off x="5336667" y="2896615"/>
            <a:ext cx="41100" cy="4938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25"/>
          <p:cNvSpPr/>
          <p:nvPr/>
        </p:nvSpPr>
        <p:spPr>
          <a:xfrm>
            <a:off x="5377825" y="3033775"/>
            <a:ext cx="377400" cy="21960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25"/>
          <p:cNvSpPr txBox="1"/>
          <p:nvPr/>
        </p:nvSpPr>
        <p:spPr>
          <a:xfrm>
            <a:off x="5384685" y="3047491"/>
            <a:ext cx="3567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7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&gt;&gt;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149" name="Google Shape;149;p25"/>
          <p:cNvSpPr txBox="1"/>
          <p:nvPr/>
        </p:nvSpPr>
        <p:spPr>
          <a:xfrm>
            <a:off x="5799420" y="3026926"/>
            <a:ext cx="2638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Chain-of-Custody Reporting</a:t>
            </a:r>
            <a:endParaRPr sz="1100">
              <a:solidFill>
                <a:schemeClr val="dk1"/>
              </a:solidFill>
            </a:endParaRPr>
          </a:p>
        </p:txBody>
      </p:sp>
      <p:pic>
        <p:nvPicPr>
          <p:cNvPr id="150" name="Google Shape;150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800" y="80650"/>
            <a:ext cx="2683045" cy="44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6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OVERVIEW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56" name="Google Shape;156;p26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Agenda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57" name="Google Shape;157;p26"/>
          <p:cNvSpPr/>
          <p:nvPr/>
        </p:nvSpPr>
        <p:spPr>
          <a:xfrm>
            <a:off x="342986" y="994410"/>
            <a:ext cx="8458030" cy="2057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42986" y="1300940"/>
            <a:ext cx="8457900" cy="438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26"/>
          <p:cNvSpPr/>
          <p:nvPr/>
        </p:nvSpPr>
        <p:spPr>
          <a:xfrm>
            <a:off x="342986" y="1300940"/>
            <a:ext cx="48000" cy="438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6"/>
          <p:cNvSpPr txBox="1"/>
          <p:nvPr/>
        </p:nvSpPr>
        <p:spPr>
          <a:xfrm>
            <a:off x="480180" y="1383236"/>
            <a:ext cx="3774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1" name="Google Shape;161;p26"/>
          <p:cNvSpPr txBox="1"/>
          <p:nvPr/>
        </p:nvSpPr>
        <p:spPr>
          <a:xfrm>
            <a:off x="926062" y="1396952"/>
            <a:ext cx="7683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Summary &amp; Business Impact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2" name="Google Shape;162;p26"/>
          <p:cNvSpPr/>
          <p:nvPr/>
        </p:nvSpPr>
        <p:spPr>
          <a:xfrm>
            <a:off x="342986" y="1829006"/>
            <a:ext cx="8457900" cy="438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6"/>
          <p:cNvSpPr/>
          <p:nvPr/>
        </p:nvSpPr>
        <p:spPr>
          <a:xfrm>
            <a:off x="342986" y="1829006"/>
            <a:ext cx="48000" cy="438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6"/>
          <p:cNvSpPr txBox="1"/>
          <p:nvPr/>
        </p:nvSpPr>
        <p:spPr>
          <a:xfrm>
            <a:off x="480180" y="1911302"/>
            <a:ext cx="3774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5" name="Google Shape;165;p26"/>
          <p:cNvSpPr txBox="1"/>
          <p:nvPr/>
        </p:nvSpPr>
        <p:spPr>
          <a:xfrm>
            <a:off x="926062" y="1925018"/>
            <a:ext cx="7683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System Architecture &amp; Topology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6" name="Google Shape;166;p26"/>
          <p:cNvSpPr/>
          <p:nvPr/>
        </p:nvSpPr>
        <p:spPr>
          <a:xfrm>
            <a:off x="342986" y="2357072"/>
            <a:ext cx="8457900" cy="438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26"/>
          <p:cNvSpPr/>
          <p:nvPr/>
        </p:nvSpPr>
        <p:spPr>
          <a:xfrm>
            <a:off x="342986" y="2357072"/>
            <a:ext cx="48000" cy="438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6"/>
          <p:cNvSpPr txBox="1"/>
          <p:nvPr/>
        </p:nvSpPr>
        <p:spPr>
          <a:xfrm>
            <a:off x="480180" y="2439368"/>
            <a:ext cx="3774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69" name="Google Shape;169;p26"/>
          <p:cNvSpPr txBox="1"/>
          <p:nvPr/>
        </p:nvSpPr>
        <p:spPr>
          <a:xfrm>
            <a:off x="926062" y="2453084"/>
            <a:ext cx="7683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Data Flow &amp; Trust Boundaries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0" name="Google Shape;170;p26"/>
          <p:cNvSpPr/>
          <p:nvPr/>
        </p:nvSpPr>
        <p:spPr>
          <a:xfrm>
            <a:off x="342986" y="2905716"/>
            <a:ext cx="8457900" cy="438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26"/>
          <p:cNvSpPr/>
          <p:nvPr/>
        </p:nvSpPr>
        <p:spPr>
          <a:xfrm>
            <a:off x="342986" y="2905716"/>
            <a:ext cx="48000" cy="438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26"/>
          <p:cNvSpPr txBox="1"/>
          <p:nvPr/>
        </p:nvSpPr>
        <p:spPr>
          <a:xfrm>
            <a:off x="480180" y="2988012"/>
            <a:ext cx="3774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3" name="Google Shape;173;p26"/>
          <p:cNvSpPr txBox="1"/>
          <p:nvPr/>
        </p:nvSpPr>
        <p:spPr>
          <a:xfrm>
            <a:off x="926062" y="3001728"/>
            <a:ext cx="7683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Implementation Blueprint &amp; Milestones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4" name="Google Shape;174;p26"/>
          <p:cNvSpPr/>
          <p:nvPr/>
        </p:nvSpPr>
        <p:spPr>
          <a:xfrm>
            <a:off x="342986" y="3433782"/>
            <a:ext cx="8457900" cy="438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6"/>
          <p:cNvSpPr/>
          <p:nvPr/>
        </p:nvSpPr>
        <p:spPr>
          <a:xfrm>
            <a:off x="342986" y="3433782"/>
            <a:ext cx="48000" cy="438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6"/>
          <p:cNvSpPr txBox="1"/>
          <p:nvPr/>
        </p:nvSpPr>
        <p:spPr>
          <a:xfrm>
            <a:off x="480180" y="3516078"/>
            <a:ext cx="3774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r>
              <a:rPr b="1" lang="en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7" name="Google Shape;177;p26"/>
          <p:cNvSpPr txBox="1"/>
          <p:nvPr/>
        </p:nvSpPr>
        <p:spPr>
          <a:xfrm>
            <a:off x="926062" y="3529793"/>
            <a:ext cx="7683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Production-Ready Quality Standards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78" name="Google Shape;178;p26"/>
          <p:cNvSpPr txBox="1"/>
          <p:nvPr/>
        </p:nvSpPr>
        <p:spPr>
          <a:xfrm>
            <a:off x="8574645" y="4869180"/>
            <a:ext cx="54877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2 / 16</a:t>
            </a:r>
            <a:endParaRPr sz="1100"/>
          </a:p>
        </p:txBody>
      </p:sp>
      <p:pic>
        <p:nvPicPr>
          <p:cNvPr id="179" name="Google Shape;179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7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CSCD Group 2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5" name="Google Shape;185;p27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Team Members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86" name="Google Shape;186;p27"/>
          <p:cNvSpPr/>
          <p:nvPr/>
        </p:nvSpPr>
        <p:spPr>
          <a:xfrm>
            <a:off x="342986" y="994410"/>
            <a:ext cx="8457900" cy="2070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7"/>
          <p:cNvSpPr/>
          <p:nvPr/>
        </p:nvSpPr>
        <p:spPr>
          <a:xfrm>
            <a:off x="342986" y="1364551"/>
            <a:ext cx="8457900" cy="438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7"/>
          <p:cNvSpPr/>
          <p:nvPr/>
        </p:nvSpPr>
        <p:spPr>
          <a:xfrm>
            <a:off x="342986" y="1364551"/>
            <a:ext cx="48000" cy="438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7"/>
          <p:cNvSpPr txBox="1"/>
          <p:nvPr/>
        </p:nvSpPr>
        <p:spPr>
          <a:xfrm>
            <a:off x="480180" y="1446847"/>
            <a:ext cx="3774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0" name="Google Shape;190;p27"/>
          <p:cNvSpPr txBox="1"/>
          <p:nvPr/>
        </p:nvSpPr>
        <p:spPr>
          <a:xfrm>
            <a:off x="926062" y="1460563"/>
            <a:ext cx="7683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 Gunasekaran - Group Lead (Guna)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1" name="Google Shape;191;p27"/>
          <p:cNvSpPr/>
          <p:nvPr/>
        </p:nvSpPr>
        <p:spPr>
          <a:xfrm>
            <a:off x="342986" y="1892617"/>
            <a:ext cx="8457900" cy="438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7"/>
          <p:cNvSpPr/>
          <p:nvPr/>
        </p:nvSpPr>
        <p:spPr>
          <a:xfrm>
            <a:off x="342986" y="1892617"/>
            <a:ext cx="48000" cy="438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7"/>
          <p:cNvSpPr txBox="1"/>
          <p:nvPr/>
        </p:nvSpPr>
        <p:spPr>
          <a:xfrm>
            <a:off x="480180" y="1974913"/>
            <a:ext cx="3774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4" name="Google Shape;194;p27"/>
          <p:cNvSpPr txBox="1"/>
          <p:nvPr/>
        </p:nvSpPr>
        <p:spPr>
          <a:xfrm>
            <a:off x="926062" y="1988629"/>
            <a:ext cx="7683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Dr. Kanti Singh Sangher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5" name="Google Shape;195;p27"/>
          <p:cNvSpPr/>
          <p:nvPr/>
        </p:nvSpPr>
        <p:spPr>
          <a:xfrm>
            <a:off x="342986" y="2420683"/>
            <a:ext cx="8457900" cy="438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7"/>
          <p:cNvSpPr/>
          <p:nvPr/>
        </p:nvSpPr>
        <p:spPr>
          <a:xfrm>
            <a:off x="342986" y="2420683"/>
            <a:ext cx="48000" cy="438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7"/>
          <p:cNvSpPr txBox="1"/>
          <p:nvPr/>
        </p:nvSpPr>
        <p:spPr>
          <a:xfrm>
            <a:off x="480180" y="2502979"/>
            <a:ext cx="3774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8" name="Google Shape;198;p27"/>
          <p:cNvSpPr txBox="1"/>
          <p:nvPr/>
        </p:nvSpPr>
        <p:spPr>
          <a:xfrm>
            <a:off x="926062" y="2516695"/>
            <a:ext cx="7683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Rekha Saraswat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199" name="Google Shape;199;p27"/>
          <p:cNvSpPr/>
          <p:nvPr/>
        </p:nvSpPr>
        <p:spPr>
          <a:xfrm>
            <a:off x="342986" y="2948749"/>
            <a:ext cx="8457900" cy="438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7"/>
          <p:cNvSpPr/>
          <p:nvPr/>
        </p:nvSpPr>
        <p:spPr>
          <a:xfrm>
            <a:off x="342986" y="2948749"/>
            <a:ext cx="48000" cy="438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7"/>
          <p:cNvSpPr txBox="1"/>
          <p:nvPr/>
        </p:nvSpPr>
        <p:spPr>
          <a:xfrm>
            <a:off x="480180" y="3031045"/>
            <a:ext cx="3774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02" name="Google Shape;202;p27"/>
          <p:cNvSpPr txBox="1"/>
          <p:nvPr/>
        </p:nvSpPr>
        <p:spPr>
          <a:xfrm>
            <a:off x="926062" y="3044760"/>
            <a:ext cx="7683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Vindya Narsian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03" name="Google Shape;203;p27"/>
          <p:cNvSpPr/>
          <p:nvPr/>
        </p:nvSpPr>
        <p:spPr>
          <a:xfrm>
            <a:off x="342986" y="3476815"/>
            <a:ext cx="8457900" cy="438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7"/>
          <p:cNvSpPr/>
          <p:nvPr/>
        </p:nvSpPr>
        <p:spPr>
          <a:xfrm>
            <a:off x="342986" y="3476815"/>
            <a:ext cx="48000" cy="438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7"/>
          <p:cNvSpPr txBox="1"/>
          <p:nvPr/>
        </p:nvSpPr>
        <p:spPr>
          <a:xfrm>
            <a:off x="480180" y="3559111"/>
            <a:ext cx="3774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06" name="Google Shape;206;p27"/>
          <p:cNvSpPr txBox="1"/>
          <p:nvPr/>
        </p:nvSpPr>
        <p:spPr>
          <a:xfrm>
            <a:off x="926062" y="3572827"/>
            <a:ext cx="7683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Soumo Dutta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07" name="Google Shape;207;p27"/>
          <p:cNvSpPr/>
          <p:nvPr/>
        </p:nvSpPr>
        <p:spPr>
          <a:xfrm>
            <a:off x="342986" y="4004881"/>
            <a:ext cx="8457900" cy="438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7"/>
          <p:cNvSpPr/>
          <p:nvPr/>
        </p:nvSpPr>
        <p:spPr>
          <a:xfrm>
            <a:off x="342986" y="4004881"/>
            <a:ext cx="48000" cy="438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7"/>
          <p:cNvSpPr txBox="1"/>
          <p:nvPr/>
        </p:nvSpPr>
        <p:spPr>
          <a:xfrm>
            <a:off x="480180" y="4087177"/>
            <a:ext cx="3774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10" name="Google Shape;210;p27"/>
          <p:cNvSpPr txBox="1"/>
          <p:nvPr/>
        </p:nvSpPr>
        <p:spPr>
          <a:xfrm>
            <a:off x="926062" y="4100893"/>
            <a:ext cx="76830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Dhayanidhi Rajasekaran (Dhaya)  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11" name="Google Shape;211;p27"/>
          <p:cNvSpPr txBox="1"/>
          <p:nvPr/>
        </p:nvSpPr>
        <p:spPr>
          <a:xfrm>
            <a:off x="8574645" y="4869180"/>
            <a:ext cx="5487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2 / 16</a:t>
            </a:r>
            <a:endParaRPr sz="1100"/>
          </a:p>
        </p:txBody>
      </p:sp>
      <p:pic>
        <p:nvPicPr>
          <p:cNvPr id="212" name="Google Shape;212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28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1 — SUMMARY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18" name="Google Shape;218;p28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Business Impact &amp; Objectives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19" name="Google Shape;219;p28"/>
          <p:cNvSpPr/>
          <p:nvPr/>
        </p:nvSpPr>
        <p:spPr>
          <a:xfrm>
            <a:off x="342986" y="994410"/>
            <a:ext cx="8458030" cy="2057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8"/>
          <p:cNvSpPr/>
          <p:nvPr/>
        </p:nvSpPr>
        <p:spPr>
          <a:xfrm>
            <a:off x="342986" y="1097280"/>
            <a:ext cx="4115830" cy="387477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28"/>
          <p:cNvSpPr/>
          <p:nvPr/>
        </p:nvSpPr>
        <p:spPr>
          <a:xfrm>
            <a:off x="342986" y="1097280"/>
            <a:ext cx="48018" cy="387477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8"/>
          <p:cNvSpPr txBox="1"/>
          <p:nvPr/>
        </p:nvSpPr>
        <p:spPr>
          <a:xfrm>
            <a:off x="493900" y="1179576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PROBLEM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223" name="Google Shape;223;p28"/>
          <p:cNvSpPr txBox="1"/>
          <p:nvPr/>
        </p:nvSpPr>
        <p:spPr>
          <a:xfrm>
            <a:off x="493900" y="1495044"/>
            <a:ext cx="3841500" cy="2070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Threat actors construct synthetic identities by compartmentalizing their footprint: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•  Burner / VoIP phone numbers (no personal ID required)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•  Disposable or forwarding email addresses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•  Usernames registered across dozens of platforms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•  Stolen or stock profile photographs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Manual OSINT correlation across multiple tools is: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•  Time-consuming — hours per investigation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•  Error-prone — no quantified confidence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•  Inconsistent across analysts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•  Missing chain-of-custody audit trail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224" name="Google Shape;224;p28"/>
          <p:cNvSpPr/>
          <p:nvPr/>
        </p:nvSpPr>
        <p:spPr>
          <a:xfrm>
            <a:off x="4698905" y="1097280"/>
            <a:ext cx="4115830" cy="387477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8"/>
          <p:cNvSpPr/>
          <p:nvPr/>
        </p:nvSpPr>
        <p:spPr>
          <a:xfrm>
            <a:off x="4698905" y="1097280"/>
            <a:ext cx="48018" cy="387477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8"/>
          <p:cNvSpPr txBox="1"/>
          <p:nvPr/>
        </p:nvSpPr>
        <p:spPr>
          <a:xfrm>
            <a:off x="4849819" y="1179576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SOLUTION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227" name="Google Shape;227;p28"/>
          <p:cNvSpPr txBox="1"/>
          <p:nvPr/>
        </p:nvSpPr>
        <p:spPr>
          <a:xfrm>
            <a:off x="4849819" y="1495044"/>
            <a:ext cx="3841500" cy="23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Ghost Identity Hunter automates the full attribution pipeline: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 Multi-vector OSINT collection (phone, email,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username, image) via BFS orchestration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 Graph-theoretic correlation links fragmented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artifacts into unified persona clusters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 Quantified confidence scoring per relationship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with staleness decay model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 </a:t>
            </a:r>
            <a:r>
              <a:rPr lang="en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Generated HTML Report</a:t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✓  Zero infrastructure cost — local CLI, SQLite,</a:t>
            </a:r>
            <a:endParaRPr sz="12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no cloud dependency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228" name="Google Shape;228;p28"/>
          <p:cNvSpPr txBox="1"/>
          <p:nvPr/>
        </p:nvSpPr>
        <p:spPr>
          <a:xfrm>
            <a:off x="8574645" y="4869180"/>
            <a:ext cx="54877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3 / 16</a:t>
            </a:r>
            <a:endParaRPr sz="1100"/>
          </a:p>
        </p:txBody>
      </p:sp>
      <p:pic>
        <p:nvPicPr>
          <p:cNvPr id="229" name="Google Shape;229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9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2 — ARCHITECTURAL DESIGN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35" name="Google Shape;235;p29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4-Layer Pipeline Architecture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36" name="Google Shape;236;p29"/>
          <p:cNvSpPr/>
          <p:nvPr/>
        </p:nvSpPr>
        <p:spPr>
          <a:xfrm>
            <a:off x="342986" y="994410"/>
            <a:ext cx="8458030" cy="2057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9"/>
          <p:cNvSpPr/>
          <p:nvPr/>
        </p:nvSpPr>
        <p:spPr>
          <a:xfrm>
            <a:off x="342986" y="1131570"/>
            <a:ext cx="8458030" cy="809244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9"/>
          <p:cNvSpPr/>
          <p:nvPr/>
        </p:nvSpPr>
        <p:spPr>
          <a:xfrm>
            <a:off x="342986" y="1131570"/>
            <a:ext cx="48018" cy="809244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29"/>
          <p:cNvSpPr txBox="1"/>
          <p:nvPr/>
        </p:nvSpPr>
        <p:spPr>
          <a:xfrm>
            <a:off x="514479" y="1200150"/>
            <a:ext cx="2743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INGESTION LAYER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40" name="Google Shape;240;p29"/>
          <p:cNvSpPr txBox="1"/>
          <p:nvPr/>
        </p:nvSpPr>
        <p:spPr>
          <a:xfrm>
            <a:off x="514479" y="1474470"/>
            <a:ext cx="78888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 (Click) → Seed Validation → BFS Orchestrator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41" name="Google Shape;241;p29"/>
          <p:cNvSpPr txBox="1"/>
          <p:nvPr/>
        </p:nvSpPr>
        <p:spPr>
          <a:xfrm>
            <a:off x="752123" y="1823327"/>
            <a:ext cx="342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▼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42" name="Google Shape;242;p29"/>
          <p:cNvSpPr/>
          <p:nvPr/>
        </p:nvSpPr>
        <p:spPr>
          <a:xfrm>
            <a:off x="342986" y="2057400"/>
            <a:ext cx="8458030" cy="809244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9"/>
          <p:cNvSpPr/>
          <p:nvPr/>
        </p:nvSpPr>
        <p:spPr>
          <a:xfrm>
            <a:off x="342986" y="2057400"/>
            <a:ext cx="48018" cy="809244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9"/>
          <p:cNvSpPr txBox="1"/>
          <p:nvPr/>
        </p:nvSpPr>
        <p:spPr>
          <a:xfrm>
            <a:off x="514479" y="2125980"/>
            <a:ext cx="2743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COLLECTION LAYER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45" name="Google Shape;245;p29"/>
          <p:cNvSpPr txBox="1"/>
          <p:nvPr/>
        </p:nvSpPr>
        <p:spPr>
          <a:xfrm>
            <a:off x="514479" y="2400300"/>
            <a:ext cx="78888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Phone · Email · Username · Image · Breach Modules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46" name="Google Shape;246;p29"/>
          <p:cNvSpPr txBox="1"/>
          <p:nvPr/>
        </p:nvSpPr>
        <p:spPr>
          <a:xfrm>
            <a:off x="752123" y="2749156"/>
            <a:ext cx="342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▼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47" name="Google Shape;247;p29"/>
          <p:cNvSpPr/>
          <p:nvPr/>
        </p:nvSpPr>
        <p:spPr>
          <a:xfrm>
            <a:off x="342986" y="2983229"/>
            <a:ext cx="8458030" cy="809244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9"/>
          <p:cNvSpPr/>
          <p:nvPr/>
        </p:nvSpPr>
        <p:spPr>
          <a:xfrm>
            <a:off x="342986" y="2983229"/>
            <a:ext cx="48018" cy="809244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9"/>
          <p:cNvSpPr txBox="1"/>
          <p:nvPr/>
        </p:nvSpPr>
        <p:spPr>
          <a:xfrm>
            <a:off x="514479" y="3051809"/>
            <a:ext cx="2743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CORRELATION LAYER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50" name="Google Shape;250;p29"/>
          <p:cNvSpPr txBox="1"/>
          <p:nvPr/>
        </p:nvSpPr>
        <p:spPr>
          <a:xfrm>
            <a:off x="514479" y="3326130"/>
            <a:ext cx="78888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NetworkX Identity Graph → Connected Components → Confidence Scorer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51" name="Google Shape;251;p29"/>
          <p:cNvSpPr txBox="1"/>
          <p:nvPr/>
        </p:nvSpPr>
        <p:spPr>
          <a:xfrm>
            <a:off x="752123" y="3674986"/>
            <a:ext cx="342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▼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52" name="Google Shape;252;p29"/>
          <p:cNvSpPr/>
          <p:nvPr/>
        </p:nvSpPr>
        <p:spPr>
          <a:xfrm>
            <a:off x="342986" y="3909060"/>
            <a:ext cx="8458030" cy="809244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9"/>
          <p:cNvSpPr/>
          <p:nvPr/>
        </p:nvSpPr>
        <p:spPr>
          <a:xfrm>
            <a:off x="342986" y="3909060"/>
            <a:ext cx="48018" cy="809244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9"/>
          <p:cNvSpPr txBox="1"/>
          <p:nvPr/>
        </p:nvSpPr>
        <p:spPr>
          <a:xfrm>
            <a:off x="514479" y="3977640"/>
            <a:ext cx="2743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REPORTING LAYER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55" name="Google Shape;255;p29"/>
          <p:cNvSpPr txBox="1"/>
          <p:nvPr/>
        </p:nvSpPr>
        <p:spPr>
          <a:xfrm>
            <a:off x="514479" y="4251960"/>
            <a:ext cx="78888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SQLite Persistence → HTML / PDF Report → STIX 2.1 CTI Export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56" name="Google Shape;256;p29"/>
          <p:cNvSpPr txBox="1"/>
          <p:nvPr/>
        </p:nvSpPr>
        <p:spPr>
          <a:xfrm>
            <a:off x="8574645" y="4869180"/>
            <a:ext cx="54877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4 / 16</a:t>
            </a:r>
            <a:endParaRPr sz="1100"/>
          </a:p>
        </p:txBody>
      </p:sp>
      <p:pic>
        <p:nvPicPr>
          <p:cNvPr id="257" name="Google Shape;257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0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2 — ARCHITECTURAL DESIGN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63" name="Google Shape;263;p30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Solution </a:t>
            </a:r>
            <a:r>
              <a:rPr b="1" i="0" lang="en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Architecture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64" name="Google Shape;264;p30"/>
          <p:cNvSpPr/>
          <p:nvPr/>
        </p:nvSpPr>
        <p:spPr>
          <a:xfrm>
            <a:off x="342986" y="994410"/>
            <a:ext cx="8457900" cy="2070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30"/>
          <p:cNvSpPr txBox="1"/>
          <p:nvPr/>
        </p:nvSpPr>
        <p:spPr>
          <a:xfrm>
            <a:off x="8574645" y="4869180"/>
            <a:ext cx="5487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4 / 16</a:t>
            </a:r>
            <a:endParaRPr sz="1100"/>
          </a:p>
        </p:txBody>
      </p:sp>
      <p:pic>
        <p:nvPicPr>
          <p:cNvPr id="266" name="Google Shape;266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55875" y="1101325"/>
            <a:ext cx="4994893" cy="3944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1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2 — ARCHITECTURAL DESIGN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73" name="Google Shape;273;p31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Sequence Diagram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74" name="Google Shape;274;p31"/>
          <p:cNvSpPr/>
          <p:nvPr/>
        </p:nvSpPr>
        <p:spPr>
          <a:xfrm>
            <a:off x="342986" y="994410"/>
            <a:ext cx="8457900" cy="2070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31"/>
          <p:cNvSpPr txBox="1"/>
          <p:nvPr/>
        </p:nvSpPr>
        <p:spPr>
          <a:xfrm>
            <a:off x="8574645" y="4869180"/>
            <a:ext cx="5487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4 / 16</a:t>
            </a:r>
            <a:endParaRPr sz="1100"/>
          </a:p>
        </p:txBody>
      </p:sp>
      <p:pic>
        <p:nvPicPr>
          <p:cNvPr id="276" name="Google Shape;27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70613" y="1181235"/>
            <a:ext cx="6602624" cy="38235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2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2 — ARCHITECTURAL DESIGN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83" name="Google Shape;283;p32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7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Component Interaction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84" name="Google Shape;284;p32"/>
          <p:cNvSpPr/>
          <p:nvPr/>
        </p:nvSpPr>
        <p:spPr>
          <a:xfrm>
            <a:off x="342986" y="994410"/>
            <a:ext cx="8457900" cy="2070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32"/>
          <p:cNvSpPr txBox="1"/>
          <p:nvPr/>
        </p:nvSpPr>
        <p:spPr>
          <a:xfrm>
            <a:off x="8574645" y="4869180"/>
            <a:ext cx="5487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4 / 16</a:t>
            </a:r>
            <a:endParaRPr sz="1100"/>
          </a:p>
        </p:txBody>
      </p:sp>
      <p:pic>
        <p:nvPicPr>
          <p:cNvPr id="286" name="Google Shape;286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53000" y="1332877"/>
            <a:ext cx="6446500" cy="3150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3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2 — COMPONENT SPECIFICATIONS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93" name="Google Shape;293;p33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Key Components &amp; Technologies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294" name="Google Shape;294;p33"/>
          <p:cNvSpPr/>
          <p:nvPr/>
        </p:nvSpPr>
        <p:spPr>
          <a:xfrm>
            <a:off x="342986" y="994410"/>
            <a:ext cx="8458030" cy="2057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33"/>
          <p:cNvSpPr/>
          <p:nvPr/>
        </p:nvSpPr>
        <p:spPr>
          <a:xfrm>
            <a:off x="342986" y="1363340"/>
            <a:ext cx="4047300" cy="534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3"/>
          <p:cNvSpPr/>
          <p:nvPr/>
        </p:nvSpPr>
        <p:spPr>
          <a:xfrm>
            <a:off x="342986" y="1363340"/>
            <a:ext cx="48000" cy="534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33"/>
          <p:cNvSpPr txBox="1"/>
          <p:nvPr/>
        </p:nvSpPr>
        <p:spPr>
          <a:xfrm>
            <a:off x="493900" y="1418195"/>
            <a:ext cx="3556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BFS Orchestrator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298" name="Google Shape;298;p33"/>
          <p:cNvSpPr txBox="1"/>
          <p:nvPr/>
        </p:nvSpPr>
        <p:spPr>
          <a:xfrm>
            <a:off x="493900" y="1637653"/>
            <a:ext cx="3556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 deque · MAX_DEPTH=2 · per-investigation SQLite isolation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299" name="Google Shape;299;p33"/>
          <p:cNvSpPr/>
          <p:nvPr/>
        </p:nvSpPr>
        <p:spPr>
          <a:xfrm>
            <a:off x="4822380" y="1363340"/>
            <a:ext cx="4047300" cy="534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33"/>
          <p:cNvSpPr/>
          <p:nvPr/>
        </p:nvSpPr>
        <p:spPr>
          <a:xfrm>
            <a:off x="4822380" y="1363340"/>
            <a:ext cx="48000" cy="534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3"/>
          <p:cNvSpPr txBox="1"/>
          <p:nvPr/>
        </p:nvSpPr>
        <p:spPr>
          <a:xfrm>
            <a:off x="4973299" y="1418195"/>
            <a:ext cx="3333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Phone Intelligence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02" name="Google Shape;302;p33"/>
          <p:cNvSpPr txBox="1"/>
          <p:nvPr/>
        </p:nvSpPr>
        <p:spPr>
          <a:xfrm>
            <a:off x="4973299" y="1637650"/>
            <a:ext cx="3333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phoneinfoga (subprocess) · phonenumbers · E.164 · VoIP detection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03" name="Google Shape;303;p33"/>
          <p:cNvSpPr/>
          <p:nvPr/>
        </p:nvSpPr>
        <p:spPr>
          <a:xfrm>
            <a:off x="342986" y="2035424"/>
            <a:ext cx="4047300" cy="534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33"/>
          <p:cNvSpPr/>
          <p:nvPr/>
        </p:nvSpPr>
        <p:spPr>
          <a:xfrm>
            <a:off x="342986" y="2035424"/>
            <a:ext cx="48000" cy="534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33"/>
          <p:cNvSpPr txBox="1"/>
          <p:nvPr/>
        </p:nvSpPr>
        <p:spPr>
          <a:xfrm>
            <a:off x="493900" y="2090295"/>
            <a:ext cx="3556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Email Intelligence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06" name="Google Shape;306;p33"/>
          <p:cNvSpPr txBox="1"/>
          <p:nvPr/>
        </p:nvSpPr>
        <p:spPr>
          <a:xfrm>
            <a:off x="493900" y="2309753"/>
            <a:ext cx="3556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Holehe (100+ services) · h8mail · HIBP API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07" name="Google Shape;307;p33"/>
          <p:cNvSpPr/>
          <p:nvPr/>
        </p:nvSpPr>
        <p:spPr>
          <a:xfrm>
            <a:off x="4822380" y="2035424"/>
            <a:ext cx="4047300" cy="534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33"/>
          <p:cNvSpPr/>
          <p:nvPr/>
        </p:nvSpPr>
        <p:spPr>
          <a:xfrm>
            <a:off x="4822380" y="2035424"/>
            <a:ext cx="48000" cy="534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33"/>
          <p:cNvSpPr txBox="1"/>
          <p:nvPr/>
        </p:nvSpPr>
        <p:spPr>
          <a:xfrm>
            <a:off x="4973299" y="2090279"/>
            <a:ext cx="3333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Username Enumeration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10" name="Google Shape;310;p33"/>
          <p:cNvSpPr txBox="1"/>
          <p:nvPr/>
        </p:nvSpPr>
        <p:spPr>
          <a:xfrm>
            <a:off x="4973299" y="2309736"/>
            <a:ext cx="3333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Sherlock / Maigret · httpx · 400+ platforms · false-positive suppression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11" name="Google Shape;311;p33"/>
          <p:cNvSpPr/>
          <p:nvPr/>
        </p:nvSpPr>
        <p:spPr>
          <a:xfrm>
            <a:off x="342986" y="2707508"/>
            <a:ext cx="4047300" cy="534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33"/>
          <p:cNvSpPr/>
          <p:nvPr/>
        </p:nvSpPr>
        <p:spPr>
          <a:xfrm>
            <a:off x="342986" y="2707508"/>
            <a:ext cx="48000" cy="534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33"/>
          <p:cNvSpPr txBox="1"/>
          <p:nvPr/>
        </p:nvSpPr>
        <p:spPr>
          <a:xfrm>
            <a:off x="493900" y="2762370"/>
            <a:ext cx="3439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Intelligence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14" name="Google Shape;314;p33"/>
          <p:cNvSpPr txBox="1"/>
          <p:nvPr/>
        </p:nvSpPr>
        <p:spPr>
          <a:xfrm>
            <a:off x="493900" y="2981828"/>
            <a:ext cx="3439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Pillow (EXIF) · face_recognition (dlib) 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15" name="Google Shape;315;p33"/>
          <p:cNvSpPr/>
          <p:nvPr/>
        </p:nvSpPr>
        <p:spPr>
          <a:xfrm>
            <a:off x="4822380" y="2707508"/>
            <a:ext cx="4047300" cy="534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33"/>
          <p:cNvSpPr/>
          <p:nvPr/>
        </p:nvSpPr>
        <p:spPr>
          <a:xfrm>
            <a:off x="4822380" y="2707508"/>
            <a:ext cx="48000" cy="534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33"/>
          <p:cNvSpPr txBox="1"/>
          <p:nvPr/>
        </p:nvSpPr>
        <p:spPr>
          <a:xfrm>
            <a:off x="4973299" y="2762364"/>
            <a:ext cx="3333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Identity Graph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18" name="Google Shape;318;p33"/>
          <p:cNvSpPr txBox="1"/>
          <p:nvPr/>
        </p:nvSpPr>
        <p:spPr>
          <a:xfrm>
            <a:off x="4973299" y="2981820"/>
            <a:ext cx="3333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NetworkX DiGraph · Connected components · pyvis interactive visualization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19" name="Google Shape;319;p33"/>
          <p:cNvSpPr/>
          <p:nvPr/>
        </p:nvSpPr>
        <p:spPr>
          <a:xfrm>
            <a:off x="342986" y="3379592"/>
            <a:ext cx="4047300" cy="534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33"/>
          <p:cNvSpPr/>
          <p:nvPr/>
        </p:nvSpPr>
        <p:spPr>
          <a:xfrm>
            <a:off x="342986" y="3379592"/>
            <a:ext cx="48000" cy="534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33"/>
          <p:cNvSpPr txBox="1"/>
          <p:nvPr/>
        </p:nvSpPr>
        <p:spPr>
          <a:xfrm>
            <a:off x="493900" y="3434445"/>
            <a:ext cx="328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Confidence Scorer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22" name="Google Shape;322;p33"/>
          <p:cNvSpPr txBox="1"/>
          <p:nvPr/>
        </p:nvSpPr>
        <p:spPr>
          <a:xfrm>
            <a:off x="493900" y="3653903"/>
            <a:ext cx="3287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Typed link weights · staleness decay · cross-type density metric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23" name="Google Shape;323;p33"/>
          <p:cNvSpPr/>
          <p:nvPr/>
        </p:nvSpPr>
        <p:spPr>
          <a:xfrm>
            <a:off x="4822380" y="3379592"/>
            <a:ext cx="4047300" cy="534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33"/>
          <p:cNvSpPr/>
          <p:nvPr/>
        </p:nvSpPr>
        <p:spPr>
          <a:xfrm>
            <a:off x="4822380" y="3379592"/>
            <a:ext cx="48000" cy="534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33"/>
          <p:cNvSpPr txBox="1"/>
          <p:nvPr/>
        </p:nvSpPr>
        <p:spPr>
          <a:xfrm>
            <a:off x="4973299" y="3434449"/>
            <a:ext cx="3333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 &amp; Export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26" name="Google Shape;326;p33"/>
          <p:cNvSpPr txBox="1"/>
          <p:nvPr/>
        </p:nvSpPr>
        <p:spPr>
          <a:xfrm>
            <a:off x="4973299" y="3653905"/>
            <a:ext cx="3333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Jinja2 HTML · WeasyPrint PDF · python-stix2 STIX 2.1 bundle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327" name="Google Shape;327;p33"/>
          <p:cNvSpPr/>
          <p:nvPr/>
        </p:nvSpPr>
        <p:spPr>
          <a:xfrm>
            <a:off x="342986" y="4375404"/>
            <a:ext cx="8458030" cy="58293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33"/>
          <p:cNvSpPr txBox="1"/>
          <p:nvPr/>
        </p:nvSpPr>
        <p:spPr>
          <a:xfrm>
            <a:off x="411583" y="4409694"/>
            <a:ext cx="19773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400+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329" name="Google Shape;329;p33"/>
          <p:cNvSpPr txBox="1"/>
          <p:nvPr/>
        </p:nvSpPr>
        <p:spPr>
          <a:xfrm>
            <a:off x="411583" y="4704587"/>
            <a:ext cx="19773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Platforms probed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330" name="Google Shape;330;p33"/>
          <p:cNvSpPr txBox="1"/>
          <p:nvPr/>
        </p:nvSpPr>
        <p:spPr>
          <a:xfrm>
            <a:off x="2526090" y="4409694"/>
            <a:ext cx="19773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331" name="Google Shape;331;p33"/>
          <p:cNvSpPr txBox="1"/>
          <p:nvPr/>
        </p:nvSpPr>
        <p:spPr>
          <a:xfrm>
            <a:off x="2526090" y="4704587"/>
            <a:ext cx="19773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OSINT modules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332" name="Google Shape;332;p33"/>
          <p:cNvSpPr txBox="1"/>
          <p:nvPr/>
        </p:nvSpPr>
        <p:spPr>
          <a:xfrm>
            <a:off x="4640598" y="4409694"/>
            <a:ext cx="19773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100+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333" name="Google Shape;333;p33"/>
          <p:cNvSpPr txBox="1"/>
          <p:nvPr/>
        </p:nvSpPr>
        <p:spPr>
          <a:xfrm>
            <a:off x="4640598" y="4704587"/>
            <a:ext cx="19773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Email services (Holehe)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334" name="Google Shape;334;p33"/>
          <p:cNvSpPr txBox="1"/>
          <p:nvPr/>
        </p:nvSpPr>
        <p:spPr>
          <a:xfrm>
            <a:off x="6755105" y="4409694"/>
            <a:ext cx="1977300" cy="2847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4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STIX 2.1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335" name="Google Shape;335;p33"/>
          <p:cNvSpPr txBox="1"/>
          <p:nvPr/>
        </p:nvSpPr>
        <p:spPr>
          <a:xfrm>
            <a:off x="6755105" y="4704587"/>
            <a:ext cx="19773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CTI output format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336" name="Google Shape;336;p33"/>
          <p:cNvSpPr txBox="1"/>
          <p:nvPr/>
        </p:nvSpPr>
        <p:spPr>
          <a:xfrm>
            <a:off x="8574645" y="4869180"/>
            <a:ext cx="54877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5 / 16</a:t>
            </a:r>
            <a:endParaRPr sz="1100"/>
          </a:p>
        </p:txBody>
      </p:sp>
      <p:pic>
        <p:nvPicPr>
          <p:cNvPr id="337" name="Google Shape;33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4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2 — DATA FLOW &amp; TRUST BOUNDARIES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343" name="Google Shape;343;p34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Zero Trust Data Flow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344" name="Google Shape;344;p34"/>
          <p:cNvSpPr/>
          <p:nvPr/>
        </p:nvSpPr>
        <p:spPr>
          <a:xfrm>
            <a:off x="342986" y="994410"/>
            <a:ext cx="8458030" cy="2057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34"/>
          <p:cNvSpPr/>
          <p:nvPr/>
        </p:nvSpPr>
        <p:spPr>
          <a:xfrm>
            <a:off x="342975" y="1131574"/>
            <a:ext cx="48000" cy="31965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34"/>
          <p:cNvSpPr txBox="1"/>
          <p:nvPr/>
        </p:nvSpPr>
        <p:spPr>
          <a:xfrm>
            <a:off x="480180" y="1213866"/>
            <a:ext cx="2400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TRUSTED — LOCAL HOST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47" name="Google Shape;347;p34"/>
          <p:cNvSpPr/>
          <p:nvPr/>
        </p:nvSpPr>
        <p:spPr>
          <a:xfrm>
            <a:off x="480180" y="1577340"/>
            <a:ext cx="2366601" cy="37719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34"/>
          <p:cNvSpPr txBox="1"/>
          <p:nvPr/>
        </p:nvSpPr>
        <p:spPr>
          <a:xfrm>
            <a:off x="583075" y="1645925"/>
            <a:ext cx="130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 Input Validation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49" name="Google Shape;349;p34"/>
          <p:cNvSpPr/>
          <p:nvPr/>
        </p:nvSpPr>
        <p:spPr>
          <a:xfrm>
            <a:off x="480180" y="2139695"/>
            <a:ext cx="2366601" cy="37719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34"/>
          <p:cNvSpPr txBox="1"/>
          <p:nvPr/>
        </p:nvSpPr>
        <p:spPr>
          <a:xfrm>
            <a:off x="583075" y="2208278"/>
            <a:ext cx="130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BFS Orchestrator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51" name="Google Shape;351;p34"/>
          <p:cNvSpPr/>
          <p:nvPr/>
        </p:nvSpPr>
        <p:spPr>
          <a:xfrm>
            <a:off x="480180" y="2702051"/>
            <a:ext cx="2366601" cy="37719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34"/>
          <p:cNvSpPr txBox="1"/>
          <p:nvPr/>
        </p:nvSpPr>
        <p:spPr>
          <a:xfrm>
            <a:off x="583075" y="2770631"/>
            <a:ext cx="130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SQLite DB (local)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53" name="Google Shape;353;p34"/>
          <p:cNvSpPr/>
          <p:nvPr/>
        </p:nvSpPr>
        <p:spPr>
          <a:xfrm>
            <a:off x="480180" y="3264408"/>
            <a:ext cx="2366601" cy="37719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34"/>
          <p:cNvSpPr txBox="1"/>
          <p:nvPr/>
        </p:nvSpPr>
        <p:spPr>
          <a:xfrm>
            <a:off x="583075" y="3332984"/>
            <a:ext cx="130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Module Dispatcher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55" name="Google Shape;355;p34"/>
          <p:cNvSpPr/>
          <p:nvPr/>
        </p:nvSpPr>
        <p:spPr>
          <a:xfrm>
            <a:off x="480180" y="3826764"/>
            <a:ext cx="2366601" cy="37719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34"/>
          <p:cNvSpPr txBox="1"/>
          <p:nvPr/>
        </p:nvSpPr>
        <p:spPr>
          <a:xfrm>
            <a:off x="583075" y="3895338"/>
            <a:ext cx="130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Audit Logger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57" name="Google Shape;357;p34"/>
          <p:cNvSpPr/>
          <p:nvPr/>
        </p:nvSpPr>
        <p:spPr>
          <a:xfrm>
            <a:off x="3155469" y="1131574"/>
            <a:ext cx="48000" cy="31965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34"/>
          <p:cNvSpPr txBox="1"/>
          <p:nvPr/>
        </p:nvSpPr>
        <p:spPr>
          <a:xfrm>
            <a:off x="3292664" y="1213866"/>
            <a:ext cx="253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UNTRUSTED — EXTERNAL APIs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59" name="Google Shape;359;p34"/>
          <p:cNvSpPr/>
          <p:nvPr/>
        </p:nvSpPr>
        <p:spPr>
          <a:xfrm>
            <a:off x="3292664" y="1577340"/>
            <a:ext cx="2503796" cy="37719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34"/>
          <p:cNvSpPr txBox="1"/>
          <p:nvPr/>
        </p:nvSpPr>
        <p:spPr>
          <a:xfrm>
            <a:off x="3395553" y="1645925"/>
            <a:ext cx="1595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HaveIBeenPwned API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61" name="Google Shape;361;p34"/>
          <p:cNvSpPr/>
          <p:nvPr/>
        </p:nvSpPr>
        <p:spPr>
          <a:xfrm>
            <a:off x="3292664" y="2139695"/>
            <a:ext cx="2503796" cy="37719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34"/>
          <p:cNvSpPr txBox="1"/>
          <p:nvPr/>
        </p:nvSpPr>
        <p:spPr>
          <a:xfrm>
            <a:off x="3395553" y="2208278"/>
            <a:ext cx="1595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Holehe HTTP Probes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63" name="Google Shape;363;p34"/>
          <p:cNvSpPr/>
          <p:nvPr/>
        </p:nvSpPr>
        <p:spPr>
          <a:xfrm>
            <a:off x="3292664" y="2702051"/>
            <a:ext cx="2503796" cy="37719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34"/>
          <p:cNvSpPr txBox="1"/>
          <p:nvPr/>
        </p:nvSpPr>
        <p:spPr>
          <a:xfrm>
            <a:off x="3395553" y="2770631"/>
            <a:ext cx="1595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Sherlock / Maigret Probes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65" name="Google Shape;365;p34"/>
          <p:cNvSpPr/>
          <p:nvPr/>
        </p:nvSpPr>
        <p:spPr>
          <a:xfrm>
            <a:off x="3292664" y="3264408"/>
            <a:ext cx="2503796" cy="37719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34"/>
          <p:cNvSpPr txBox="1"/>
          <p:nvPr/>
        </p:nvSpPr>
        <p:spPr>
          <a:xfrm>
            <a:off x="3395553" y="3332984"/>
            <a:ext cx="1595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WHOIS Servers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67" name="Google Shape;367;p34"/>
          <p:cNvSpPr/>
          <p:nvPr/>
        </p:nvSpPr>
        <p:spPr>
          <a:xfrm>
            <a:off x="3292664" y="3826764"/>
            <a:ext cx="2503796" cy="37719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34"/>
          <p:cNvSpPr txBox="1"/>
          <p:nvPr/>
        </p:nvSpPr>
        <p:spPr>
          <a:xfrm>
            <a:off x="3395553" y="3895338"/>
            <a:ext cx="1595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Reverse Image APIs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69" name="Google Shape;369;p34"/>
          <p:cNvSpPr/>
          <p:nvPr/>
        </p:nvSpPr>
        <p:spPr>
          <a:xfrm>
            <a:off x="6105157" y="1131574"/>
            <a:ext cx="48000" cy="31965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34"/>
          <p:cNvSpPr txBox="1"/>
          <p:nvPr/>
        </p:nvSpPr>
        <p:spPr>
          <a:xfrm>
            <a:off x="6242342" y="1213866"/>
            <a:ext cx="2503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SANITIZED — PARSED OUTPUT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71" name="Google Shape;371;p34"/>
          <p:cNvSpPr/>
          <p:nvPr/>
        </p:nvSpPr>
        <p:spPr>
          <a:xfrm>
            <a:off x="6242342" y="1577340"/>
            <a:ext cx="2469498" cy="37719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34"/>
          <p:cNvSpPr txBox="1"/>
          <p:nvPr/>
        </p:nvSpPr>
        <p:spPr>
          <a:xfrm>
            <a:off x="6345230" y="1645925"/>
            <a:ext cx="1477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Schema Validation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73" name="Google Shape;373;p34"/>
          <p:cNvSpPr/>
          <p:nvPr/>
        </p:nvSpPr>
        <p:spPr>
          <a:xfrm>
            <a:off x="6242342" y="2139695"/>
            <a:ext cx="2469498" cy="37719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34"/>
          <p:cNvSpPr txBox="1"/>
          <p:nvPr/>
        </p:nvSpPr>
        <p:spPr>
          <a:xfrm>
            <a:off x="6345230" y="2208278"/>
            <a:ext cx="1477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eval() / exec()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75" name="Google Shape;375;p34"/>
          <p:cNvSpPr/>
          <p:nvPr/>
        </p:nvSpPr>
        <p:spPr>
          <a:xfrm>
            <a:off x="6242342" y="2702051"/>
            <a:ext cx="2469498" cy="37719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34"/>
          <p:cNvSpPr txBox="1"/>
          <p:nvPr/>
        </p:nvSpPr>
        <p:spPr>
          <a:xfrm>
            <a:off x="6345230" y="2770631"/>
            <a:ext cx="1477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Type-checked insertion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77" name="Google Shape;377;p34"/>
          <p:cNvSpPr/>
          <p:nvPr/>
        </p:nvSpPr>
        <p:spPr>
          <a:xfrm>
            <a:off x="6242342" y="3264408"/>
            <a:ext cx="2469498" cy="37719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34"/>
          <p:cNvSpPr txBox="1"/>
          <p:nvPr/>
        </p:nvSpPr>
        <p:spPr>
          <a:xfrm>
            <a:off x="6345230" y="3332984"/>
            <a:ext cx="1477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Provenance metadata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79" name="Google Shape;379;p34"/>
          <p:cNvSpPr/>
          <p:nvPr/>
        </p:nvSpPr>
        <p:spPr>
          <a:xfrm>
            <a:off x="6242342" y="3826764"/>
            <a:ext cx="2469498" cy="37719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34"/>
          <p:cNvSpPr txBox="1"/>
          <p:nvPr/>
        </p:nvSpPr>
        <p:spPr>
          <a:xfrm>
            <a:off x="6345230" y="3895338"/>
            <a:ext cx="1477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Evidence chain store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381" name="Google Shape;381;p34"/>
          <p:cNvSpPr/>
          <p:nvPr/>
        </p:nvSpPr>
        <p:spPr>
          <a:xfrm>
            <a:off x="2963397" y="2434590"/>
            <a:ext cx="384144" cy="6172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34"/>
          <p:cNvSpPr txBox="1"/>
          <p:nvPr/>
        </p:nvSpPr>
        <p:spPr>
          <a:xfrm>
            <a:off x="2471572" y="2412625"/>
            <a:ext cx="8211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HTTPS</a:t>
            </a:r>
            <a:b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TLS 1.3</a:t>
            </a:r>
            <a:b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-&gt;</a:t>
            </a:r>
            <a:endParaRPr b="1" sz="1300">
              <a:solidFill>
                <a:schemeClr val="dk1"/>
              </a:solidFill>
            </a:endParaRPr>
          </a:p>
        </p:txBody>
      </p:sp>
      <p:sp>
        <p:nvSpPr>
          <p:cNvPr id="383" name="Google Shape;383;p34"/>
          <p:cNvSpPr/>
          <p:nvPr/>
        </p:nvSpPr>
        <p:spPr>
          <a:xfrm>
            <a:off x="5913074" y="2434590"/>
            <a:ext cx="384144" cy="61722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34"/>
          <p:cNvSpPr txBox="1"/>
          <p:nvPr/>
        </p:nvSpPr>
        <p:spPr>
          <a:xfrm>
            <a:off x="5503644" y="2434600"/>
            <a:ext cx="8211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Parsed</a:t>
            </a:r>
            <a:b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Output</a:t>
            </a:r>
            <a:b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-&gt;</a:t>
            </a:r>
            <a:endParaRPr b="1" sz="1300">
              <a:solidFill>
                <a:schemeClr val="dk1"/>
              </a:solidFill>
            </a:endParaRPr>
          </a:p>
        </p:txBody>
      </p:sp>
      <p:sp>
        <p:nvSpPr>
          <p:cNvPr id="385" name="Google Shape;385;p34"/>
          <p:cNvSpPr/>
          <p:nvPr/>
        </p:nvSpPr>
        <p:spPr>
          <a:xfrm>
            <a:off x="480175" y="4903475"/>
            <a:ext cx="8320800" cy="17160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34"/>
          <p:cNvSpPr txBox="1"/>
          <p:nvPr/>
        </p:nvSpPr>
        <p:spPr>
          <a:xfrm>
            <a:off x="480175" y="4883443"/>
            <a:ext cx="82317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TLS verify=True enforced  ·  API keys in env vars only  ·  No credentials in URLs  ·  Rate limiting per module</a:t>
            </a:r>
            <a:endParaRPr sz="1300"/>
          </a:p>
        </p:txBody>
      </p:sp>
      <p:sp>
        <p:nvSpPr>
          <p:cNvPr id="387" name="Google Shape;387;p34"/>
          <p:cNvSpPr txBox="1"/>
          <p:nvPr/>
        </p:nvSpPr>
        <p:spPr>
          <a:xfrm>
            <a:off x="8574645" y="4869180"/>
            <a:ext cx="54877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6 / 16</a:t>
            </a:r>
            <a:endParaRPr sz="1100"/>
          </a:p>
        </p:txBody>
      </p:sp>
      <p:pic>
        <p:nvPicPr>
          <p:cNvPr id="388" name="Google Shape;388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5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2 — TECHNOLOGY STACK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394" name="Google Shape;394;p35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Validated Technology Matrix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395" name="Google Shape;395;p35"/>
          <p:cNvSpPr/>
          <p:nvPr/>
        </p:nvSpPr>
        <p:spPr>
          <a:xfrm>
            <a:off x="342986" y="994410"/>
            <a:ext cx="8458030" cy="2057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35"/>
          <p:cNvSpPr/>
          <p:nvPr/>
        </p:nvSpPr>
        <p:spPr>
          <a:xfrm>
            <a:off x="342986" y="1097280"/>
            <a:ext cx="1234749" cy="26060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35"/>
          <p:cNvSpPr txBox="1"/>
          <p:nvPr/>
        </p:nvSpPr>
        <p:spPr>
          <a:xfrm>
            <a:off x="397864" y="1131570"/>
            <a:ext cx="11661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Layer</a:t>
            </a:r>
            <a:endParaRPr sz="1300"/>
          </a:p>
        </p:txBody>
      </p:sp>
      <p:sp>
        <p:nvSpPr>
          <p:cNvPr id="398" name="Google Shape;398;p35"/>
          <p:cNvSpPr/>
          <p:nvPr/>
        </p:nvSpPr>
        <p:spPr>
          <a:xfrm>
            <a:off x="1612033" y="1097280"/>
            <a:ext cx="1783526" cy="26060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35"/>
          <p:cNvSpPr txBox="1"/>
          <p:nvPr/>
        </p:nvSpPr>
        <p:spPr>
          <a:xfrm>
            <a:off x="1666911" y="1131570"/>
            <a:ext cx="1714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Technology</a:t>
            </a:r>
            <a:endParaRPr sz="1300"/>
          </a:p>
        </p:txBody>
      </p:sp>
      <p:sp>
        <p:nvSpPr>
          <p:cNvPr id="400" name="Google Shape;400;p35"/>
          <p:cNvSpPr/>
          <p:nvPr/>
        </p:nvSpPr>
        <p:spPr>
          <a:xfrm>
            <a:off x="3416139" y="1097280"/>
            <a:ext cx="754569" cy="26060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5"/>
          <p:cNvSpPr txBox="1"/>
          <p:nvPr/>
        </p:nvSpPr>
        <p:spPr>
          <a:xfrm>
            <a:off x="3471016" y="1131570"/>
            <a:ext cx="6861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Version</a:t>
            </a:r>
            <a:endParaRPr sz="1300"/>
          </a:p>
        </p:txBody>
      </p:sp>
      <p:sp>
        <p:nvSpPr>
          <p:cNvPr id="402" name="Google Shape;402;p35"/>
          <p:cNvSpPr/>
          <p:nvPr/>
        </p:nvSpPr>
        <p:spPr>
          <a:xfrm>
            <a:off x="4205006" y="1097280"/>
            <a:ext cx="4390218" cy="26060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35"/>
          <p:cNvSpPr txBox="1"/>
          <p:nvPr/>
        </p:nvSpPr>
        <p:spPr>
          <a:xfrm>
            <a:off x="4259884" y="1131570"/>
            <a:ext cx="4321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Justification</a:t>
            </a:r>
            <a:endParaRPr sz="1300"/>
          </a:p>
        </p:txBody>
      </p:sp>
      <p:sp>
        <p:nvSpPr>
          <p:cNvPr id="404" name="Google Shape;404;p35"/>
          <p:cNvSpPr/>
          <p:nvPr/>
        </p:nvSpPr>
        <p:spPr>
          <a:xfrm>
            <a:off x="342986" y="1357884"/>
            <a:ext cx="123474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35"/>
          <p:cNvSpPr txBox="1"/>
          <p:nvPr/>
        </p:nvSpPr>
        <p:spPr>
          <a:xfrm>
            <a:off x="411583" y="1412748"/>
            <a:ext cx="115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Language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06" name="Google Shape;406;p35"/>
          <p:cNvSpPr/>
          <p:nvPr/>
        </p:nvSpPr>
        <p:spPr>
          <a:xfrm>
            <a:off x="1612033" y="1357884"/>
            <a:ext cx="1783526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5"/>
          <p:cNvSpPr txBox="1"/>
          <p:nvPr/>
        </p:nvSpPr>
        <p:spPr>
          <a:xfrm>
            <a:off x="1680630" y="1412748"/>
            <a:ext cx="1701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Python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08" name="Google Shape;408;p35"/>
          <p:cNvSpPr/>
          <p:nvPr/>
        </p:nvSpPr>
        <p:spPr>
          <a:xfrm>
            <a:off x="3416139" y="1357884"/>
            <a:ext cx="75456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35"/>
          <p:cNvSpPr txBox="1"/>
          <p:nvPr/>
        </p:nvSpPr>
        <p:spPr>
          <a:xfrm>
            <a:off x="3484736" y="1412748"/>
            <a:ext cx="67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3.10+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10" name="Google Shape;410;p35"/>
          <p:cNvSpPr/>
          <p:nvPr/>
        </p:nvSpPr>
        <p:spPr>
          <a:xfrm>
            <a:off x="4205006" y="1357884"/>
            <a:ext cx="4390218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35"/>
          <p:cNvSpPr txBox="1"/>
          <p:nvPr/>
        </p:nvSpPr>
        <p:spPr>
          <a:xfrm>
            <a:off x="4273603" y="1412748"/>
            <a:ext cx="430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OSINT ecosystem; async support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12" name="Google Shape;412;p35"/>
          <p:cNvSpPr/>
          <p:nvPr/>
        </p:nvSpPr>
        <p:spPr>
          <a:xfrm>
            <a:off x="342986" y="1645920"/>
            <a:ext cx="123474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35"/>
          <p:cNvSpPr txBox="1"/>
          <p:nvPr/>
        </p:nvSpPr>
        <p:spPr>
          <a:xfrm>
            <a:off x="411583" y="1700784"/>
            <a:ext cx="115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14" name="Google Shape;414;p35"/>
          <p:cNvSpPr/>
          <p:nvPr/>
        </p:nvSpPr>
        <p:spPr>
          <a:xfrm>
            <a:off x="1612033" y="1645920"/>
            <a:ext cx="1783526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35"/>
          <p:cNvSpPr txBox="1"/>
          <p:nvPr/>
        </p:nvSpPr>
        <p:spPr>
          <a:xfrm>
            <a:off x="1680630" y="1700784"/>
            <a:ext cx="1701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Click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16" name="Google Shape;416;p35"/>
          <p:cNvSpPr/>
          <p:nvPr/>
        </p:nvSpPr>
        <p:spPr>
          <a:xfrm>
            <a:off x="3416139" y="1645920"/>
            <a:ext cx="75456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35"/>
          <p:cNvSpPr txBox="1"/>
          <p:nvPr/>
        </p:nvSpPr>
        <p:spPr>
          <a:xfrm>
            <a:off x="3484736" y="1700784"/>
            <a:ext cx="67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≥8.1.0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18" name="Google Shape;418;p35"/>
          <p:cNvSpPr/>
          <p:nvPr/>
        </p:nvSpPr>
        <p:spPr>
          <a:xfrm>
            <a:off x="4205006" y="1645920"/>
            <a:ext cx="4390218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35"/>
          <p:cNvSpPr txBox="1"/>
          <p:nvPr/>
        </p:nvSpPr>
        <p:spPr>
          <a:xfrm>
            <a:off x="4273603" y="1700784"/>
            <a:ext cx="430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Type-safe argument parsing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20" name="Google Shape;420;p35"/>
          <p:cNvSpPr/>
          <p:nvPr/>
        </p:nvSpPr>
        <p:spPr>
          <a:xfrm>
            <a:off x="342986" y="1933956"/>
            <a:ext cx="123474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35"/>
          <p:cNvSpPr txBox="1"/>
          <p:nvPr/>
        </p:nvSpPr>
        <p:spPr>
          <a:xfrm>
            <a:off x="411583" y="1988820"/>
            <a:ext cx="115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Phone Intel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22" name="Google Shape;422;p35"/>
          <p:cNvSpPr/>
          <p:nvPr/>
        </p:nvSpPr>
        <p:spPr>
          <a:xfrm>
            <a:off x="1612033" y="1933956"/>
            <a:ext cx="1783526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35"/>
          <p:cNvSpPr txBox="1"/>
          <p:nvPr/>
        </p:nvSpPr>
        <p:spPr>
          <a:xfrm>
            <a:off x="1680630" y="1988820"/>
            <a:ext cx="1701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phonenumbers / phoneinfoga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24" name="Google Shape;424;p35"/>
          <p:cNvSpPr/>
          <p:nvPr/>
        </p:nvSpPr>
        <p:spPr>
          <a:xfrm>
            <a:off x="3416139" y="1933956"/>
            <a:ext cx="75456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5"/>
          <p:cNvSpPr txBox="1"/>
          <p:nvPr/>
        </p:nvSpPr>
        <p:spPr>
          <a:xfrm>
            <a:off x="3484736" y="1988820"/>
            <a:ext cx="67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≥8.13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26" name="Google Shape;426;p35"/>
          <p:cNvSpPr/>
          <p:nvPr/>
        </p:nvSpPr>
        <p:spPr>
          <a:xfrm>
            <a:off x="4205006" y="1933956"/>
            <a:ext cx="4390218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35"/>
          <p:cNvSpPr txBox="1"/>
          <p:nvPr/>
        </p:nvSpPr>
        <p:spPr>
          <a:xfrm>
            <a:off x="4273603" y="1988820"/>
            <a:ext cx="430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E.164 parsing; carrier resolution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28" name="Google Shape;428;p35"/>
          <p:cNvSpPr/>
          <p:nvPr/>
        </p:nvSpPr>
        <p:spPr>
          <a:xfrm>
            <a:off x="342986" y="2221992"/>
            <a:ext cx="123474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35"/>
          <p:cNvSpPr txBox="1"/>
          <p:nvPr/>
        </p:nvSpPr>
        <p:spPr>
          <a:xfrm>
            <a:off x="411583" y="2276856"/>
            <a:ext cx="115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Email Intel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30" name="Google Shape;430;p35"/>
          <p:cNvSpPr/>
          <p:nvPr/>
        </p:nvSpPr>
        <p:spPr>
          <a:xfrm>
            <a:off x="1612033" y="2221992"/>
            <a:ext cx="1783526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35"/>
          <p:cNvSpPr txBox="1"/>
          <p:nvPr/>
        </p:nvSpPr>
        <p:spPr>
          <a:xfrm>
            <a:off x="1680630" y="2276856"/>
            <a:ext cx="1701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holehe + h8mail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32" name="Google Shape;432;p35"/>
          <p:cNvSpPr/>
          <p:nvPr/>
        </p:nvSpPr>
        <p:spPr>
          <a:xfrm>
            <a:off x="3416139" y="2221992"/>
            <a:ext cx="75456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35"/>
          <p:cNvSpPr txBox="1"/>
          <p:nvPr/>
        </p:nvSpPr>
        <p:spPr>
          <a:xfrm>
            <a:off x="3484736" y="2276856"/>
            <a:ext cx="67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Latest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34" name="Google Shape;434;p35"/>
          <p:cNvSpPr/>
          <p:nvPr/>
        </p:nvSpPr>
        <p:spPr>
          <a:xfrm>
            <a:off x="4205006" y="2221992"/>
            <a:ext cx="4390218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35"/>
          <p:cNvSpPr txBox="1"/>
          <p:nvPr/>
        </p:nvSpPr>
        <p:spPr>
          <a:xfrm>
            <a:off x="4273603" y="2276856"/>
            <a:ext cx="430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100+ service registration detection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36" name="Google Shape;436;p35"/>
          <p:cNvSpPr/>
          <p:nvPr/>
        </p:nvSpPr>
        <p:spPr>
          <a:xfrm>
            <a:off x="342986" y="2510028"/>
            <a:ext cx="123474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35"/>
          <p:cNvSpPr txBox="1"/>
          <p:nvPr/>
        </p:nvSpPr>
        <p:spPr>
          <a:xfrm>
            <a:off x="411583" y="2564892"/>
            <a:ext cx="115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Username Enum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38" name="Google Shape;438;p35"/>
          <p:cNvSpPr/>
          <p:nvPr/>
        </p:nvSpPr>
        <p:spPr>
          <a:xfrm>
            <a:off x="1612033" y="2510028"/>
            <a:ext cx="1783526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35"/>
          <p:cNvSpPr txBox="1"/>
          <p:nvPr/>
        </p:nvSpPr>
        <p:spPr>
          <a:xfrm>
            <a:off x="1680630" y="2564892"/>
            <a:ext cx="1701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Sherlock / Maigret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40" name="Google Shape;440;p35"/>
          <p:cNvSpPr/>
          <p:nvPr/>
        </p:nvSpPr>
        <p:spPr>
          <a:xfrm>
            <a:off x="3416139" y="2510028"/>
            <a:ext cx="75456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35"/>
          <p:cNvSpPr txBox="1"/>
          <p:nvPr/>
        </p:nvSpPr>
        <p:spPr>
          <a:xfrm>
            <a:off x="3484736" y="2564892"/>
            <a:ext cx="67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Latest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42" name="Google Shape;442;p35"/>
          <p:cNvSpPr/>
          <p:nvPr/>
        </p:nvSpPr>
        <p:spPr>
          <a:xfrm>
            <a:off x="4205006" y="2510028"/>
            <a:ext cx="4390218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35"/>
          <p:cNvSpPr txBox="1"/>
          <p:nvPr/>
        </p:nvSpPr>
        <p:spPr>
          <a:xfrm>
            <a:off x="4273603" y="2564892"/>
            <a:ext cx="430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400+ platform parallel probing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44" name="Google Shape;444;p35"/>
          <p:cNvSpPr/>
          <p:nvPr/>
        </p:nvSpPr>
        <p:spPr>
          <a:xfrm>
            <a:off x="342986" y="2798064"/>
            <a:ext cx="123474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35"/>
          <p:cNvSpPr txBox="1"/>
          <p:nvPr/>
        </p:nvSpPr>
        <p:spPr>
          <a:xfrm>
            <a:off x="411583" y="2852928"/>
            <a:ext cx="115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 Analysis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46" name="Google Shape;446;p35"/>
          <p:cNvSpPr/>
          <p:nvPr/>
        </p:nvSpPr>
        <p:spPr>
          <a:xfrm>
            <a:off x="1612033" y="2798064"/>
            <a:ext cx="1783526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35"/>
          <p:cNvSpPr txBox="1"/>
          <p:nvPr/>
        </p:nvSpPr>
        <p:spPr>
          <a:xfrm>
            <a:off x="1680630" y="2852928"/>
            <a:ext cx="1701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Pillow + face_recog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48" name="Google Shape;448;p35"/>
          <p:cNvSpPr/>
          <p:nvPr/>
        </p:nvSpPr>
        <p:spPr>
          <a:xfrm>
            <a:off x="3416139" y="2798064"/>
            <a:ext cx="75456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35"/>
          <p:cNvSpPr txBox="1"/>
          <p:nvPr/>
        </p:nvSpPr>
        <p:spPr>
          <a:xfrm>
            <a:off x="3484736" y="2852928"/>
            <a:ext cx="67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≥10.0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50" name="Google Shape;450;p35"/>
          <p:cNvSpPr/>
          <p:nvPr/>
        </p:nvSpPr>
        <p:spPr>
          <a:xfrm>
            <a:off x="4205006" y="2798064"/>
            <a:ext cx="4390218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35"/>
          <p:cNvSpPr txBox="1"/>
          <p:nvPr/>
        </p:nvSpPr>
        <p:spPr>
          <a:xfrm>
            <a:off x="4273603" y="2852928"/>
            <a:ext cx="430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EXIF extraction; local face similarity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52" name="Google Shape;452;p35"/>
          <p:cNvSpPr/>
          <p:nvPr/>
        </p:nvSpPr>
        <p:spPr>
          <a:xfrm>
            <a:off x="342986" y="3086100"/>
            <a:ext cx="123474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35"/>
          <p:cNvSpPr txBox="1"/>
          <p:nvPr/>
        </p:nvSpPr>
        <p:spPr>
          <a:xfrm>
            <a:off x="411583" y="3140964"/>
            <a:ext cx="115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Graph Engine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54" name="Google Shape;454;p35"/>
          <p:cNvSpPr/>
          <p:nvPr/>
        </p:nvSpPr>
        <p:spPr>
          <a:xfrm>
            <a:off x="1612033" y="3086100"/>
            <a:ext cx="1783526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35"/>
          <p:cNvSpPr txBox="1"/>
          <p:nvPr/>
        </p:nvSpPr>
        <p:spPr>
          <a:xfrm>
            <a:off x="1680630" y="3140964"/>
            <a:ext cx="1701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NetworkX + pyvis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56" name="Google Shape;456;p35"/>
          <p:cNvSpPr/>
          <p:nvPr/>
        </p:nvSpPr>
        <p:spPr>
          <a:xfrm>
            <a:off x="3416139" y="3086100"/>
            <a:ext cx="75456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35"/>
          <p:cNvSpPr txBox="1"/>
          <p:nvPr/>
        </p:nvSpPr>
        <p:spPr>
          <a:xfrm>
            <a:off x="3484736" y="3140964"/>
            <a:ext cx="67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≥3.0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58" name="Google Shape;458;p35"/>
          <p:cNvSpPr/>
          <p:nvPr/>
        </p:nvSpPr>
        <p:spPr>
          <a:xfrm>
            <a:off x="4205006" y="3086100"/>
            <a:ext cx="4390218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35"/>
          <p:cNvSpPr txBox="1"/>
          <p:nvPr/>
        </p:nvSpPr>
        <p:spPr>
          <a:xfrm>
            <a:off x="4273603" y="3140964"/>
            <a:ext cx="430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Connected components; interactive viz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60" name="Google Shape;460;p35"/>
          <p:cNvSpPr/>
          <p:nvPr/>
        </p:nvSpPr>
        <p:spPr>
          <a:xfrm>
            <a:off x="342986" y="3374136"/>
            <a:ext cx="123474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35"/>
          <p:cNvSpPr txBox="1"/>
          <p:nvPr/>
        </p:nvSpPr>
        <p:spPr>
          <a:xfrm>
            <a:off x="411583" y="3429000"/>
            <a:ext cx="115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Breach Intel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62" name="Google Shape;462;p35"/>
          <p:cNvSpPr/>
          <p:nvPr/>
        </p:nvSpPr>
        <p:spPr>
          <a:xfrm>
            <a:off x="1612033" y="3374136"/>
            <a:ext cx="1783526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35"/>
          <p:cNvSpPr txBox="1"/>
          <p:nvPr/>
        </p:nvSpPr>
        <p:spPr>
          <a:xfrm>
            <a:off x="1680630" y="3429000"/>
            <a:ext cx="1701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HIBP API v3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64" name="Google Shape;464;p35"/>
          <p:cNvSpPr/>
          <p:nvPr/>
        </p:nvSpPr>
        <p:spPr>
          <a:xfrm>
            <a:off x="3416139" y="3374136"/>
            <a:ext cx="75456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35"/>
          <p:cNvSpPr txBox="1"/>
          <p:nvPr/>
        </p:nvSpPr>
        <p:spPr>
          <a:xfrm>
            <a:off x="3484736" y="3429000"/>
            <a:ext cx="67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66" name="Google Shape;466;p35"/>
          <p:cNvSpPr/>
          <p:nvPr/>
        </p:nvSpPr>
        <p:spPr>
          <a:xfrm>
            <a:off x="4205006" y="3374136"/>
            <a:ext cx="4390218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35"/>
          <p:cNvSpPr txBox="1"/>
          <p:nvPr/>
        </p:nvSpPr>
        <p:spPr>
          <a:xfrm>
            <a:off x="4273603" y="3429000"/>
            <a:ext cx="430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k-anonymity; no full hash transmitted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68" name="Google Shape;468;p35"/>
          <p:cNvSpPr/>
          <p:nvPr/>
        </p:nvSpPr>
        <p:spPr>
          <a:xfrm>
            <a:off x="342986" y="3662172"/>
            <a:ext cx="123474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5"/>
          <p:cNvSpPr txBox="1"/>
          <p:nvPr/>
        </p:nvSpPr>
        <p:spPr>
          <a:xfrm>
            <a:off x="411583" y="3717036"/>
            <a:ext cx="115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 / Export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70" name="Google Shape;470;p35"/>
          <p:cNvSpPr/>
          <p:nvPr/>
        </p:nvSpPr>
        <p:spPr>
          <a:xfrm>
            <a:off x="1612033" y="3662172"/>
            <a:ext cx="1783526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35"/>
          <p:cNvSpPr txBox="1"/>
          <p:nvPr/>
        </p:nvSpPr>
        <p:spPr>
          <a:xfrm>
            <a:off x="1680630" y="3717036"/>
            <a:ext cx="17013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Jinja2 + WeasyPrint + python-stix2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72" name="Google Shape;472;p35"/>
          <p:cNvSpPr/>
          <p:nvPr/>
        </p:nvSpPr>
        <p:spPr>
          <a:xfrm>
            <a:off x="3416139" y="3662172"/>
            <a:ext cx="75456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35"/>
          <p:cNvSpPr txBox="1"/>
          <p:nvPr/>
        </p:nvSpPr>
        <p:spPr>
          <a:xfrm>
            <a:off x="3484736" y="3717036"/>
            <a:ext cx="67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≥3.1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74" name="Google Shape;474;p35"/>
          <p:cNvSpPr/>
          <p:nvPr/>
        </p:nvSpPr>
        <p:spPr>
          <a:xfrm>
            <a:off x="4205006" y="3662172"/>
            <a:ext cx="4390218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35"/>
          <p:cNvSpPr txBox="1"/>
          <p:nvPr/>
        </p:nvSpPr>
        <p:spPr>
          <a:xfrm>
            <a:off x="4273603" y="3717036"/>
            <a:ext cx="430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HTML / PDF / STIX 2.1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76" name="Google Shape;476;p35"/>
          <p:cNvSpPr/>
          <p:nvPr/>
        </p:nvSpPr>
        <p:spPr>
          <a:xfrm>
            <a:off x="342986" y="3950208"/>
            <a:ext cx="123474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5"/>
          <p:cNvSpPr txBox="1"/>
          <p:nvPr/>
        </p:nvSpPr>
        <p:spPr>
          <a:xfrm>
            <a:off x="411583" y="4005072"/>
            <a:ext cx="115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Persistence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78" name="Google Shape;478;p35"/>
          <p:cNvSpPr/>
          <p:nvPr/>
        </p:nvSpPr>
        <p:spPr>
          <a:xfrm>
            <a:off x="1612033" y="3950208"/>
            <a:ext cx="1783526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35"/>
          <p:cNvSpPr txBox="1"/>
          <p:nvPr/>
        </p:nvSpPr>
        <p:spPr>
          <a:xfrm>
            <a:off x="1680630" y="4005072"/>
            <a:ext cx="1701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SQLite3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80" name="Google Shape;480;p35"/>
          <p:cNvSpPr/>
          <p:nvPr/>
        </p:nvSpPr>
        <p:spPr>
          <a:xfrm>
            <a:off x="3416139" y="3950208"/>
            <a:ext cx="75456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35"/>
          <p:cNvSpPr txBox="1"/>
          <p:nvPr/>
        </p:nvSpPr>
        <p:spPr>
          <a:xfrm>
            <a:off x="3484736" y="4005072"/>
            <a:ext cx="67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stdlib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82" name="Google Shape;482;p35"/>
          <p:cNvSpPr/>
          <p:nvPr/>
        </p:nvSpPr>
        <p:spPr>
          <a:xfrm>
            <a:off x="4205006" y="3950208"/>
            <a:ext cx="4390218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35"/>
          <p:cNvSpPr txBox="1"/>
          <p:nvPr/>
        </p:nvSpPr>
        <p:spPr>
          <a:xfrm>
            <a:off x="4273603" y="4005072"/>
            <a:ext cx="430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Zero-dependency; investigator-local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84" name="Google Shape;484;p35"/>
          <p:cNvSpPr/>
          <p:nvPr/>
        </p:nvSpPr>
        <p:spPr>
          <a:xfrm>
            <a:off x="342986" y="4238244"/>
            <a:ext cx="123474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35"/>
          <p:cNvSpPr txBox="1"/>
          <p:nvPr/>
        </p:nvSpPr>
        <p:spPr>
          <a:xfrm>
            <a:off x="411583" y="4293108"/>
            <a:ext cx="115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Testing / Lint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86" name="Google Shape;486;p35"/>
          <p:cNvSpPr/>
          <p:nvPr/>
        </p:nvSpPr>
        <p:spPr>
          <a:xfrm>
            <a:off x="1612033" y="4238244"/>
            <a:ext cx="1783526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35"/>
          <p:cNvSpPr txBox="1"/>
          <p:nvPr/>
        </p:nvSpPr>
        <p:spPr>
          <a:xfrm>
            <a:off x="1680630" y="4293108"/>
            <a:ext cx="1701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pytest + ruff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88" name="Google Shape;488;p35"/>
          <p:cNvSpPr/>
          <p:nvPr/>
        </p:nvSpPr>
        <p:spPr>
          <a:xfrm>
            <a:off x="3416139" y="4238244"/>
            <a:ext cx="754569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35"/>
          <p:cNvSpPr txBox="1"/>
          <p:nvPr/>
        </p:nvSpPr>
        <p:spPr>
          <a:xfrm>
            <a:off x="3484736" y="4293108"/>
            <a:ext cx="672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≥7.0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90" name="Google Shape;490;p35"/>
          <p:cNvSpPr/>
          <p:nvPr/>
        </p:nvSpPr>
        <p:spPr>
          <a:xfrm>
            <a:off x="4205006" y="4238244"/>
            <a:ext cx="4390218" cy="274319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35"/>
          <p:cNvSpPr txBox="1"/>
          <p:nvPr/>
        </p:nvSpPr>
        <p:spPr>
          <a:xfrm>
            <a:off x="4273603" y="4293108"/>
            <a:ext cx="430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≥85% coverage; zero lint violations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492" name="Google Shape;492;p35"/>
          <p:cNvSpPr txBox="1"/>
          <p:nvPr/>
        </p:nvSpPr>
        <p:spPr>
          <a:xfrm>
            <a:off x="8574645" y="4869180"/>
            <a:ext cx="54877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7 / 16</a:t>
            </a:r>
            <a:endParaRPr sz="1100"/>
          </a:p>
        </p:txBody>
      </p:sp>
      <p:pic>
        <p:nvPicPr>
          <p:cNvPr id="493" name="Google Shape;493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36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3 — CYBER DEFENSE &amp; THREAT MODELING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499" name="Google Shape;499;p36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STRIDE Threat Model — Platform Threats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500" name="Google Shape;500;p36"/>
          <p:cNvSpPr/>
          <p:nvPr/>
        </p:nvSpPr>
        <p:spPr>
          <a:xfrm>
            <a:off x="342986" y="994410"/>
            <a:ext cx="8458030" cy="2057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36"/>
          <p:cNvSpPr/>
          <p:nvPr/>
        </p:nvSpPr>
        <p:spPr>
          <a:xfrm>
            <a:off x="1463081" y="1147375"/>
            <a:ext cx="4029900" cy="534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36"/>
          <p:cNvSpPr/>
          <p:nvPr/>
        </p:nvSpPr>
        <p:spPr>
          <a:xfrm>
            <a:off x="1463086" y="1147370"/>
            <a:ext cx="377400" cy="53490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36"/>
          <p:cNvSpPr txBox="1"/>
          <p:nvPr/>
        </p:nvSpPr>
        <p:spPr>
          <a:xfrm>
            <a:off x="1463086" y="1270813"/>
            <a:ext cx="377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</a:t>
            </a:r>
            <a:endParaRPr sz="1100"/>
          </a:p>
        </p:txBody>
      </p:sp>
      <p:sp>
        <p:nvSpPr>
          <p:cNvPr id="504" name="Google Shape;504;p36"/>
          <p:cNvSpPr txBox="1"/>
          <p:nvPr/>
        </p:nvSpPr>
        <p:spPr>
          <a:xfrm>
            <a:off x="1908967" y="1181660"/>
            <a:ext cx="1371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Spoofing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505" name="Google Shape;505;p36"/>
          <p:cNvSpPr txBox="1"/>
          <p:nvPr/>
        </p:nvSpPr>
        <p:spPr>
          <a:xfrm>
            <a:off x="1908967" y="1421689"/>
            <a:ext cx="6516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Adversary lookalike domain returns false OSINT positives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506" name="Google Shape;506;p36"/>
          <p:cNvSpPr/>
          <p:nvPr/>
        </p:nvSpPr>
        <p:spPr>
          <a:xfrm>
            <a:off x="6362556" y="1270829"/>
            <a:ext cx="891900" cy="26070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36"/>
          <p:cNvSpPr txBox="1"/>
          <p:nvPr/>
        </p:nvSpPr>
        <p:spPr>
          <a:xfrm>
            <a:off x="6362556" y="1318836"/>
            <a:ext cx="891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Medium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508" name="Google Shape;508;p36"/>
          <p:cNvSpPr/>
          <p:nvPr/>
        </p:nvSpPr>
        <p:spPr>
          <a:xfrm>
            <a:off x="1463081" y="1764595"/>
            <a:ext cx="4029900" cy="534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36"/>
          <p:cNvSpPr/>
          <p:nvPr/>
        </p:nvSpPr>
        <p:spPr>
          <a:xfrm>
            <a:off x="1463086" y="1764590"/>
            <a:ext cx="377400" cy="53490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36"/>
          <p:cNvSpPr txBox="1"/>
          <p:nvPr/>
        </p:nvSpPr>
        <p:spPr>
          <a:xfrm>
            <a:off x="1463086" y="1888034"/>
            <a:ext cx="377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endParaRPr sz="1100"/>
          </a:p>
        </p:txBody>
      </p:sp>
      <p:sp>
        <p:nvSpPr>
          <p:cNvPr id="511" name="Google Shape;511;p36"/>
          <p:cNvSpPr txBox="1"/>
          <p:nvPr/>
        </p:nvSpPr>
        <p:spPr>
          <a:xfrm>
            <a:off x="1908967" y="1798879"/>
            <a:ext cx="1371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Tampering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512" name="Google Shape;512;p36"/>
          <p:cNvSpPr txBox="1"/>
          <p:nvPr/>
        </p:nvSpPr>
        <p:spPr>
          <a:xfrm>
            <a:off x="1908967" y="2038909"/>
            <a:ext cx="6516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Local filesystem access corrupts SQLite evidence chains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513" name="Google Shape;513;p36"/>
          <p:cNvSpPr/>
          <p:nvPr/>
        </p:nvSpPr>
        <p:spPr>
          <a:xfrm>
            <a:off x="6362556" y="1888050"/>
            <a:ext cx="891900" cy="26070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36"/>
          <p:cNvSpPr txBox="1"/>
          <p:nvPr/>
        </p:nvSpPr>
        <p:spPr>
          <a:xfrm>
            <a:off x="6362556" y="1936056"/>
            <a:ext cx="891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515" name="Google Shape;515;p36"/>
          <p:cNvSpPr/>
          <p:nvPr/>
        </p:nvSpPr>
        <p:spPr>
          <a:xfrm>
            <a:off x="1463081" y="2381815"/>
            <a:ext cx="4029900" cy="534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36"/>
          <p:cNvSpPr/>
          <p:nvPr/>
        </p:nvSpPr>
        <p:spPr>
          <a:xfrm>
            <a:off x="1463086" y="2381810"/>
            <a:ext cx="377400" cy="53490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36"/>
          <p:cNvSpPr txBox="1"/>
          <p:nvPr/>
        </p:nvSpPr>
        <p:spPr>
          <a:xfrm>
            <a:off x="1463086" y="2505254"/>
            <a:ext cx="377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sz="1100"/>
          </a:p>
        </p:txBody>
      </p:sp>
      <p:sp>
        <p:nvSpPr>
          <p:cNvPr id="518" name="Google Shape;518;p36"/>
          <p:cNvSpPr txBox="1"/>
          <p:nvPr/>
        </p:nvSpPr>
        <p:spPr>
          <a:xfrm>
            <a:off x="1908967" y="2416100"/>
            <a:ext cx="1371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Repudiation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519" name="Google Shape;519;p36"/>
          <p:cNvSpPr txBox="1"/>
          <p:nvPr/>
        </p:nvSpPr>
        <p:spPr>
          <a:xfrm>
            <a:off x="1908967" y="2656130"/>
            <a:ext cx="6516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 signed audit log; investigator denies query history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520" name="Google Shape;520;p36"/>
          <p:cNvSpPr/>
          <p:nvPr/>
        </p:nvSpPr>
        <p:spPr>
          <a:xfrm>
            <a:off x="6362556" y="2505270"/>
            <a:ext cx="891900" cy="26070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36"/>
          <p:cNvSpPr txBox="1"/>
          <p:nvPr/>
        </p:nvSpPr>
        <p:spPr>
          <a:xfrm>
            <a:off x="6362556" y="2553276"/>
            <a:ext cx="891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Medium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522" name="Google Shape;522;p36"/>
          <p:cNvSpPr/>
          <p:nvPr/>
        </p:nvSpPr>
        <p:spPr>
          <a:xfrm>
            <a:off x="1463081" y="2999035"/>
            <a:ext cx="4029900" cy="534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36"/>
          <p:cNvSpPr/>
          <p:nvPr/>
        </p:nvSpPr>
        <p:spPr>
          <a:xfrm>
            <a:off x="1463086" y="2999029"/>
            <a:ext cx="377400" cy="53490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36"/>
          <p:cNvSpPr txBox="1"/>
          <p:nvPr/>
        </p:nvSpPr>
        <p:spPr>
          <a:xfrm>
            <a:off x="1463086" y="3122473"/>
            <a:ext cx="377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</a:t>
            </a:r>
            <a:endParaRPr sz="1100"/>
          </a:p>
        </p:txBody>
      </p:sp>
      <p:sp>
        <p:nvSpPr>
          <p:cNvPr id="525" name="Google Shape;525;p36"/>
          <p:cNvSpPr txBox="1"/>
          <p:nvPr/>
        </p:nvSpPr>
        <p:spPr>
          <a:xfrm>
            <a:off x="1908967" y="3033319"/>
            <a:ext cx="1371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Info Disclosure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526" name="Google Shape;526;p36"/>
          <p:cNvSpPr txBox="1"/>
          <p:nvPr/>
        </p:nvSpPr>
        <p:spPr>
          <a:xfrm>
            <a:off x="1908967" y="3273350"/>
            <a:ext cx="6516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PII in HTTP query params or stdout in CI/CD environments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527" name="Google Shape;527;p36"/>
          <p:cNvSpPr/>
          <p:nvPr/>
        </p:nvSpPr>
        <p:spPr>
          <a:xfrm>
            <a:off x="6362556" y="3122490"/>
            <a:ext cx="891900" cy="26070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36"/>
          <p:cNvSpPr txBox="1"/>
          <p:nvPr/>
        </p:nvSpPr>
        <p:spPr>
          <a:xfrm>
            <a:off x="6362556" y="3170495"/>
            <a:ext cx="891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529" name="Google Shape;529;p36"/>
          <p:cNvSpPr/>
          <p:nvPr/>
        </p:nvSpPr>
        <p:spPr>
          <a:xfrm>
            <a:off x="1463081" y="3616256"/>
            <a:ext cx="4029900" cy="534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36"/>
          <p:cNvSpPr/>
          <p:nvPr/>
        </p:nvSpPr>
        <p:spPr>
          <a:xfrm>
            <a:off x="1463086" y="3616250"/>
            <a:ext cx="377400" cy="534900"/>
          </a:xfrm>
          <a:prstGeom prst="rect">
            <a:avLst/>
          </a:prstGeom>
          <a:solidFill>
            <a:srgbClr val="39D35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36"/>
          <p:cNvSpPr txBox="1"/>
          <p:nvPr/>
        </p:nvSpPr>
        <p:spPr>
          <a:xfrm>
            <a:off x="1463086" y="3739694"/>
            <a:ext cx="377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</a:t>
            </a:r>
            <a:endParaRPr sz="1100"/>
          </a:p>
        </p:txBody>
      </p:sp>
      <p:sp>
        <p:nvSpPr>
          <p:cNvPr id="532" name="Google Shape;532;p36"/>
          <p:cNvSpPr txBox="1"/>
          <p:nvPr/>
        </p:nvSpPr>
        <p:spPr>
          <a:xfrm>
            <a:off x="1908967" y="3650540"/>
            <a:ext cx="1371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Denial of Service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533" name="Google Shape;533;p36"/>
          <p:cNvSpPr txBox="1"/>
          <p:nvPr/>
        </p:nvSpPr>
        <p:spPr>
          <a:xfrm>
            <a:off x="1908967" y="3890570"/>
            <a:ext cx="6516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Unbounded BFS traversal exhausts external API rate limits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534" name="Google Shape;534;p36"/>
          <p:cNvSpPr/>
          <p:nvPr/>
        </p:nvSpPr>
        <p:spPr>
          <a:xfrm>
            <a:off x="6362556" y="3739710"/>
            <a:ext cx="891900" cy="260700"/>
          </a:xfrm>
          <a:prstGeom prst="rect">
            <a:avLst/>
          </a:prstGeom>
          <a:solidFill>
            <a:srgbClr val="39D35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36"/>
          <p:cNvSpPr txBox="1"/>
          <p:nvPr/>
        </p:nvSpPr>
        <p:spPr>
          <a:xfrm>
            <a:off x="6362556" y="3787716"/>
            <a:ext cx="891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Low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536" name="Google Shape;536;p36"/>
          <p:cNvSpPr/>
          <p:nvPr/>
        </p:nvSpPr>
        <p:spPr>
          <a:xfrm>
            <a:off x="1463081" y="4233476"/>
            <a:ext cx="4029900" cy="534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36"/>
          <p:cNvSpPr/>
          <p:nvPr/>
        </p:nvSpPr>
        <p:spPr>
          <a:xfrm>
            <a:off x="1463086" y="4233470"/>
            <a:ext cx="377400" cy="534900"/>
          </a:xfrm>
          <a:prstGeom prst="rect">
            <a:avLst/>
          </a:prstGeom>
          <a:solidFill>
            <a:srgbClr val="FF333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36"/>
          <p:cNvSpPr txBox="1"/>
          <p:nvPr/>
        </p:nvSpPr>
        <p:spPr>
          <a:xfrm>
            <a:off x="1463086" y="4356914"/>
            <a:ext cx="377400" cy="3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endParaRPr sz="1100"/>
          </a:p>
        </p:txBody>
      </p:sp>
      <p:sp>
        <p:nvSpPr>
          <p:cNvPr id="539" name="Google Shape;539;p36"/>
          <p:cNvSpPr txBox="1"/>
          <p:nvPr/>
        </p:nvSpPr>
        <p:spPr>
          <a:xfrm>
            <a:off x="1908967" y="4267760"/>
            <a:ext cx="1371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Elev. of Privilege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540" name="Google Shape;540;p36"/>
          <p:cNvSpPr txBox="1"/>
          <p:nvPr/>
        </p:nvSpPr>
        <p:spPr>
          <a:xfrm>
            <a:off x="1908967" y="4507790"/>
            <a:ext cx="65166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Shell metacharacters in OSINT response → subprocess inject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541" name="Google Shape;541;p36"/>
          <p:cNvSpPr/>
          <p:nvPr/>
        </p:nvSpPr>
        <p:spPr>
          <a:xfrm>
            <a:off x="6362556" y="4356930"/>
            <a:ext cx="891900" cy="260700"/>
          </a:xfrm>
          <a:prstGeom prst="rect">
            <a:avLst/>
          </a:prstGeom>
          <a:solidFill>
            <a:srgbClr val="FF333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36"/>
          <p:cNvSpPr txBox="1"/>
          <p:nvPr/>
        </p:nvSpPr>
        <p:spPr>
          <a:xfrm>
            <a:off x="6362556" y="4404936"/>
            <a:ext cx="891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Critical</a:t>
            </a:r>
            <a:endParaRPr sz="1100">
              <a:solidFill>
                <a:schemeClr val="lt1"/>
              </a:solidFill>
            </a:endParaRPr>
          </a:p>
        </p:txBody>
      </p:sp>
      <p:sp>
        <p:nvSpPr>
          <p:cNvPr id="543" name="Google Shape;543;p36"/>
          <p:cNvSpPr txBox="1"/>
          <p:nvPr/>
        </p:nvSpPr>
        <p:spPr>
          <a:xfrm>
            <a:off x="8574645" y="4869180"/>
            <a:ext cx="54877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8 / 16</a:t>
            </a:r>
            <a:endParaRPr sz="1100"/>
          </a:p>
        </p:txBody>
      </p:sp>
      <p:pic>
        <p:nvPicPr>
          <p:cNvPr id="544" name="Google Shape;544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37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3 — THREAT MODELING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550" name="Google Shape;550;p37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MITRE ATT&amp;CK Coverage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551" name="Google Shape;551;p37"/>
          <p:cNvSpPr/>
          <p:nvPr/>
        </p:nvSpPr>
        <p:spPr>
          <a:xfrm>
            <a:off x="342986" y="994410"/>
            <a:ext cx="8458030" cy="2057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37"/>
          <p:cNvSpPr/>
          <p:nvPr/>
        </p:nvSpPr>
        <p:spPr>
          <a:xfrm>
            <a:off x="342986" y="1131570"/>
            <a:ext cx="8458030" cy="48006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37"/>
          <p:cNvSpPr/>
          <p:nvPr/>
        </p:nvSpPr>
        <p:spPr>
          <a:xfrm>
            <a:off x="342986" y="1131570"/>
            <a:ext cx="48018" cy="48006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37"/>
          <p:cNvSpPr/>
          <p:nvPr/>
        </p:nvSpPr>
        <p:spPr>
          <a:xfrm>
            <a:off x="445882" y="1234439"/>
            <a:ext cx="891763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37"/>
          <p:cNvSpPr txBox="1"/>
          <p:nvPr/>
        </p:nvSpPr>
        <p:spPr>
          <a:xfrm>
            <a:off x="445882" y="1268729"/>
            <a:ext cx="891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T1585.001</a:t>
            </a:r>
            <a:endParaRPr sz="1300"/>
          </a:p>
        </p:txBody>
      </p:sp>
      <p:sp>
        <p:nvSpPr>
          <p:cNvPr id="556" name="Google Shape;556;p37"/>
          <p:cNvSpPr txBox="1"/>
          <p:nvPr/>
        </p:nvSpPr>
        <p:spPr>
          <a:xfrm>
            <a:off x="1440540" y="1179576"/>
            <a:ext cx="28812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Establish Accounts — Social Media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557" name="Google Shape;557;p37"/>
          <p:cNvSpPr txBox="1"/>
          <p:nvPr/>
        </p:nvSpPr>
        <p:spPr>
          <a:xfrm>
            <a:off x="1440540" y="1392173"/>
            <a:ext cx="7202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Sherlock/Maigret parallel enumeration across 400+ platforms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558" name="Google Shape;558;p37"/>
          <p:cNvSpPr/>
          <p:nvPr/>
        </p:nvSpPr>
        <p:spPr>
          <a:xfrm>
            <a:off x="342986" y="1680210"/>
            <a:ext cx="8458030" cy="48006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37"/>
          <p:cNvSpPr/>
          <p:nvPr/>
        </p:nvSpPr>
        <p:spPr>
          <a:xfrm>
            <a:off x="342986" y="1680210"/>
            <a:ext cx="48018" cy="48006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37"/>
          <p:cNvSpPr/>
          <p:nvPr/>
        </p:nvSpPr>
        <p:spPr>
          <a:xfrm>
            <a:off x="445882" y="1783080"/>
            <a:ext cx="891763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37"/>
          <p:cNvSpPr txBox="1"/>
          <p:nvPr/>
        </p:nvSpPr>
        <p:spPr>
          <a:xfrm>
            <a:off x="445882" y="1817370"/>
            <a:ext cx="891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T1585.002</a:t>
            </a:r>
            <a:endParaRPr sz="1300"/>
          </a:p>
        </p:txBody>
      </p:sp>
      <p:sp>
        <p:nvSpPr>
          <p:cNvPr id="562" name="Google Shape;562;p37"/>
          <p:cNvSpPr txBox="1"/>
          <p:nvPr/>
        </p:nvSpPr>
        <p:spPr>
          <a:xfrm>
            <a:off x="1440540" y="1728216"/>
            <a:ext cx="28812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Establish Accounts — Email Accounts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563" name="Google Shape;563;p37"/>
          <p:cNvSpPr txBox="1"/>
          <p:nvPr/>
        </p:nvSpPr>
        <p:spPr>
          <a:xfrm>
            <a:off x="1440540" y="1940814"/>
            <a:ext cx="7202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Holehe registration detection; disposable domain classification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564" name="Google Shape;564;p37"/>
          <p:cNvSpPr/>
          <p:nvPr/>
        </p:nvSpPr>
        <p:spPr>
          <a:xfrm>
            <a:off x="342986" y="2228850"/>
            <a:ext cx="8458030" cy="48006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37"/>
          <p:cNvSpPr/>
          <p:nvPr/>
        </p:nvSpPr>
        <p:spPr>
          <a:xfrm>
            <a:off x="342986" y="2228850"/>
            <a:ext cx="48018" cy="48006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37"/>
          <p:cNvSpPr/>
          <p:nvPr/>
        </p:nvSpPr>
        <p:spPr>
          <a:xfrm>
            <a:off x="445882" y="2331720"/>
            <a:ext cx="891763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37"/>
          <p:cNvSpPr txBox="1"/>
          <p:nvPr/>
        </p:nvSpPr>
        <p:spPr>
          <a:xfrm>
            <a:off x="445882" y="2366010"/>
            <a:ext cx="891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T1586</a:t>
            </a:r>
            <a:endParaRPr sz="1300"/>
          </a:p>
        </p:txBody>
      </p:sp>
      <p:sp>
        <p:nvSpPr>
          <p:cNvPr id="568" name="Google Shape;568;p37"/>
          <p:cNvSpPr txBox="1"/>
          <p:nvPr/>
        </p:nvSpPr>
        <p:spPr>
          <a:xfrm>
            <a:off x="1440540" y="2276856"/>
            <a:ext cx="28812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Compromise Accounts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569" name="Google Shape;569;p37"/>
          <p:cNvSpPr txBox="1"/>
          <p:nvPr/>
        </p:nvSpPr>
        <p:spPr>
          <a:xfrm>
            <a:off x="1440540" y="2489454"/>
            <a:ext cx="7202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HIBP breach correlation; stolen credentials to active accounts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570" name="Google Shape;570;p37"/>
          <p:cNvSpPr/>
          <p:nvPr/>
        </p:nvSpPr>
        <p:spPr>
          <a:xfrm>
            <a:off x="342986" y="2777490"/>
            <a:ext cx="8458030" cy="48006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37"/>
          <p:cNvSpPr/>
          <p:nvPr/>
        </p:nvSpPr>
        <p:spPr>
          <a:xfrm>
            <a:off x="342986" y="2777490"/>
            <a:ext cx="48018" cy="48006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37"/>
          <p:cNvSpPr/>
          <p:nvPr/>
        </p:nvSpPr>
        <p:spPr>
          <a:xfrm>
            <a:off x="445882" y="2880360"/>
            <a:ext cx="891763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37"/>
          <p:cNvSpPr txBox="1"/>
          <p:nvPr/>
        </p:nvSpPr>
        <p:spPr>
          <a:xfrm>
            <a:off x="445882" y="2914650"/>
            <a:ext cx="891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T1598</a:t>
            </a:r>
            <a:endParaRPr sz="1300"/>
          </a:p>
        </p:txBody>
      </p:sp>
      <p:sp>
        <p:nvSpPr>
          <p:cNvPr id="574" name="Google Shape;574;p37"/>
          <p:cNvSpPr txBox="1"/>
          <p:nvPr/>
        </p:nvSpPr>
        <p:spPr>
          <a:xfrm>
            <a:off x="1440540" y="2825496"/>
            <a:ext cx="28812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Phishing for Information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575" name="Google Shape;575;p37"/>
          <p:cNvSpPr txBox="1"/>
          <p:nvPr/>
        </p:nvSpPr>
        <p:spPr>
          <a:xfrm>
            <a:off x="1440540" y="3038094"/>
            <a:ext cx="7202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Phone/email artifacts in social engineering from breach data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576" name="Google Shape;576;p37"/>
          <p:cNvSpPr/>
          <p:nvPr/>
        </p:nvSpPr>
        <p:spPr>
          <a:xfrm>
            <a:off x="342986" y="3326130"/>
            <a:ext cx="8458030" cy="48006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37"/>
          <p:cNvSpPr/>
          <p:nvPr/>
        </p:nvSpPr>
        <p:spPr>
          <a:xfrm>
            <a:off x="342986" y="3326130"/>
            <a:ext cx="48018" cy="48006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37"/>
          <p:cNvSpPr/>
          <p:nvPr/>
        </p:nvSpPr>
        <p:spPr>
          <a:xfrm>
            <a:off x="445882" y="3429000"/>
            <a:ext cx="891763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37"/>
          <p:cNvSpPr txBox="1"/>
          <p:nvPr/>
        </p:nvSpPr>
        <p:spPr>
          <a:xfrm>
            <a:off x="445882" y="3463290"/>
            <a:ext cx="891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T1650</a:t>
            </a:r>
            <a:endParaRPr sz="1300"/>
          </a:p>
        </p:txBody>
      </p:sp>
      <p:sp>
        <p:nvSpPr>
          <p:cNvPr id="580" name="Google Shape;580;p37"/>
          <p:cNvSpPr txBox="1"/>
          <p:nvPr/>
        </p:nvSpPr>
        <p:spPr>
          <a:xfrm>
            <a:off x="1440540" y="3374136"/>
            <a:ext cx="28812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Acquire — Prepaid/VoIP Numbers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581" name="Google Shape;581;p37"/>
          <p:cNvSpPr txBox="1"/>
          <p:nvPr/>
        </p:nvSpPr>
        <p:spPr>
          <a:xfrm>
            <a:off x="1440540" y="3586734"/>
            <a:ext cx="7202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phoneinfoga carrier &amp; line-type detection; VoIP flag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582" name="Google Shape;582;p37"/>
          <p:cNvSpPr/>
          <p:nvPr/>
        </p:nvSpPr>
        <p:spPr>
          <a:xfrm>
            <a:off x="342986" y="3874770"/>
            <a:ext cx="8458030" cy="48006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37"/>
          <p:cNvSpPr/>
          <p:nvPr/>
        </p:nvSpPr>
        <p:spPr>
          <a:xfrm>
            <a:off x="342986" y="3874770"/>
            <a:ext cx="48018" cy="48006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4" name="Google Shape;584;p37"/>
          <p:cNvSpPr/>
          <p:nvPr/>
        </p:nvSpPr>
        <p:spPr>
          <a:xfrm>
            <a:off x="445882" y="3977640"/>
            <a:ext cx="891763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37"/>
          <p:cNvSpPr txBox="1"/>
          <p:nvPr/>
        </p:nvSpPr>
        <p:spPr>
          <a:xfrm>
            <a:off x="445882" y="4011930"/>
            <a:ext cx="891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T1566.003</a:t>
            </a:r>
            <a:endParaRPr sz="1300"/>
          </a:p>
        </p:txBody>
      </p:sp>
      <p:sp>
        <p:nvSpPr>
          <p:cNvPr id="586" name="Google Shape;586;p37"/>
          <p:cNvSpPr txBox="1"/>
          <p:nvPr/>
        </p:nvSpPr>
        <p:spPr>
          <a:xfrm>
            <a:off x="1440540" y="3922776"/>
            <a:ext cx="28812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Spearphishing via Service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587" name="Google Shape;587;p37"/>
          <p:cNvSpPr txBox="1"/>
          <p:nvPr/>
        </p:nvSpPr>
        <p:spPr>
          <a:xfrm>
            <a:off x="1440540" y="4135374"/>
            <a:ext cx="7202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Profile image reverse search reveals stolen impersonation photos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588" name="Google Shape;588;p37"/>
          <p:cNvSpPr/>
          <p:nvPr/>
        </p:nvSpPr>
        <p:spPr>
          <a:xfrm>
            <a:off x="342986" y="4423410"/>
            <a:ext cx="8458030" cy="48006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37"/>
          <p:cNvSpPr/>
          <p:nvPr/>
        </p:nvSpPr>
        <p:spPr>
          <a:xfrm>
            <a:off x="342986" y="4423410"/>
            <a:ext cx="48018" cy="48006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37"/>
          <p:cNvSpPr/>
          <p:nvPr/>
        </p:nvSpPr>
        <p:spPr>
          <a:xfrm>
            <a:off x="445882" y="4526280"/>
            <a:ext cx="891763" cy="274320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37"/>
          <p:cNvSpPr txBox="1"/>
          <p:nvPr/>
        </p:nvSpPr>
        <p:spPr>
          <a:xfrm>
            <a:off x="445882" y="4560570"/>
            <a:ext cx="891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T1056.003</a:t>
            </a:r>
            <a:endParaRPr sz="1300"/>
          </a:p>
        </p:txBody>
      </p:sp>
      <p:sp>
        <p:nvSpPr>
          <p:cNvPr id="592" name="Google Shape;592;p37"/>
          <p:cNvSpPr txBox="1"/>
          <p:nvPr/>
        </p:nvSpPr>
        <p:spPr>
          <a:xfrm>
            <a:off x="1440540" y="4471416"/>
            <a:ext cx="28812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 Capture — Web Portal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593" name="Google Shape;593;p37"/>
          <p:cNvSpPr txBox="1"/>
          <p:nvPr/>
        </p:nvSpPr>
        <p:spPr>
          <a:xfrm>
            <a:off x="1440540" y="4684014"/>
            <a:ext cx="7202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Breach data links account credentials to targeted services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594" name="Google Shape;594;p37"/>
          <p:cNvSpPr txBox="1"/>
          <p:nvPr/>
        </p:nvSpPr>
        <p:spPr>
          <a:xfrm>
            <a:off x="8574645" y="4869180"/>
            <a:ext cx="54877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9 / 16</a:t>
            </a:r>
            <a:endParaRPr sz="1100"/>
          </a:p>
        </p:txBody>
      </p:sp>
      <p:pic>
        <p:nvPicPr>
          <p:cNvPr id="595" name="Google Shape;595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38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3 — SECURITY CONTROLS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601" name="Google Shape;601;p38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NIST SP 800-53 Rev. 5 Control Mapping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602" name="Google Shape;602;p38"/>
          <p:cNvSpPr/>
          <p:nvPr/>
        </p:nvSpPr>
        <p:spPr>
          <a:xfrm>
            <a:off x="342986" y="994410"/>
            <a:ext cx="8458030" cy="2057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38"/>
          <p:cNvSpPr/>
          <p:nvPr/>
        </p:nvSpPr>
        <p:spPr>
          <a:xfrm>
            <a:off x="342986" y="1131570"/>
            <a:ext cx="48018" cy="397764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604;p38"/>
          <p:cNvSpPr/>
          <p:nvPr/>
        </p:nvSpPr>
        <p:spPr>
          <a:xfrm>
            <a:off x="445882" y="1200150"/>
            <a:ext cx="1131853" cy="233172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" name="Google Shape;605;p38"/>
          <p:cNvSpPr txBox="1"/>
          <p:nvPr/>
        </p:nvSpPr>
        <p:spPr>
          <a:xfrm>
            <a:off x="445882" y="1227582"/>
            <a:ext cx="1131900" cy="192300"/>
          </a:xfrm>
          <a:prstGeom prst="rect">
            <a:avLst/>
          </a:prstGeom>
          <a:solidFill>
            <a:srgbClr val="01809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PREVENTIVE</a:t>
            </a:r>
            <a:endParaRPr sz="1300"/>
          </a:p>
        </p:txBody>
      </p:sp>
      <p:sp>
        <p:nvSpPr>
          <p:cNvPr id="606" name="Google Shape;606;p38"/>
          <p:cNvSpPr/>
          <p:nvPr/>
        </p:nvSpPr>
        <p:spPr>
          <a:xfrm>
            <a:off x="1646332" y="1200150"/>
            <a:ext cx="617374" cy="233172"/>
          </a:xfrm>
          <a:prstGeom prst="rect">
            <a:avLst/>
          </a:prstGeom>
          <a:solidFill>
            <a:srgbClr val="12263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38"/>
          <p:cNvSpPr txBox="1"/>
          <p:nvPr/>
        </p:nvSpPr>
        <p:spPr>
          <a:xfrm>
            <a:off x="1646332" y="1227582"/>
            <a:ext cx="617374" cy="17830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00E5FF"/>
                </a:solidFill>
                <a:latin typeface="Calibri"/>
                <a:ea typeface="Calibri"/>
                <a:cs typeface="Calibri"/>
                <a:sym typeface="Calibri"/>
              </a:rPr>
              <a:t>SI-10</a:t>
            </a:r>
            <a:endParaRPr sz="1100"/>
          </a:p>
        </p:txBody>
      </p:sp>
      <p:sp>
        <p:nvSpPr>
          <p:cNvPr id="608" name="Google Shape;608;p38"/>
          <p:cNvSpPr txBox="1"/>
          <p:nvPr/>
        </p:nvSpPr>
        <p:spPr>
          <a:xfrm>
            <a:off x="2366602" y="1165860"/>
            <a:ext cx="157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Input Validation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609" name="Google Shape;609;p38"/>
          <p:cNvSpPr txBox="1"/>
          <p:nvPr/>
        </p:nvSpPr>
        <p:spPr>
          <a:xfrm>
            <a:off x="2366602" y="1337310"/>
            <a:ext cx="6242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E.164/RFC5321 format checks; subprocess list args only — no shell=True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610" name="Google Shape;610;p38"/>
          <p:cNvSpPr/>
          <p:nvPr/>
        </p:nvSpPr>
        <p:spPr>
          <a:xfrm>
            <a:off x="342986" y="1563623"/>
            <a:ext cx="48018" cy="397764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38"/>
          <p:cNvSpPr/>
          <p:nvPr/>
        </p:nvSpPr>
        <p:spPr>
          <a:xfrm>
            <a:off x="445882" y="1632204"/>
            <a:ext cx="1131853" cy="233172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38"/>
          <p:cNvSpPr txBox="1"/>
          <p:nvPr/>
        </p:nvSpPr>
        <p:spPr>
          <a:xfrm>
            <a:off x="445882" y="1659636"/>
            <a:ext cx="1131900" cy="192300"/>
          </a:xfrm>
          <a:prstGeom prst="rect">
            <a:avLst/>
          </a:prstGeom>
          <a:solidFill>
            <a:srgbClr val="01809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PREVENTIVE</a:t>
            </a:r>
            <a:endParaRPr sz="1300"/>
          </a:p>
        </p:txBody>
      </p:sp>
      <p:sp>
        <p:nvSpPr>
          <p:cNvPr id="613" name="Google Shape;613;p38"/>
          <p:cNvSpPr/>
          <p:nvPr/>
        </p:nvSpPr>
        <p:spPr>
          <a:xfrm>
            <a:off x="1646332" y="1632204"/>
            <a:ext cx="617374" cy="233172"/>
          </a:xfrm>
          <a:prstGeom prst="rect">
            <a:avLst/>
          </a:prstGeom>
          <a:solidFill>
            <a:srgbClr val="12263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38"/>
          <p:cNvSpPr txBox="1"/>
          <p:nvPr/>
        </p:nvSpPr>
        <p:spPr>
          <a:xfrm>
            <a:off x="1646332" y="1659636"/>
            <a:ext cx="617374" cy="17830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00E5FF"/>
                </a:solidFill>
                <a:latin typeface="Calibri"/>
                <a:ea typeface="Calibri"/>
                <a:cs typeface="Calibri"/>
                <a:sym typeface="Calibri"/>
              </a:rPr>
              <a:t>IA-5</a:t>
            </a:r>
            <a:endParaRPr sz="1100"/>
          </a:p>
        </p:txBody>
      </p:sp>
      <p:sp>
        <p:nvSpPr>
          <p:cNvPr id="615" name="Google Shape;615;p38"/>
          <p:cNvSpPr txBox="1"/>
          <p:nvPr/>
        </p:nvSpPr>
        <p:spPr>
          <a:xfrm>
            <a:off x="2366602" y="1597913"/>
            <a:ext cx="157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Secrets Mgmt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616" name="Google Shape;616;p38"/>
          <p:cNvSpPr txBox="1"/>
          <p:nvPr/>
        </p:nvSpPr>
        <p:spPr>
          <a:xfrm>
            <a:off x="2366602" y="1769363"/>
            <a:ext cx="6242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API keys from env vars only; .env excluded from VCS via .gitignore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617" name="Google Shape;617;p38"/>
          <p:cNvSpPr/>
          <p:nvPr/>
        </p:nvSpPr>
        <p:spPr>
          <a:xfrm>
            <a:off x="342986" y="1995678"/>
            <a:ext cx="48018" cy="397764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38"/>
          <p:cNvSpPr/>
          <p:nvPr/>
        </p:nvSpPr>
        <p:spPr>
          <a:xfrm>
            <a:off x="445882" y="2064258"/>
            <a:ext cx="1131853" cy="233172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38"/>
          <p:cNvSpPr txBox="1"/>
          <p:nvPr/>
        </p:nvSpPr>
        <p:spPr>
          <a:xfrm>
            <a:off x="445882" y="2091690"/>
            <a:ext cx="1131900" cy="192300"/>
          </a:xfrm>
          <a:prstGeom prst="rect">
            <a:avLst/>
          </a:prstGeom>
          <a:solidFill>
            <a:srgbClr val="01809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PREVENTIVE</a:t>
            </a:r>
            <a:endParaRPr sz="1300"/>
          </a:p>
        </p:txBody>
      </p:sp>
      <p:sp>
        <p:nvSpPr>
          <p:cNvPr id="620" name="Google Shape;620;p38"/>
          <p:cNvSpPr/>
          <p:nvPr/>
        </p:nvSpPr>
        <p:spPr>
          <a:xfrm>
            <a:off x="1646332" y="2064258"/>
            <a:ext cx="617374" cy="233172"/>
          </a:xfrm>
          <a:prstGeom prst="rect">
            <a:avLst/>
          </a:prstGeom>
          <a:solidFill>
            <a:srgbClr val="12263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38"/>
          <p:cNvSpPr txBox="1"/>
          <p:nvPr/>
        </p:nvSpPr>
        <p:spPr>
          <a:xfrm>
            <a:off x="1646332" y="2091690"/>
            <a:ext cx="617374" cy="17830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00E5FF"/>
                </a:solidFill>
                <a:latin typeface="Calibri"/>
                <a:ea typeface="Calibri"/>
                <a:cs typeface="Calibri"/>
                <a:sym typeface="Calibri"/>
              </a:rPr>
              <a:t>SC-8</a:t>
            </a:r>
            <a:endParaRPr sz="1100"/>
          </a:p>
        </p:txBody>
      </p:sp>
      <p:sp>
        <p:nvSpPr>
          <p:cNvPr id="622" name="Google Shape;622;p38"/>
          <p:cNvSpPr txBox="1"/>
          <p:nvPr/>
        </p:nvSpPr>
        <p:spPr>
          <a:xfrm>
            <a:off x="2366602" y="2029968"/>
            <a:ext cx="157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TLS Enforcement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623" name="Google Shape;623;p38"/>
          <p:cNvSpPr txBox="1"/>
          <p:nvPr/>
        </p:nvSpPr>
        <p:spPr>
          <a:xfrm>
            <a:off x="2366602" y="2201418"/>
            <a:ext cx="6242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httpx verify=True; HTTP-to-HTTPS redirect enforcement; min TLS 1.2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624" name="Google Shape;624;p38"/>
          <p:cNvSpPr/>
          <p:nvPr/>
        </p:nvSpPr>
        <p:spPr>
          <a:xfrm>
            <a:off x="342986" y="2427732"/>
            <a:ext cx="48018" cy="397764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38"/>
          <p:cNvSpPr/>
          <p:nvPr/>
        </p:nvSpPr>
        <p:spPr>
          <a:xfrm>
            <a:off x="445882" y="2496312"/>
            <a:ext cx="1131853" cy="233172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38"/>
          <p:cNvSpPr txBox="1"/>
          <p:nvPr/>
        </p:nvSpPr>
        <p:spPr>
          <a:xfrm>
            <a:off x="445882" y="2523744"/>
            <a:ext cx="1131900" cy="192300"/>
          </a:xfrm>
          <a:prstGeom prst="rect">
            <a:avLst/>
          </a:prstGeom>
          <a:solidFill>
            <a:srgbClr val="01809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DETECTIVE</a:t>
            </a:r>
            <a:endParaRPr sz="1300"/>
          </a:p>
        </p:txBody>
      </p:sp>
      <p:sp>
        <p:nvSpPr>
          <p:cNvPr id="627" name="Google Shape;627;p38"/>
          <p:cNvSpPr/>
          <p:nvPr/>
        </p:nvSpPr>
        <p:spPr>
          <a:xfrm>
            <a:off x="1646332" y="2496312"/>
            <a:ext cx="617374" cy="233172"/>
          </a:xfrm>
          <a:prstGeom prst="rect">
            <a:avLst/>
          </a:prstGeom>
          <a:solidFill>
            <a:srgbClr val="12263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38"/>
          <p:cNvSpPr txBox="1"/>
          <p:nvPr/>
        </p:nvSpPr>
        <p:spPr>
          <a:xfrm>
            <a:off x="1646332" y="2523744"/>
            <a:ext cx="617374" cy="17830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00E5FF"/>
                </a:solidFill>
                <a:latin typeface="Calibri"/>
                <a:ea typeface="Calibri"/>
                <a:cs typeface="Calibri"/>
                <a:sym typeface="Calibri"/>
              </a:rPr>
              <a:t>AU-2</a:t>
            </a:r>
            <a:endParaRPr sz="1100"/>
          </a:p>
        </p:txBody>
      </p:sp>
      <p:sp>
        <p:nvSpPr>
          <p:cNvPr id="629" name="Google Shape;629;p38"/>
          <p:cNvSpPr txBox="1"/>
          <p:nvPr/>
        </p:nvSpPr>
        <p:spPr>
          <a:xfrm>
            <a:off x="2366602" y="2462022"/>
            <a:ext cx="157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Event Logging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630" name="Google Shape;630;p38"/>
          <p:cNvSpPr txBox="1"/>
          <p:nvPr/>
        </p:nvSpPr>
        <p:spPr>
          <a:xfrm>
            <a:off x="2366602" y="2633472"/>
            <a:ext cx="6242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ISO 8601 timestamps; module name; SHA-256 hashed artifact values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631" name="Google Shape;631;p38"/>
          <p:cNvSpPr/>
          <p:nvPr/>
        </p:nvSpPr>
        <p:spPr>
          <a:xfrm>
            <a:off x="342986" y="2859786"/>
            <a:ext cx="48018" cy="397764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38"/>
          <p:cNvSpPr/>
          <p:nvPr/>
        </p:nvSpPr>
        <p:spPr>
          <a:xfrm>
            <a:off x="445882" y="2928365"/>
            <a:ext cx="1131853" cy="233172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38"/>
          <p:cNvSpPr txBox="1"/>
          <p:nvPr/>
        </p:nvSpPr>
        <p:spPr>
          <a:xfrm>
            <a:off x="445882" y="2955797"/>
            <a:ext cx="1131900" cy="192300"/>
          </a:xfrm>
          <a:prstGeom prst="rect">
            <a:avLst/>
          </a:prstGeom>
          <a:solidFill>
            <a:srgbClr val="01809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DETECTIVE</a:t>
            </a:r>
            <a:endParaRPr sz="1300"/>
          </a:p>
        </p:txBody>
      </p:sp>
      <p:sp>
        <p:nvSpPr>
          <p:cNvPr id="634" name="Google Shape;634;p38"/>
          <p:cNvSpPr/>
          <p:nvPr/>
        </p:nvSpPr>
        <p:spPr>
          <a:xfrm>
            <a:off x="1646332" y="2928365"/>
            <a:ext cx="617374" cy="233172"/>
          </a:xfrm>
          <a:prstGeom prst="rect">
            <a:avLst/>
          </a:prstGeom>
          <a:solidFill>
            <a:srgbClr val="12263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38"/>
          <p:cNvSpPr txBox="1"/>
          <p:nvPr/>
        </p:nvSpPr>
        <p:spPr>
          <a:xfrm>
            <a:off x="1646332" y="2955797"/>
            <a:ext cx="617374" cy="17830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00E5FF"/>
                </a:solidFill>
                <a:latin typeface="Calibri"/>
                <a:ea typeface="Calibri"/>
                <a:cs typeface="Calibri"/>
                <a:sym typeface="Calibri"/>
              </a:rPr>
              <a:t>AU-3</a:t>
            </a:r>
            <a:endParaRPr sz="1100"/>
          </a:p>
        </p:txBody>
      </p:sp>
      <p:sp>
        <p:nvSpPr>
          <p:cNvPr id="636" name="Google Shape;636;p38"/>
          <p:cNvSpPr txBox="1"/>
          <p:nvPr/>
        </p:nvSpPr>
        <p:spPr>
          <a:xfrm>
            <a:off x="2366602" y="2894076"/>
            <a:ext cx="157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Evidence Provenance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637" name="Google Shape;637;p38"/>
          <p:cNvSpPr txBox="1"/>
          <p:nvPr/>
        </p:nvSpPr>
        <p:spPr>
          <a:xfrm>
            <a:off x="2366602" y="3065526"/>
            <a:ext cx="6242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source_module + raw_evidence_ref + discovered_at per artifact row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638" name="Google Shape;638;p38"/>
          <p:cNvSpPr/>
          <p:nvPr/>
        </p:nvSpPr>
        <p:spPr>
          <a:xfrm>
            <a:off x="342986" y="3291840"/>
            <a:ext cx="48018" cy="397764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" name="Google Shape;639;p38"/>
          <p:cNvSpPr/>
          <p:nvPr/>
        </p:nvSpPr>
        <p:spPr>
          <a:xfrm>
            <a:off x="445882" y="3360419"/>
            <a:ext cx="1131853" cy="233172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38"/>
          <p:cNvSpPr txBox="1"/>
          <p:nvPr/>
        </p:nvSpPr>
        <p:spPr>
          <a:xfrm>
            <a:off x="445882" y="3387852"/>
            <a:ext cx="1131900" cy="192300"/>
          </a:xfrm>
          <a:prstGeom prst="rect">
            <a:avLst/>
          </a:prstGeom>
          <a:solidFill>
            <a:srgbClr val="01809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DETECTIVE</a:t>
            </a:r>
            <a:endParaRPr sz="1300"/>
          </a:p>
        </p:txBody>
      </p:sp>
      <p:sp>
        <p:nvSpPr>
          <p:cNvPr id="641" name="Google Shape;641;p38"/>
          <p:cNvSpPr/>
          <p:nvPr/>
        </p:nvSpPr>
        <p:spPr>
          <a:xfrm>
            <a:off x="1646332" y="3360419"/>
            <a:ext cx="617374" cy="233172"/>
          </a:xfrm>
          <a:prstGeom prst="rect">
            <a:avLst/>
          </a:prstGeom>
          <a:solidFill>
            <a:srgbClr val="12263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38"/>
          <p:cNvSpPr txBox="1"/>
          <p:nvPr/>
        </p:nvSpPr>
        <p:spPr>
          <a:xfrm>
            <a:off x="1646332" y="3387852"/>
            <a:ext cx="617374" cy="17830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00E5FF"/>
                </a:solidFill>
                <a:latin typeface="Calibri"/>
                <a:ea typeface="Calibri"/>
                <a:cs typeface="Calibri"/>
                <a:sym typeface="Calibri"/>
              </a:rPr>
              <a:t>SI-7</a:t>
            </a:r>
            <a:endParaRPr sz="1100"/>
          </a:p>
        </p:txBody>
      </p:sp>
      <p:sp>
        <p:nvSpPr>
          <p:cNvPr id="643" name="Google Shape;643;p38"/>
          <p:cNvSpPr txBox="1"/>
          <p:nvPr/>
        </p:nvSpPr>
        <p:spPr>
          <a:xfrm>
            <a:off x="2366602" y="3326130"/>
            <a:ext cx="157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 Integrity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644" name="Google Shape;644;p38"/>
          <p:cNvSpPr txBox="1"/>
          <p:nvPr/>
        </p:nvSpPr>
        <p:spPr>
          <a:xfrm>
            <a:off x="2366602" y="3497580"/>
            <a:ext cx="6242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SHA-256 hash of SQLite DB computed on close; verified on report gen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645" name="Google Shape;645;p38"/>
          <p:cNvSpPr/>
          <p:nvPr/>
        </p:nvSpPr>
        <p:spPr>
          <a:xfrm>
            <a:off x="342986" y="3723894"/>
            <a:ext cx="48018" cy="397764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38"/>
          <p:cNvSpPr/>
          <p:nvPr/>
        </p:nvSpPr>
        <p:spPr>
          <a:xfrm>
            <a:off x="445882" y="3792473"/>
            <a:ext cx="1131853" cy="233172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38"/>
          <p:cNvSpPr txBox="1"/>
          <p:nvPr/>
        </p:nvSpPr>
        <p:spPr>
          <a:xfrm>
            <a:off x="445882" y="3819905"/>
            <a:ext cx="1131900" cy="192300"/>
          </a:xfrm>
          <a:prstGeom prst="rect">
            <a:avLst/>
          </a:prstGeom>
          <a:solidFill>
            <a:srgbClr val="01809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RESPONSIVE</a:t>
            </a:r>
            <a:endParaRPr sz="1300"/>
          </a:p>
        </p:txBody>
      </p:sp>
      <p:sp>
        <p:nvSpPr>
          <p:cNvPr id="648" name="Google Shape;648;p38"/>
          <p:cNvSpPr/>
          <p:nvPr/>
        </p:nvSpPr>
        <p:spPr>
          <a:xfrm>
            <a:off x="1646332" y="3792473"/>
            <a:ext cx="617374" cy="233172"/>
          </a:xfrm>
          <a:prstGeom prst="rect">
            <a:avLst/>
          </a:prstGeom>
          <a:solidFill>
            <a:srgbClr val="12263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38"/>
          <p:cNvSpPr txBox="1"/>
          <p:nvPr/>
        </p:nvSpPr>
        <p:spPr>
          <a:xfrm>
            <a:off x="1646332" y="3819905"/>
            <a:ext cx="617374" cy="17830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00E5FF"/>
                </a:solidFill>
                <a:latin typeface="Calibri"/>
                <a:ea typeface="Calibri"/>
                <a:cs typeface="Calibri"/>
                <a:sym typeface="Calibri"/>
              </a:rPr>
              <a:t>SC-5</a:t>
            </a:r>
            <a:endParaRPr sz="1100"/>
          </a:p>
        </p:txBody>
      </p:sp>
      <p:sp>
        <p:nvSpPr>
          <p:cNvPr id="650" name="Google Shape;650;p38"/>
          <p:cNvSpPr txBox="1"/>
          <p:nvPr/>
        </p:nvSpPr>
        <p:spPr>
          <a:xfrm>
            <a:off x="2366602" y="3758184"/>
            <a:ext cx="157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Rate Limit Backoff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651" name="Google Shape;651;p38"/>
          <p:cNvSpPr txBox="1"/>
          <p:nvPr/>
        </p:nvSpPr>
        <p:spPr>
          <a:xfrm>
            <a:off x="2366602" y="3929634"/>
            <a:ext cx="6242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Exp. backoff with jitter on HTTP 429; max 3 retries per endpoint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652" name="Google Shape;652;p38"/>
          <p:cNvSpPr/>
          <p:nvPr/>
        </p:nvSpPr>
        <p:spPr>
          <a:xfrm>
            <a:off x="342986" y="4155948"/>
            <a:ext cx="48018" cy="397764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38"/>
          <p:cNvSpPr/>
          <p:nvPr/>
        </p:nvSpPr>
        <p:spPr>
          <a:xfrm>
            <a:off x="445882" y="4224528"/>
            <a:ext cx="1131853" cy="233172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" name="Google Shape;654;p38"/>
          <p:cNvSpPr txBox="1"/>
          <p:nvPr/>
        </p:nvSpPr>
        <p:spPr>
          <a:xfrm>
            <a:off x="445882" y="4251960"/>
            <a:ext cx="1131900" cy="192300"/>
          </a:xfrm>
          <a:prstGeom prst="rect">
            <a:avLst/>
          </a:prstGeom>
          <a:solidFill>
            <a:srgbClr val="01809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RESPONSIVE</a:t>
            </a:r>
            <a:endParaRPr sz="1300"/>
          </a:p>
        </p:txBody>
      </p:sp>
      <p:sp>
        <p:nvSpPr>
          <p:cNvPr id="655" name="Google Shape;655;p38"/>
          <p:cNvSpPr/>
          <p:nvPr/>
        </p:nvSpPr>
        <p:spPr>
          <a:xfrm>
            <a:off x="1646332" y="4224528"/>
            <a:ext cx="617374" cy="233172"/>
          </a:xfrm>
          <a:prstGeom prst="rect">
            <a:avLst/>
          </a:prstGeom>
          <a:solidFill>
            <a:srgbClr val="12263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38"/>
          <p:cNvSpPr txBox="1"/>
          <p:nvPr/>
        </p:nvSpPr>
        <p:spPr>
          <a:xfrm>
            <a:off x="1646332" y="4251960"/>
            <a:ext cx="617374" cy="178308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rgbClr val="00E5FF"/>
                </a:solidFill>
                <a:latin typeface="Calibri"/>
                <a:ea typeface="Calibri"/>
                <a:cs typeface="Calibri"/>
                <a:sym typeface="Calibri"/>
              </a:rPr>
              <a:t>IR-4</a:t>
            </a:r>
            <a:endParaRPr sz="1100"/>
          </a:p>
        </p:txBody>
      </p:sp>
      <p:sp>
        <p:nvSpPr>
          <p:cNvPr id="657" name="Google Shape;657;p38"/>
          <p:cNvSpPr txBox="1"/>
          <p:nvPr/>
        </p:nvSpPr>
        <p:spPr>
          <a:xfrm>
            <a:off x="2366602" y="4190238"/>
            <a:ext cx="157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Evidence Packaging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658" name="Google Shape;658;p38"/>
          <p:cNvSpPr txBox="1"/>
          <p:nvPr/>
        </p:nvSpPr>
        <p:spPr>
          <a:xfrm>
            <a:off x="2366602" y="4361688"/>
            <a:ext cx="6242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Signed timestamped ZIP: SQLite DB + raw evidence + report on close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659" name="Google Shape;659;p38"/>
          <p:cNvSpPr txBox="1"/>
          <p:nvPr/>
        </p:nvSpPr>
        <p:spPr>
          <a:xfrm>
            <a:off x="8574645" y="4869180"/>
            <a:ext cx="54877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10 / 16</a:t>
            </a:r>
            <a:endParaRPr sz="1100"/>
          </a:p>
        </p:txBody>
      </p:sp>
      <p:pic>
        <p:nvPicPr>
          <p:cNvPr id="660" name="Google Shape;660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39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4 — IMPLEMENTATION BLUEPRINT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666" name="Google Shape;666;p39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Delivery Milestones — 4-Week Roadmap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667" name="Google Shape;667;p39"/>
          <p:cNvSpPr/>
          <p:nvPr/>
        </p:nvSpPr>
        <p:spPr>
          <a:xfrm>
            <a:off x="342986" y="994410"/>
            <a:ext cx="8458030" cy="2057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39"/>
          <p:cNvSpPr/>
          <p:nvPr/>
        </p:nvSpPr>
        <p:spPr>
          <a:xfrm>
            <a:off x="342986" y="1131570"/>
            <a:ext cx="48018" cy="658368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39"/>
          <p:cNvSpPr/>
          <p:nvPr/>
        </p:nvSpPr>
        <p:spPr>
          <a:xfrm>
            <a:off x="445882" y="1268729"/>
            <a:ext cx="891763" cy="342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" name="Google Shape;670;p39"/>
          <p:cNvSpPr txBox="1"/>
          <p:nvPr/>
        </p:nvSpPr>
        <p:spPr>
          <a:xfrm>
            <a:off x="445882" y="1316736"/>
            <a:ext cx="891900" cy="238500"/>
          </a:xfrm>
          <a:prstGeom prst="rect">
            <a:avLst/>
          </a:prstGeom>
          <a:solidFill>
            <a:srgbClr val="01809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1</a:t>
            </a:r>
            <a:endParaRPr/>
          </a:p>
        </p:txBody>
      </p:sp>
      <p:sp>
        <p:nvSpPr>
          <p:cNvPr id="671" name="Google Shape;671;p39"/>
          <p:cNvSpPr txBox="1"/>
          <p:nvPr/>
        </p:nvSpPr>
        <p:spPr>
          <a:xfrm>
            <a:off x="1440540" y="1200150"/>
            <a:ext cx="686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Wk 1–2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672" name="Google Shape;672;p39"/>
          <p:cNvSpPr txBox="1"/>
          <p:nvPr/>
        </p:nvSpPr>
        <p:spPr>
          <a:xfrm>
            <a:off x="1440540" y="1313630"/>
            <a:ext cx="2743800" cy="4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Design &amp;</a:t>
            </a:r>
            <a:endParaRPr b="1"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Core Infrastructure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673" name="Google Shape;673;p39"/>
          <p:cNvSpPr txBox="1"/>
          <p:nvPr/>
        </p:nvSpPr>
        <p:spPr>
          <a:xfrm>
            <a:off x="3136276" y="1337300"/>
            <a:ext cx="5506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SQLite schema · BFS orchestrator · CLI entry point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674" name="Google Shape;674;p39"/>
          <p:cNvSpPr/>
          <p:nvPr/>
        </p:nvSpPr>
        <p:spPr>
          <a:xfrm>
            <a:off x="342986" y="1872234"/>
            <a:ext cx="48018" cy="658368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39"/>
          <p:cNvSpPr/>
          <p:nvPr/>
        </p:nvSpPr>
        <p:spPr>
          <a:xfrm>
            <a:off x="445882" y="2009394"/>
            <a:ext cx="891763" cy="342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39"/>
          <p:cNvSpPr txBox="1"/>
          <p:nvPr/>
        </p:nvSpPr>
        <p:spPr>
          <a:xfrm>
            <a:off x="445882" y="2057400"/>
            <a:ext cx="891900" cy="238500"/>
          </a:xfrm>
          <a:prstGeom prst="rect">
            <a:avLst/>
          </a:prstGeom>
          <a:solidFill>
            <a:srgbClr val="01809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2</a:t>
            </a:r>
            <a:endParaRPr/>
          </a:p>
        </p:txBody>
      </p:sp>
      <p:sp>
        <p:nvSpPr>
          <p:cNvPr id="677" name="Google Shape;677;p39"/>
          <p:cNvSpPr txBox="1"/>
          <p:nvPr/>
        </p:nvSpPr>
        <p:spPr>
          <a:xfrm>
            <a:off x="1440540" y="1940814"/>
            <a:ext cx="686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Wk 1–</a:t>
            </a:r>
            <a:r>
              <a:rPr b="1"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678" name="Google Shape;678;p39"/>
          <p:cNvSpPr txBox="1"/>
          <p:nvPr/>
        </p:nvSpPr>
        <p:spPr>
          <a:xfrm>
            <a:off x="1440540" y="2125980"/>
            <a:ext cx="27438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Collection Modules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679" name="Google Shape;679;p39"/>
          <p:cNvSpPr txBox="1"/>
          <p:nvPr/>
        </p:nvSpPr>
        <p:spPr>
          <a:xfrm>
            <a:off x="3136276" y="2077968"/>
            <a:ext cx="5506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Phone · Email · Username · Image · Breach modules + unit tests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680" name="Google Shape;680;p39"/>
          <p:cNvSpPr/>
          <p:nvPr/>
        </p:nvSpPr>
        <p:spPr>
          <a:xfrm>
            <a:off x="342986" y="2612898"/>
            <a:ext cx="48018" cy="658368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39"/>
          <p:cNvSpPr/>
          <p:nvPr/>
        </p:nvSpPr>
        <p:spPr>
          <a:xfrm>
            <a:off x="445882" y="2750058"/>
            <a:ext cx="891763" cy="342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39"/>
          <p:cNvSpPr txBox="1"/>
          <p:nvPr/>
        </p:nvSpPr>
        <p:spPr>
          <a:xfrm>
            <a:off x="445882" y="2798064"/>
            <a:ext cx="891900" cy="238500"/>
          </a:xfrm>
          <a:prstGeom prst="rect">
            <a:avLst/>
          </a:prstGeom>
          <a:solidFill>
            <a:srgbClr val="01809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3</a:t>
            </a:r>
            <a:endParaRPr/>
          </a:p>
        </p:txBody>
      </p:sp>
      <p:sp>
        <p:nvSpPr>
          <p:cNvPr id="683" name="Google Shape;683;p39"/>
          <p:cNvSpPr txBox="1"/>
          <p:nvPr/>
        </p:nvSpPr>
        <p:spPr>
          <a:xfrm>
            <a:off x="1440540" y="2681478"/>
            <a:ext cx="686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Wk </a:t>
            </a:r>
            <a:r>
              <a:rPr b="1"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b="1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b="1"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684" name="Google Shape;684;p39"/>
          <p:cNvSpPr txBox="1"/>
          <p:nvPr/>
        </p:nvSpPr>
        <p:spPr>
          <a:xfrm>
            <a:off x="1440540" y="2866643"/>
            <a:ext cx="27438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Correlation Engine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685" name="Google Shape;685;p39"/>
          <p:cNvSpPr txBox="1"/>
          <p:nvPr/>
        </p:nvSpPr>
        <p:spPr>
          <a:xfrm>
            <a:off x="3136276" y="2818637"/>
            <a:ext cx="5506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NetworkX graph · Connected components · Confidence scorer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686" name="Google Shape;686;p39"/>
          <p:cNvSpPr/>
          <p:nvPr/>
        </p:nvSpPr>
        <p:spPr>
          <a:xfrm>
            <a:off x="342986" y="3353562"/>
            <a:ext cx="48018" cy="658368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39"/>
          <p:cNvSpPr/>
          <p:nvPr/>
        </p:nvSpPr>
        <p:spPr>
          <a:xfrm>
            <a:off x="445882" y="3490722"/>
            <a:ext cx="891763" cy="342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39"/>
          <p:cNvSpPr txBox="1"/>
          <p:nvPr/>
        </p:nvSpPr>
        <p:spPr>
          <a:xfrm>
            <a:off x="445882" y="3538728"/>
            <a:ext cx="891900" cy="238500"/>
          </a:xfrm>
          <a:prstGeom prst="rect">
            <a:avLst/>
          </a:prstGeom>
          <a:solidFill>
            <a:srgbClr val="01809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4</a:t>
            </a:r>
            <a:endParaRPr/>
          </a:p>
        </p:txBody>
      </p:sp>
      <p:sp>
        <p:nvSpPr>
          <p:cNvPr id="689" name="Google Shape;689;p39"/>
          <p:cNvSpPr txBox="1"/>
          <p:nvPr/>
        </p:nvSpPr>
        <p:spPr>
          <a:xfrm>
            <a:off x="1440540" y="3422142"/>
            <a:ext cx="686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Wk </a:t>
            </a:r>
            <a:r>
              <a:rPr b="1"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b="1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b="1"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690" name="Google Shape;690;p39"/>
          <p:cNvSpPr txBox="1"/>
          <p:nvPr/>
        </p:nvSpPr>
        <p:spPr>
          <a:xfrm>
            <a:off x="1440540" y="3607308"/>
            <a:ext cx="27438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Reporting &amp; STIX Export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691" name="Google Shape;691;p39"/>
          <p:cNvSpPr txBox="1"/>
          <p:nvPr/>
        </p:nvSpPr>
        <p:spPr>
          <a:xfrm>
            <a:off x="3136276" y="3559305"/>
            <a:ext cx="5506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Jinja2 HTML · WeasyPrint PDF · python-stix2 CTI bundle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692" name="Google Shape;692;p39"/>
          <p:cNvSpPr/>
          <p:nvPr/>
        </p:nvSpPr>
        <p:spPr>
          <a:xfrm>
            <a:off x="342986" y="4094226"/>
            <a:ext cx="48018" cy="658368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39"/>
          <p:cNvSpPr/>
          <p:nvPr/>
        </p:nvSpPr>
        <p:spPr>
          <a:xfrm>
            <a:off x="445882" y="4231386"/>
            <a:ext cx="891763" cy="342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39"/>
          <p:cNvSpPr txBox="1"/>
          <p:nvPr/>
        </p:nvSpPr>
        <p:spPr>
          <a:xfrm>
            <a:off x="445882" y="4279392"/>
            <a:ext cx="891900" cy="238500"/>
          </a:xfrm>
          <a:prstGeom prst="rect">
            <a:avLst/>
          </a:prstGeom>
          <a:solidFill>
            <a:srgbClr val="018090"/>
          </a:solidFill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Phase 5</a:t>
            </a:r>
            <a:endParaRPr/>
          </a:p>
        </p:txBody>
      </p:sp>
      <p:sp>
        <p:nvSpPr>
          <p:cNvPr id="695" name="Google Shape;695;p39"/>
          <p:cNvSpPr txBox="1"/>
          <p:nvPr/>
        </p:nvSpPr>
        <p:spPr>
          <a:xfrm>
            <a:off x="1440540" y="4162806"/>
            <a:ext cx="6861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Wk </a:t>
            </a:r>
            <a:r>
              <a:rPr b="1"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r>
              <a:rPr b="1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–</a:t>
            </a:r>
            <a:r>
              <a:rPr b="1" lang="en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696" name="Google Shape;696;p39"/>
          <p:cNvSpPr txBox="1"/>
          <p:nvPr/>
        </p:nvSpPr>
        <p:spPr>
          <a:xfrm>
            <a:off x="1440540" y="4347972"/>
            <a:ext cx="27438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Integration &amp; Hardening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697" name="Google Shape;697;p39"/>
          <p:cNvSpPr txBox="1"/>
          <p:nvPr/>
        </p:nvSpPr>
        <p:spPr>
          <a:xfrm>
            <a:off x="3136276" y="4299974"/>
            <a:ext cx="5506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End-to-end tests · Injection hardening · Rate-limit compliance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698" name="Google Shape;698;p39"/>
          <p:cNvSpPr txBox="1"/>
          <p:nvPr/>
        </p:nvSpPr>
        <p:spPr>
          <a:xfrm>
            <a:off x="8574645" y="4869180"/>
            <a:ext cx="54877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11 / 16</a:t>
            </a:r>
            <a:endParaRPr sz="1100"/>
          </a:p>
        </p:txBody>
      </p:sp>
      <p:pic>
        <p:nvPicPr>
          <p:cNvPr id="699" name="Google Shape;699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3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p40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4 — PHASE 1: STORAGE LAYER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705" name="Google Shape;705;p40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SQLite Investigation Schema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706" name="Google Shape;706;p40"/>
          <p:cNvSpPr/>
          <p:nvPr/>
        </p:nvSpPr>
        <p:spPr>
          <a:xfrm>
            <a:off x="342986" y="994410"/>
            <a:ext cx="8458030" cy="2057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40"/>
          <p:cNvSpPr/>
          <p:nvPr/>
        </p:nvSpPr>
        <p:spPr>
          <a:xfrm>
            <a:off x="342986" y="1131570"/>
            <a:ext cx="4047232" cy="233172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" name="Google Shape;708;p40"/>
          <p:cNvSpPr txBox="1"/>
          <p:nvPr/>
        </p:nvSpPr>
        <p:spPr>
          <a:xfrm>
            <a:off x="445882" y="1114198"/>
            <a:ext cx="39099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investigations</a:t>
            </a:r>
            <a:endParaRPr sz="1300"/>
          </a:p>
        </p:txBody>
      </p:sp>
      <p:sp>
        <p:nvSpPr>
          <p:cNvPr id="709" name="Google Shape;709;p40"/>
          <p:cNvSpPr txBox="1"/>
          <p:nvPr/>
        </p:nvSpPr>
        <p:spPr>
          <a:xfrm>
            <a:off x="480180" y="1405889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investigation_id  TEXT  PK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10" name="Google Shape;710;p40"/>
          <p:cNvSpPr txBox="1"/>
          <p:nvPr/>
        </p:nvSpPr>
        <p:spPr>
          <a:xfrm>
            <a:off x="480180" y="1628775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title  TEXT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11" name="Google Shape;711;p40"/>
          <p:cNvSpPr txBox="1"/>
          <p:nvPr/>
        </p:nvSpPr>
        <p:spPr>
          <a:xfrm>
            <a:off x="480180" y="1851659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status  TEXT  CHECK(...)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12" name="Google Shape;712;p40"/>
          <p:cNvSpPr txBox="1"/>
          <p:nvPr/>
        </p:nvSpPr>
        <p:spPr>
          <a:xfrm>
            <a:off x="480180" y="2074545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created_at  DATETIME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13" name="Google Shape;713;p40"/>
          <p:cNvSpPr txBox="1"/>
          <p:nvPr/>
        </p:nvSpPr>
        <p:spPr>
          <a:xfrm>
            <a:off x="480180" y="2297429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completed_at  DATETIME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14" name="Google Shape;714;p40"/>
          <p:cNvSpPr txBox="1"/>
          <p:nvPr/>
        </p:nvSpPr>
        <p:spPr>
          <a:xfrm>
            <a:off x="480180" y="2520315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db_sha256  TEXT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15" name="Google Shape;715;p40"/>
          <p:cNvSpPr/>
          <p:nvPr/>
        </p:nvSpPr>
        <p:spPr>
          <a:xfrm>
            <a:off x="4822380" y="1131570"/>
            <a:ext cx="4047232" cy="233172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40"/>
          <p:cNvSpPr txBox="1"/>
          <p:nvPr/>
        </p:nvSpPr>
        <p:spPr>
          <a:xfrm>
            <a:off x="4925276" y="1114198"/>
            <a:ext cx="39099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artifacts</a:t>
            </a:r>
            <a:endParaRPr sz="1300"/>
          </a:p>
        </p:txBody>
      </p:sp>
      <p:sp>
        <p:nvSpPr>
          <p:cNvPr id="717" name="Google Shape;717;p40"/>
          <p:cNvSpPr txBox="1"/>
          <p:nvPr/>
        </p:nvSpPr>
        <p:spPr>
          <a:xfrm>
            <a:off x="4959575" y="1405889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artifact_id  TEXT  PK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18" name="Google Shape;718;p40"/>
          <p:cNvSpPr txBox="1"/>
          <p:nvPr/>
        </p:nvSpPr>
        <p:spPr>
          <a:xfrm>
            <a:off x="4959575" y="1596934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investigation_id  TEXT  FK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19" name="Google Shape;719;p40"/>
          <p:cNvSpPr txBox="1"/>
          <p:nvPr/>
        </p:nvSpPr>
        <p:spPr>
          <a:xfrm>
            <a:off x="4959575" y="1787978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artifact_type  TEXT  CHECK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20" name="Google Shape;720;p40"/>
          <p:cNvSpPr txBox="1"/>
          <p:nvPr/>
        </p:nvSpPr>
        <p:spPr>
          <a:xfrm>
            <a:off x="4959575" y="1979023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value  TEXT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21" name="Google Shape;721;p40"/>
          <p:cNvSpPr txBox="1"/>
          <p:nvPr/>
        </p:nvSpPr>
        <p:spPr>
          <a:xfrm>
            <a:off x="4959575" y="2170067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source_module  TEXT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22" name="Google Shape;722;p40"/>
          <p:cNvSpPr txBox="1"/>
          <p:nvPr/>
        </p:nvSpPr>
        <p:spPr>
          <a:xfrm>
            <a:off x="4959575" y="2361111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confidence  REAL  CHECK(0-1)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23" name="Google Shape;723;p40"/>
          <p:cNvSpPr txBox="1"/>
          <p:nvPr/>
        </p:nvSpPr>
        <p:spPr>
          <a:xfrm>
            <a:off x="4959575" y="2552156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raw_evidence_ref  TEXT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24" name="Google Shape;724;p40"/>
          <p:cNvSpPr/>
          <p:nvPr/>
        </p:nvSpPr>
        <p:spPr>
          <a:xfrm>
            <a:off x="342986" y="2811779"/>
            <a:ext cx="4047232" cy="233172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40"/>
          <p:cNvSpPr txBox="1"/>
          <p:nvPr/>
        </p:nvSpPr>
        <p:spPr>
          <a:xfrm>
            <a:off x="445882" y="2794407"/>
            <a:ext cx="39099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artifact_links</a:t>
            </a:r>
            <a:endParaRPr sz="1300"/>
          </a:p>
        </p:txBody>
      </p:sp>
      <p:sp>
        <p:nvSpPr>
          <p:cNvPr id="726" name="Google Shape;726;p40"/>
          <p:cNvSpPr txBox="1"/>
          <p:nvPr/>
        </p:nvSpPr>
        <p:spPr>
          <a:xfrm>
            <a:off x="480180" y="3086100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link_id  TEXT  PK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27" name="Google Shape;727;p40"/>
          <p:cNvSpPr txBox="1"/>
          <p:nvPr/>
        </p:nvSpPr>
        <p:spPr>
          <a:xfrm>
            <a:off x="480180" y="3366135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source_artifact  TEXT  FK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28" name="Google Shape;728;p40"/>
          <p:cNvSpPr txBox="1"/>
          <p:nvPr/>
        </p:nvSpPr>
        <p:spPr>
          <a:xfrm>
            <a:off x="480180" y="3646170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target_artifact  TEXT  FK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29" name="Google Shape;729;p40"/>
          <p:cNvSpPr txBox="1"/>
          <p:nvPr/>
        </p:nvSpPr>
        <p:spPr>
          <a:xfrm>
            <a:off x="480180" y="3926205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link_type  TEXT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30" name="Google Shape;730;p40"/>
          <p:cNvSpPr txBox="1"/>
          <p:nvPr/>
        </p:nvSpPr>
        <p:spPr>
          <a:xfrm>
            <a:off x="480180" y="4206240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confidence  REAL  CHECK(0-1)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31" name="Google Shape;731;p40"/>
          <p:cNvSpPr txBox="1"/>
          <p:nvPr/>
        </p:nvSpPr>
        <p:spPr>
          <a:xfrm>
            <a:off x="480180" y="4486275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evidence  TEXT (JSON)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32" name="Google Shape;732;p40"/>
          <p:cNvSpPr/>
          <p:nvPr/>
        </p:nvSpPr>
        <p:spPr>
          <a:xfrm>
            <a:off x="4822380" y="2811779"/>
            <a:ext cx="4047232" cy="233172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40"/>
          <p:cNvSpPr txBox="1"/>
          <p:nvPr/>
        </p:nvSpPr>
        <p:spPr>
          <a:xfrm>
            <a:off x="4925276" y="2794407"/>
            <a:ext cx="3909900" cy="238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platform_presence</a:t>
            </a:r>
            <a:endParaRPr sz="1300"/>
          </a:p>
        </p:txBody>
      </p:sp>
      <p:sp>
        <p:nvSpPr>
          <p:cNvPr id="734" name="Google Shape;734;p40"/>
          <p:cNvSpPr txBox="1"/>
          <p:nvPr/>
        </p:nvSpPr>
        <p:spPr>
          <a:xfrm>
            <a:off x="4959575" y="3086100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presence_id  TEXT  PK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35" name="Google Shape;735;p40"/>
          <p:cNvSpPr txBox="1"/>
          <p:nvPr/>
        </p:nvSpPr>
        <p:spPr>
          <a:xfrm>
            <a:off x="4959575" y="3366135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platform_name  TEXT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36" name="Google Shape;736;p40"/>
          <p:cNvSpPr txBox="1"/>
          <p:nvPr/>
        </p:nvSpPr>
        <p:spPr>
          <a:xfrm>
            <a:off x="4959575" y="3646170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profile_url  TEXT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37" name="Google Shape;737;p40"/>
          <p:cNvSpPr txBox="1"/>
          <p:nvPr/>
        </p:nvSpPr>
        <p:spPr>
          <a:xfrm>
            <a:off x="4959575" y="3926205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username  TEXT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38" name="Google Shape;738;p40"/>
          <p:cNvSpPr txBox="1"/>
          <p:nvPr/>
        </p:nvSpPr>
        <p:spPr>
          <a:xfrm>
            <a:off x="4959575" y="4206240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is_verified  BOOLEAN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39" name="Google Shape;739;p40"/>
          <p:cNvSpPr txBox="1"/>
          <p:nvPr/>
        </p:nvSpPr>
        <p:spPr>
          <a:xfrm>
            <a:off x="4959575" y="4486275"/>
            <a:ext cx="38415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raw_evidence_ref  TEXT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40" name="Google Shape;740;p40"/>
          <p:cNvSpPr txBox="1"/>
          <p:nvPr/>
        </p:nvSpPr>
        <p:spPr>
          <a:xfrm>
            <a:off x="342986" y="4821173"/>
            <a:ext cx="8458030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PK = Primary Key   FK = Foreign Key   CHECK = DB Constraint</a:t>
            </a:r>
            <a:endParaRPr sz="1100"/>
          </a:p>
        </p:txBody>
      </p:sp>
      <p:sp>
        <p:nvSpPr>
          <p:cNvPr id="741" name="Google Shape;741;p40"/>
          <p:cNvSpPr txBox="1"/>
          <p:nvPr/>
        </p:nvSpPr>
        <p:spPr>
          <a:xfrm>
            <a:off x="8574645" y="4869180"/>
            <a:ext cx="54877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12 / 16</a:t>
            </a:r>
            <a:endParaRPr sz="1100"/>
          </a:p>
        </p:txBody>
      </p:sp>
      <p:pic>
        <p:nvPicPr>
          <p:cNvPr id="742" name="Google Shape;742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6" name="Shape 7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Google Shape;747;p41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4 — PHASE 3: CORRELATION ENGINE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748" name="Google Shape;748;p41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Identity Graph &amp; Confidence Scoring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749" name="Google Shape;749;p41"/>
          <p:cNvSpPr/>
          <p:nvPr/>
        </p:nvSpPr>
        <p:spPr>
          <a:xfrm>
            <a:off x="342986" y="994410"/>
            <a:ext cx="8458030" cy="2057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41"/>
          <p:cNvSpPr/>
          <p:nvPr/>
        </p:nvSpPr>
        <p:spPr>
          <a:xfrm>
            <a:off x="342986" y="1131570"/>
            <a:ext cx="48018" cy="3771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41"/>
          <p:cNvSpPr txBox="1"/>
          <p:nvPr/>
        </p:nvSpPr>
        <p:spPr>
          <a:xfrm>
            <a:off x="493900" y="1200150"/>
            <a:ext cx="3841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IDENTITY GRAPH (NetworkX DiGraph)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52" name="Google Shape;752;p41"/>
          <p:cNvSpPr txBox="1"/>
          <p:nvPr/>
        </p:nvSpPr>
        <p:spPr>
          <a:xfrm>
            <a:off x="493900" y="1488186"/>
            <a:ext cx="3772800" cy="3117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Nodes:   Artifact records (phone, email,</a:t>
            </a:r>
            <a:endParaRPr sz="13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username, image)</a:t>
            </a:r>
            <a:endParaRPr sz="13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Edges:   Directed weighted relationships</a:t>
            </a:r>
            <a:endParaRPr sz="13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(link_type + confidence score)</a:t>
            </a:r>
            <a:endParaRPr sz="13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Algorithm:</a:t>
            </a:r>
            <a:endParaRPr sz="13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1. Build DiGraph from DB artifacts + links</a:t>
            </a:r>
            <a:endParaRPr sz="13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2. Find weakly connected components</a:t>
            </a:r>
            <a:endParaRPr sz="13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3. Each component = one persona cluster</a:t>
            </a:r>
            <a:endParaRPr sz="13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4. Score = cross-type link density / 5.0</a:t>
            </a:r>
            <a:endParaRPr sz="13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(capped at 1.0)</a:t>
            </a:r>
            <a:endParaRPr sz="13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Risk classification per cluster:</a:t>
            </a:r>
            <a:endParaRPr sz="13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burner_or_voip_phone</a:t>
            </a:r>
            <a:endParaRPr sz="13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disposable_email_address</a:t>
            </a:r>
            <a:endParaRPr sz="13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credential_breach_exposure</a:t>
            </a:r>
            <a:endParaRPr sz="1300"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1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stolen_profile_photograph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53" name="Google Shape;753;p41"/>
          <p:cNvSpPr/>
          <p:nvPr/>
        </p:nvSpPr>
        <p:spPr>
          <a:xfrm>
            <a:off x="4698905" y="1131570"/>
            <a:ext cx="48018" cy="3771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" name="Google Shape;754;p41"/>
          <p:cNvSpPr txBox="1"/>
          <p:nvPr/>
        </p:nvSpPr>
        <p:spPr>
          <a:xfrm>
            <a:off x="4849819" y="1200150"/>
            <a:ext cx="3841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CONFIDENCE SCORING MODEL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55" name="Google Shape;755;p41"/>
          <p:cNvSpPr/>
          <p:nvPr/>
        </p:nvSpPr>
        <p:spPr>
          <a:xfrm>
            <a:off x="4849819" y="1488186"/>
            <a:ext cx="3807142" cy="246888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" name="Google Shape;756;p41"/>
          <p:cNvSpPr txBox="1"/>
          <p:nvPr/>
        </p:nvSpPr>
        <p:spPr>
          <a:xfrm>
            <a:off x="4884118" y="1522476"/>
            <a:ext cx="2743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Link Type</a:t>
            </a:r>
            <a:endParaRPr sz="1300"/>
          </a:p>
        </p:txBody>
      </p:sp>
      <p:sp>
        <p:nvSpPr>
          <p:cNvPr id="757" name="Google Shape;757;p41"/>
          <p:cNvSpPr txBox="1"/>
          <p:nvPr/>
        </p:nvSpPr>
        <p:spPr>
          <a:xfrm>
            <a:off x="7545688" y="1522476"/>
            <a:ext cx="548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Score</a:t>
            </a:r>
            <a:endParaRPr sz="1300"/>
          </a:p>
        </p:txBody>
      </p:sp>
      <p:sp>
        <p:nvSpPr>
          <p:cNvPr id="758" name="Google Shape;758;p41"/>
          <p:cNvSpPr/>
          <p:nvPr/>
        </p:nvSpPr>
        <p:spPr>
          <a:xfrm>
            <a:off x="4849819" y="1735074"/>
            <a:ext cx="3807142" cy="342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41"/>
          <p:cNvSpPr txBox="1"/>
          <p:nvPr/>
        </p:nvSpPr>
        <p:spPr>
          <a:xfrm>
            <a:off x="4938996" y="1803654"/>
            <a:ext cx="24696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exact_match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60" name="Google Shape;760;p41"/>
          <p:cNvSpPr/>
          <p:nvPr/>
        </p:nvSpPr>
        <p:spPr>
          <a:xfrm>
            <a:off x="7408493" y="1789938"/>
            <a:ext cx="617374" cy="233172"/>
          </a:xfrm>
          <a:prstGeom prst="rect">
            <a:avLst/>
          </a:prstGeom>
          <a:solidFill>
            <a:srgbClr val="39D35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41"/>
          <p:cNvSpPr txBox="1"/>
          <p:nvPr/>
        </p:nvSpPr>
        <p:spPr>
          <a:xfrm>
            <a:off x="7408493" y="1817370"/>
            <a:ext cx="617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1.00</a:t>
            </a:r>
            <a:endParaRPr sz="1300"/>
          </a:p>
        </p:txBody>
      </p:sp>
      <p:sp>
        <p:nvSpPr>
          <p:cNvPr id="762" name="Google Shape;762;p41"/>
          <p:cNvSpPr/>
          <p:nvPr/>
        </p:nvSpPr>
        <p:spPr>
          <a:xfrm>
            <a:off x="4849819" y="2105406"/>
            <a:ext cx="3807142" cy="342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41"/>
          <p:cNvSpPr txBox="1"/>
          <p:nvPr/>
        </p:nvSpPr>
        <p:spPr>
          <a:xfrm>
            <a:off x="4938996" y="2173986"/>
            <a:ext cx="24696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registered_with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64" name="Google Shape;764;p41"/>
          <p:cNvSpPr/>
          <p:nvPr/>
        </p:nvSpPr>
        <p:spPr>
          <a:xfrm>
            <a:off x="7408493" y="2160270"/>
            <a:ext cx="617374" cy="233172"/>
          </a:xfrm>
          <a:prstGeom prst="rect">
            <a:avLst/>
          </a:prstGeom>
          <a:solidFill>
            <a:srgbClr val="39D353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41"/>
          <p:cNvSpPr txBox="1"/>
          <p:nvPr/>
        </p:nvSpPr>
        <p:spPr>
          <a:xfrm>
            <a:off x="7408493" y="2187702"/>
            <a:ext cx="617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0.90</a:t>
            </a:r>
            <a:endParaRPr sz="1300"/>
          </a:p>
        </p:txBody>
      </p:sp>
      <p:sp>
        <p:nvSpPr>
          <p:cNvPr id="766" name="Google Shape;766;p41"/>
          <p:cNvSpPr/>
          <p:nvPr/>
        </p:nvSpPr>
        <p:spPr>
          <a:xfrm>
            <a:off x="4849819" y="2475738"/>
            <a:ext cx="3807142" cy="342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41"/>
          <p:cNvSpPr txBox="1"/>
          <p:nvPr/>
        </p:nvSpPr>
        <p:spPr>
          <a:xfrm>
            <a:off x="4938996" y="2544318"/>
            <a:ext cx="24696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breach_linked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68" name="Google Shape;768;p41"/>
          <p:cNvSpPr/>
          <p:nvPr/>
        </p:nvSpPr>
        <p:spPr>
          <a:xfrm>
            <a:off x="7408493" y="2530602"/>
            <a:ext cx="617374" cy="233172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41"/>
          <p:cNvSpPr txBox="1"/>
          <p:nvPr/>
        </p:nvSpPr>
        <p:spPr>
          <a:xfrm>
            <a:off x="7408493" y="2558034"/>
            <a:ext cx="617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0.80</a:t>
            </a:r>
            <a:endParaRPr sz="1300"/>
          </a:p>
        </p:txBody>
      </p:sp>
      <p:sp>
        <p:nvSpPr>
          <p:cNvPr id="770" name="Google Shape;770;p41"/>
          <p:cNvSpPr/>
          <p:nvPr/>
        </p:nvSpPr>
        <p:spPr>
          <a:xfrm>
            <a:off x="4849819" y="2846070"/>
            <a:ext cx="3807142" cy="342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" name="Google Shape;771;p41"/>
          <p:cNvSpPr txBox="1"/>
          <p:nvPr/>
        </p:nvSpPr>
        <p:spPr>
          <a:xfrm>
            <a:off x="4938996" y="2914650"/>
            <a:ext cx="24696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image_match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72" name="Google Shape;772;p41"/>
          <p:cNvSpPr/>
          <p:nvPr/>
        </p:nvSpPr>
        <p:spPr>
          <a:xfrm>
            <a:off x="7408493" y="2900934"/>
            <a:ext cx="617374" cy="233172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41"/>
          <p:cNvSpPr txBox="1"/>
          <p:nvPr/>
        </p:nvSpPr>
        <p:spPr>
          <a:xfrm>
            <a:off x="7408493" y="2928366"/>
            <a:ext cx="617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0.75</a:t>
            </a:r>
            <a:endParaRPr sz="1300"/>
          </a:p>
        </p:txBody>
      </p:sp>
      <p:sp>
        <p:nvSpPr>
          <p:cNvPr id="774" name="Google Shape;774;p41"/>
          <p:cNvSpPr/>
          <p:nvPr/>
        </p:nvSpPr>
        <p:spPr>
          <a:xfrm>
            <a:off x="4849819" y="3216402"/>
            <a:ext cx="3807142" cy="342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41"/>
          <p:cNvSpPr txBox="1"/>
          <p:nvPr/>
        </p:nvSpPr>
        <p:spPr>
          <a:xfrm>
            <a:off x="4938996" y="3284981"/>
            <a:ext cx="24696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username_pattern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76" name="Google Shape;776;p41"/>
          <p:cNvSpPr/>
          <p:nvPr/>
        </p:nvSpPr>
        <p:spPr>
          <a:xfrm>
            <a:off x="7408493" y="3271266"/>
            <a:ext cx="617374" cy="233172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" name="Google Shape;777;p41"/>
          <p:cNvSpPr txBox="1"/>
          <p:nvPr/>
        </p:nvSpPr>
        <p:spPr>
          <a:xfrm>
            <a:off x="7408493" y="3298698"/>
            <a:ext cx="617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0.60</a:t>
            </a:r>
            <a:endParaRPr sz="1300"/>
          </a:p>
        </p:txBody>
      </p:sp>
      <p:sp>
        <p:nvSpPr>
          <p:cNvPr id="778" name="Google Shape;778;p41"/>
          <p:cNvSpPr/>
          <p:nvPr/>
        </p:nvSpPr>
        <p:spPr>
          <a:xfrm>
            <a:off x="4849819" y="3586734"/>
            <a:ext cx="3807142" cy="34290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41"/>
          <p:cNvSpPr txBox="1"/>
          <p:nvPr/>
        </p:nvSpPr>
        <p:spPr>
          <a:xfrm>
            <a:off x="4938996" y="3655314"/>
            <a:ext cx="24696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temporal_match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80" name="Google Shape;780;p41"/>
          <p:cNvSpPr/>
          <p:nvPr/>
        </p:nvSpPr>
        <p:spPr>
          <a:xfrm>
            <a:off x="7408493" y="3641598"/>
            <a:ext cx="617374" cy="233172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41"/>
          <p:cNvSpPr txBox="1"/>
          <p:nvPr/>
        </p:nvSpPr>
        <p:spPr>
          <a:xfrm>
            <a:off x="7408493" y="3669030"/>
            <a:ext cx="617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0.40</a:t>
            </a:r>
            <a:endParaRPr sz="1300"/>
          </a:p>
        </p:txBody>
      </p:sp>
      <p:sp>
        <p:nvSpPr>
          <p:cNvPr id="782" name="Google Shape;782;p41"/>
          <p:cNvSpPr txBox="1"/>
          <p:nvPr/>
        </p:nvSpPr>
        <p:spPr>
          <a:xfrm>
            <a:off x="4849819" y="3977640"/>
            <a:ext cx="3807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Staleness Decay:  &gt;365 days → ×0.80   |   &gt;730 days → ×0.60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83" name="Google Shape;783;p41"/>
          <p:cNvSpPr txBox="1"/>
          <p:nvPr/>
        </p:nvSpPr>
        <p:spPr>
          <a:xfrm>
            <a:off x="8574645" y="4869180"/>
            <a:ext cx="54877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13 / 16</a:t>
            </a:r>
            <a:endParaRPr sz="1100"/>
          </a:p>
        </p:txBody>
      </p:sp>
      <p:pic>
        <p:nvPicPr>
          <p:cNvPr id="784" name="Google Shape;784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42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4 — PHASE 4: REPORTING &amp; CTI EXPORT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790" name="Google Shape;790;p42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Investigation Reports &amp; STIX 2.1 Export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791" name="Google Shape;791;p42"/>
          <p:cNvSpPr/>
          <p:nvPr/>
        </p:nvSpPr>
        <p:spPr>
          <a:xfrm>
            <a:off x="342986" y="994410"/>
            <a:ext cx="8458030" cy="2057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42"/>
          <p:cNvSpPr/>
          <p:nvPr/>
        </p:nvSpPr>
        <p:spPr>
          <a:xfrm>
            <a:off x="342986" y="1131570"/>
            <a:ext cx="48018" cy="3771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42"/>
          <p:cNvSpPr txBox="1"/>
          <p:nvPr/>
        </p:nvSpPr>
        <p:spPr>
          <a:xfrm>
            <a:off x="493900" y="1200150"/>
            <a:ext cx="50763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REPORT STRUCTURE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94" name="Google Shape;794;p42"/>
          <p:cNvSpPr/>
          <p:nvPr/>
        </p:nvSpPr>
        <p:spPr>
          <a:xfrm>
            <a:off x="493900" y="1488186"/>
            <a:ext cx="5076190" cy="246888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42"/>
          <p:cNvSpPr txBox="1"/>
          <p:nvPr/>
        </p:nvSpPr>
        <p:spPr>
          <a:xfrm>
            <a:off x="528198" y="1522476"/>
            <a:ext cx="21951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96" name="Google Shape;796;p42"/>
          <p:cNvSpPr txBox="1"/>
          <p:nvPr/>
        </p:nvSpPr>
        <p:spPr>
          <a:xfrm>
            <a:off x="2675289" y="1522476"/>
            <a:ext cx="1029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Format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97" name="Google Shape;797;p42"/>
          <p:cNvSpPr txBox="1"/>
          <p:nvPr/>
        </p:nvSpPr>
        <p:spPr>
          <a:xfrm>
            <a:off x="3738545" y="1522476"/>
            <a:ext cx="1714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Content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98" name="Google Shape;798;p42"/>
          <p:cNvSpPr txBox="1"/>
          <p:nvPr/>
        </p:nvSpPr>
        <p:spPr>
          <a:xfrm>
            <a:off x="562497" y="1803654"/>
            <a:ext cx="205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Executive Summary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799" name="Google Shape;799;p42"/>
          <p:cNvSpPr/>
          <p:nvPr/>
        </p:nvSpPr>
        <p:spPr>
          <a:xfrm>
            <a:off x="2675289" y="1796795"/>
            <a:ext cx="960360" cy="2057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42"/>
          <p:cNvSpPr txBox="1"/>
          <p:nvPr/>
        </p:nvSpPr>
        <p:spPr>
          <a:xfrm>
            <a:off x="2675289" y="1817370"/>
            <a:ext cx="960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HTML + PDF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01" name="Google Shape;801;p42"/>
          <p:cNvSpPr txBox="1"/>
          <p:nvPr/>
        </p:nvSpPr>
        <p:spPr>
          <a:xfrm>
            <a:off x="3738545" y="1803654"/>
            <a:ext cx="1749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Seed artifacts; persona count; confidence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02" name="Google Shape;802;p42"/>
          <p:cNvSpPr txBox="1"/>
          <p:nvPr/>
        </p:nvSpPr>
        <p:spPr>
          <a:xfrm>
            <a:off x="562497" y="2160270"/>
            <a:ext cx="205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Identity Profile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03" name="Google Shape;803;p42"/>
          <p:cNvSpPr/>
          <p:nvPr/>
        </p:nvSpPr>
        <p:spPr>
          <a:xfrm>
            <a:off x="2675289" y="2153411"/>
            <a:ext cx="960360" cy="2057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" name="Google Shape;804;p42"/>
          <p:cNvSpPr txBox="1"/>
          <p:nvPr/>
        </p:nvSpPr>
        <p:spPr>
          <a:xfrm>
            <a:off x="2675289" y="2173986"/>
            <a:ext cx="960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HTML + PDF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05" name="Google Shape;805;p42"/>
          <p:cNvSpPr txBox="1"/>
          <p:nvPr/>
        </p:nvSpPr>
        <p:spPr>
          <a:xfrm>
            <a:off x="3738545" y="2160270"/>
            <a:ext cx="1749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Consolidated emails, phones, usernames, images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06" name="Google Shape;806;p42"/>
          <p:cNvSpPr txBox="1"/>
          <p:nvPr/>
        </p:nvSpPr>
        <p:spPr>
          <a:xfrm>
            <a:off x="562497" y="2516886"/>
            <a:ext cx="205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Platform Presence Matrix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07" name="Google Shape;807;p42"/>
          <p:cNvSpPr/>
          <p:nvPr/>
        </p:nvSpPr>
        <p:spPr>
          <a:xfrm>
            <a:off x="2675289" y="2510027"/>
            <a:ext cx="960360" cy="2057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" name="Google Shape;808;p42"/>
          <p:cNvSpPr txBox="1"/>
          <p:nvPr/>
        </p:nvSpPr>
        <p:spPr>
          <a:xfrm>
            <a:off x="2675289" y="2530602"/>
            <a:ext cx="960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HTML + PDF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09" name="Google Shape;809;p42"/>
          <p:cNvSpPr txBox="1"/>
          <p:nvPr/>
        </p:nvSpPr>
        <p:spPr>
          <a:xfrm>
            <a:off x="3738545" y="2516886"/>
            <a:ext cx="1749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Profile URLs, creation dates, verification status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10" name="Google Shape;810;p42"/>
          <p:cNvSpPr txBox="1"/>
          <p:nvPr/>
        </p:nvSpPr>
        <p:spPr>
          <a:xfrm>
            <a:off x="562497" y="2873501"/>
            <a:ext cx="205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Relationship Graph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11" name="Google Shape;811;p42"/>
          <p:cNvSpPr/>
          <p:nvPr/>
        </p:nvSpPr>
        <p:spPr>
          <a:xfrm>
            <a:off x="2675289" y="2866643"/>
            <a:ext cx="960360" cy="2057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42"/>
          <p:cNvSpPr txBox="1"/>
          <p:nvPr/>
        </p:nvSpPr>
        <p:spPr>
          <a:xfrm>
            <a:off x="2675289" y="2887218"/>
            <a:ext cx="960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HTML only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13" name="Google Shape;813;p42"/>
          <p:cNvSpPr txBox="1"/>
          <p:nvPr/>
        </p:nvSpPr>
        <p:spPr>
          <a:xfrm>
            <a:off x="3738545" y="2873501"/>
            <a:ext cx="1749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Interactive pyvis force-directed graph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14" name="Google Shape;814;p42"/>
          <p:cNvSpPr txBox="1"/>
          <p:nvPr/>
        </p:nvSpPr>
        <p:spPr>
          <a:xfrm>
            <a:off x="562497" y="3230117"/>
            <a:ext cx="205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Breach Exposure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15" name="Google Shape;815;p42"/>
          <p:cNvSpPr/>
          <p:nvPr/>
        </p:nvSpPr>
        <p:spPr>
          <a:xfrm>
            <a:off x="2675289" y="3223259"/>
            <a:ext cx="960360" cy="2057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42"/>
          <p:cNvSpPr txBox="1"/>
          <p:nvPr/>
        </p:nvSpPr>
        <p:spPr>
          <a:xfrm>
            <a:off x="2675289" y="3243834"/>
            <a:ext cx="960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HTML + PDF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17" name="Google Shape;817;p42"/>
          <p:cNvSpPr txBox="1"/>
          <p:nvPr/>
        </p:nvSpPr>
        <p:spPr>
          <a:xfrm>
            <a:off x="3738545" y="3230117"/>
            <a:ext cx="1749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Breaches per artifact; data types; pwd exposure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18" name="Google Shape;818;p42"/>
          <p:cNvSpPr txBox="1"/>
          <p:nvPr/>
        </p:nvSpPr>
        <p:spPr>
          <a:xfrm>
            <a:off x="562497" y="3586734"/>
            <a:ext cx="205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Evidence Chain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19" name="Google Shape;819;p42"/>
          <p:cNvSpPr/>
          <p:nvPr/>
        </p:nvSpPr>
        <p:spPr>
          <a:xfrm>
            <a:off x="2675289" y="3579876"/>
            <a:ext cx="960360" cy="2057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0" name="Google Shape;820;p42"/>
          <p:cNvSpPr txBox="1"/>
          <p:nvPr/>
        </p:nvSpPr>
        <p:spPr>
          <a:xfrm>
            <a:off x="2675289" y="3600450"/>
            <a:ext cx="960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HTML + PDF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21" name="Google Shape;821;p42"/>
          <p:cNvSpPr txBox="1"/>
          <p:nvPr/>
        </p:nvSpPr>
        <p:spPr>
          <a:xfrm>
            <a:off x="3738545" y="3586734"/>
            <a:ext cx="1749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Ordered audit trail with raw evidence references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22" name="Google Shape;822;p42"/>
          <p:cNvSpPr txBox="1"/>
          <p:nvPr/>
        </p:nvSpPr>
        <p:spPr>
          <a:xfrm>
            <a:off x="562497" y="3943350"/>
            <a:ext cx="2058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STIX 2.1 Bundle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23" name="Google Shape;823;p42"/>
          <p:cNvSpPr/>
          <p:nvPr/>
        </p:nvSpPr>
        <p:spPr>
          <a:xfrm>
            <a:off x="2675289" y="3936492"/>
            <a:ext cx="960360" cy="205740"/>
          </a:xfrm>
          <a:prstGeom prst="rect">
            <a:avLst/>
          </a:prstGeom>
          <a:noFill/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42"/>
          <p:cNvSpPr txBox="1"/>
          <p:nvPr/>
        </p:nvSpPr>
        <p:spPr>
          <a:xfrm>
            <a:off x="2675289" y="3957066"/>
            <a:ext cx="9603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JSON file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25" name="Google Shape;825;p42"/>
          <p:cNvSpPr txBox="1"/>
          <p:nvPr/>
        </p:nvSpPr>
        <p:spPr>
          <a:xfrm>
            <a:off x="3738545" y="3943350"/>
            <a:ext cx="1749300" cy="3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ThreatActor + Indicators + Relationships + Notes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26" name="Google Shape;826;p42"/>
          <p:cNvSpPr/>
          <p:nvPr/>
        </p:nvSpPr>
        <p:spPr>
          <a:xfrm>
            <a:off x="5899356" y="1131570"/>
            <a:ext cx="48018" cy="3771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42"/>
          <p:cNvSpPr txBox="1"/>
          <p:nvPr/>
        </p:nvSpPr>
        <p:spPr>
          <a:xfrm>
            <a:off x="6050270" y="1200150"/>
            <a:ext cx="2606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STIX 2.1 OBJECTS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28" name="Google Shape;828;p42"/>
          <p:cNvSpPr txBox="1"/>
          <p:nvPr/>
        </p:nvSpPr>
        <p:spPr>
          <a:xfrm>
            <a:off x="6139445" y="1543050"/>
            <a:ext cx="2400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ThreatActor SDO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29" name="Google Shape;829;p42"/>
          <p:cNvSpPr txBox="1"/>
          <p:nvPr/>
        </p:nvSpPr>
        <p:spPr>
          <a:xfrm>
            <a:off x="6139445" y="1776222"/>
            <a:ext cx="2400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One per identified persona cluster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30" name="Google Shape;830;p42"/>
          <p:cNvSpPr txBox="1"/>
          <p:nvPr/>
        </p:nvSpPr>
        <p:spPr>
          <a:xfrm>
            <a:off x="6139445" y="2194560"/>
            <a:ext cx="2400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Indicator SDO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31" name="Google Shape;831;p42"/>
          <p:cNvSpPr txBox="1"/>
          <p:nvPr/>
        </p:nvSpPr>
        <p:spPr>
          <a:xfrm>
            <a:off x="6139445" y="2427732"/>
            <a:ext cx="2400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email, phone, username artifact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32" name="Google Shape;832;p42"/>
          <p:cNvSpPr txBox="1"/>
          <p:nvPr/>
        </p:nvSpPr>
        <p:spPr>
          <a:xfrm>
            <a:off x="6139445" y="2846070"/>
            <a:ext cx="2400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Relationship SRO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33" name="Google Shape;833;p42"/>
          <p:cNvSpPr txBox="1"/>
          <p:nvPr/>
        </p:nvSpPr>
        <p:spPr>
          <a:xfrm>
            <a:off x="6139445" y="3079242"/>
            <a:ext cx="2400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indicator → indicates → threat-actor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34" name="Google Shape;834;p42"/>
          <p:cNvSpPr txBox="1"/>
          <p:nvPr/>
        </p:nvSpPr>
        <p:spPr>
          <a:xfrm>
            <a:off x="6139445" y="3497580"/>
            <a:ext cx="2400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Note SDO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35" name="Google Shape;835;p42"/>
          <p:cNvSpPr txBox="1"/>
          <p:nvPr/>
        </p:nvSpPr>
        <p:spPr>
          <a:xfrm>
            <a:off x="6139445" y="3730752"/>
            <a:ext cx="2400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Risk indicators as structured notes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36" name="Google Shape;836;p42"/>
          <p:cNvSpPr txBox="1"/>
          <p:nvPr/>
        </p:nvSpPr>
        <p:spPr>
          <a:xfrm>
            <a:off x="6139445" y="4149090"/>
            <a:ext cx="2400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Bundle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37" name="Google Shape;837;p42"/>
          <p:cNvSpPr txBox="1"/>
          <p:nvPr/>
        </p:nvSpPr>
        <p:spPr>
          <a:xfrm>
            <a:off x="6139445" y="4382262"/>
            <a:ext cx="24009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 objects in STIX 2.1 envelope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38" name="Google Shape;838;p42"/>
          <p:cNvSpPr txBox="1"/>
          <p:nvPr/>
        </p:nvSpPr>
        <p:spPr>
          <a:xfrm>
            <a:off x="8574645" y="4869180"/>
            <a:ext cx="54877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14 / 16</a:t>
            </a:r>
            <a:endParaRPr sz="1100"/>
          </a:p>
        </p:txBody>
      </p:sp>
      <p:pic>
        <p:nvPicPr>
          <p:cNvPr id="839" name="Google Shape;8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3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43"/>
          <p:cNvSpPr txBox="1"/>
          <p:nvPr/>
        </p:nvSpPr>
        <p:spPr>
          <a:xfrm>
            <a:off x="342986" y="192024"/>
            <a:ext cx="84579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SECTION 5 — PRODUCTION-READY QUALITY STANDARDS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845" name="Google Shape;845;p43"/>
          <p:cNvSpPr txBox="1"/>
          <p:nvPr/>
        </p:nvSpPr>
        <p:spPr>
          <a:xfrm>
            <a:off x="342986" y="377190"/>
            <a:ext cx="84579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7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 Quality, Constraints &amp; Compliance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846" name="Google Shape;846;p43"/>
          <p:cNvSpPr/>
          <p:nvPr/>
        </p:nvSpPr>
        <p:spPr>
          <a:xfrm>
            <a:off x="342986" y="994410"/>
            <a:ext cx="8458030" cy="20574"/>
          </a:xfrm>
          <a:prstGeom prst="rect">
            <a:avLst/>
          </a:prstGeom>
          <a:solidFill>
            <a:srgbClr val="02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" name="Google Shape;847;p43"/>
          <p:cNvSpPr/>
          <p:nvPr/>
        </p:nvSpPr>
        <p:spPr>
          <a:xfrm>
            <a:off x="342986" y="1131570"/>
            <a:ext cx="48018" cy="3771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" name="Google Shape;848;p43"/>
          <p:cNvSpPr txBox="1"/>
          <p:nvPr/>
        </p:nvSpPr>
        <p:spPr>
          <a:xfrm>
            <a:off x="493900" y="1200150"/>
            <a:ext cx="37728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CODE QUALITY STANDARDS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49" name="Google Shape;849;p43"/>
          <p:cNvSpPr txBox="1"/>
          <p:nvPr/>
        </p:nvSpPr>
        <p:spPr>
          <a:xfrm>
            <a:off x="583076" y="1529334"/>
            <a:ext cx="1509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Annotations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50" name="Google Shape;850;p43"/>
          <p:cNvSpPr txBox="1"/>
          <p:nvPr/>
        </p:nvSpPr>
        <p:spPr>
          <a:xfrm>
            <a:off x="583076" y="1728216"/>
            <a:ext cx="3567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mypy --strict enforced in CI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51" name="Google Shape;851;p43"/>
          <p:cNvSpPr txBox="1"/>
          <p:nvPr/>
        </p:nvSpPr>
        <p:spPr>
          <a:xfrm>
            <a:off x="583076" y="2064258"/>
            <a:ext cx="1509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Linting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52" name="Google Shape;852;p43"/>
          <p:cNvSpPr txBox="1"/>
          <p:nvPr/>
        </p:nvSpPr>
        <p:spPr>
          <a:xfrm>
            <a:off x="583076" y="2263140"/>
            <a:ext cx="3567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Zero ruff violations; pre-commit hook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53" name="Google Shape;853;p43"/>
          <p:cNvSpPr txBox="1"/>
          <p:nvPr/>
        </p:nvSpPr>
        <p:spPr>
          <a:xfrm>
            <a:off x="583076" y="2599182"/>
            <a:ext cx="1509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Test Coverage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54" name="Google Shape;854;p43"/>
          <p:cNvSpPr txBox="1"/>
          <p:nvPr/>
        </p:nvSpPr>
        <p:spPr>
          <a:xfrm>
            <a:off x="583076" y="2798064"/>
            <a:ext cx="3567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≥85% line coverage (pytest --cov)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55" name="Google Shape;855;p43"/>
          <p:cNvSpPr txBox="1"/>
          <p:nvPr/>
        </p:nvSpPr>
        <p:spPr>
          <a:xfrm>
            <a:off x="583076" y="3134105"/>
            <a:ext cx="1509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Docstrings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56" name="Google Shape;856;p43"/>
          <p:cNvSpPr txBox="1"/>
          <p:nvPr/>
        </p:nvSpPr>
        <p:spPr>
          <a:xfrm>
            <a:off x="583076" y="3332987"/>
            <a:ext cx="3567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Google style; all public APIs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57" name="Google Shape;857;p43"/>
          <p:cNvSpPr txBox="1"/>
          <p:nvPr/>
        </p:nvSpPr>
        <p:spPr>
          <a:xfrm>
            <a:off x="583076" y="3669030"/>
            <a:ext cx="1509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Dep Pinning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58" name="Google Shape;858;p43"/>
          <p:cNvSpPr txBox="1"/>
          <p:nvPr/>
        </p:nvSpPr>
        <p:spPr>
          <a:xfrm>
            <a:off x="583076" y="3867912"/>
            <a:ext cx="3567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requirements.lock via pip-compile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59" name="Google Shape;859;p43"/>
          <p:cNvSpPr txBox="1"/>
          <p:nvPr/>
        </p:nvSpPr>
        <p:spPr>
          <a:xfrm>
            <a:off x="583076" y="4203954"/>
            <a:ext cx="1509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Secrets Scanning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60" name="Google Shape;860;p43"/>
          <p:cNvSpPr txBox="1"/>
          <p:nvPr/>
        </p:nvSpPr>
        <p:spPr>
          <a:xfrm>
            <a:off x="583076" y="4402836"/>
            <a:ext cx="35670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git-secrets pre-commit; no keys in VCS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61" name="Google Shape;861;p43"/>
          <p:cNvSpPr/>
          <p:nvPr/>
        </p:nvSpPr>
        <p:spPr>
          <a:xfrm>
            <a:off x="4596010" y="1131570"/>
            <a:ext cx="48018" cy="3771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" name="Google Shape;862;p43"/>
          <p:cNvSpPr txBox="1"/>
          <p:nvPr/>
        </p:nvSpPr>
        <p:spPr>
          <a:xfrm>
            <a:off x="4746924" y="1200150"/>
            <a:ext cx="1783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OPERATIONAL CONSTRAINTS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63" name="Google Shape;863;p43"/>
          <p:cNvSpPr txBox="1"/>
          <p:nvPr/>
        </p:nvSpPr>
        <p:spPr>
          <a:xfrm>
            <a:off x="4836100" y="1529334"/>
            <a:ext cx="1646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BFS Depth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64" name="Google Shape;864;p43"/>
          <p:cNvSpPr txBox="1"/>
          <p:nvPr/>
        </p:nvSpPr>
        <p:spPr>
          <a:xfrm>
            <a:off x="4836100" y="1721358"/>
            <a:ext cx="1646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MAX 2 hops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65" name="Google Shape;865;p43"/>
          <p:cNvSpPr txBox="1"/>
          <p:nvPr/>
        </p:nvSpPr>
        <p:spPr>
          <a:xfrm>
            <a:off x="4836100" y="2077974"/>
            <a:ext cx="1646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HIBP Rate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66" name="Google Shape;866;p43"/>
          <p:cNvSpPr txBox="1"/>
          <p:nvPr/>
        </p:nvSpPr>
        <p:spPr>
          <a:xfrm>
            <a:off x="4836100" y="2269998"/>
            <a:ext cx="1646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≥1,500 ms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67" name="Google Shape;867;p43"/>
          <p:cNvSpPr txBox="1"/>
          <p:nvPr/>
        </p:nvSpPr>
        <p:spPr>
          <a:xfrm>
            <a:off x="4836100" y="2626614"/>
            <a:ext cx="1646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Subprocess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68" name="Google Shape;868;p43"/>
          <p:cNvSpPr txBox="1"/>
          <p:nvPr/>
        </p:nvSpPr>
        <p:spPr>
          <a:xfrm>
            <a:off x="4836100" y="2818638"/>
            <a:ext cx="1646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30 sec timeout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69" name="Google Shape;869;p43"/>
          <p:cNvSpPr txBox="1"/>
          <p:nvPr/>
        </p:nvSpPr>
        <p:spPr>
          <a:xfrm>
            <a:off x="4836100" y="3175254"/>
            <a:ext cx="1646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HTTP Conn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70" name="Google Shape;870;p43"/>
          <p:cNvSpPr txBox="1"/>
          <p:nvPr/>
        </p:nvSpPr>
        <p:spPr>
          <a:xfrm>
            <a:off x="4836100" y="3367278"/>
            <a:ext cx="1646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 sec timeout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71" name="Google Shape;871;p43"/>
          <p:cNvSpPr txBox="1"/>
          <p:nvPr/>
        </p:nvSpPr>
        <p:spPr>
          <a:xfrm>
            <a:off x="4836100" y="3723894"/>
            <a:ext cx="1646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DB Warning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72" name="Google Shape;872;p43"/>
          <p:cNvSpPr txBox="1"/>
          <p:nvPr/>
        </p:nvSpPr>
        <p:spPr>
          <a:xfrm>
            <a:off x="4836100" y="3915918"/>
            <a:ext cx="1646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500 MB soft limit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73" name="Google Shape;873;p43"/>
          <p:cNvSpPr txBox="1"/>
          <p:nvPr/>
        </p:nvSpPr>
        <p:spPr>
          <a:xfrm>
            <a:off x="4836100" y="4272534"/>
            <a:ext cx="1646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Log PII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74" name="Google Shape;874;p43"/>
          <p:cNvSpPr txBox="1"/>
          <p:nvPr/>
        </p:nvSpPr>
        <p:spPr>
          <a:xfrm>
            <a:off x="4836100" y="4464558"/>
            <a:ext cx="16464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SHA-256 hashed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75" name="Google Shape;875;p43"/>
          <p:cNvSpPr/>
          <p:nvPr/>
        </p:nvSpPr>
        <p:spPr>
          <a:xfrm>
            <a:off x="6825417" y="1131570"/>
            <a:ext cx="48018" cy="37719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" name="Google Shape;876;p43"/>
          <p:cNvSpPr txBox="1"/>
          <p:nvPr/>
        </p:nvSpPr>
        <p:spPr>
          <a:xfrm>
            <a:off x="6976331" y="1200150"/>
            <a:ext cx="1783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LEGAL &amp; ETHICAL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77" name="Google Shape;877;p43"/>
          <p:cNvSpPr txBox="1"/>
          <p:nvPr/>
        </p:nvSpPr>
        <p:spPr>
          <a:xfrm>
            <a:off x="6976331" y="1495044"/>
            <a:ext cx="181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 Passive OSINT only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78" name="Google Shape;878;p43"/>
          <p:cNvSpPr txBox="1"/>
          <p:nvPr/>
        </p:nvSpPr>
        <p:spPr>
          <a:xfrm>
            <a:off x="6976331" y="1961388"/>
            <a:ext cx="181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 No credential stuffing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79" name="Google Shape;879;p43"/>
          <p:cNvSpPr txBox="1"/>
          <p:nvPr/>
        </p:nvSpPr>
        <p:spPr>
          <a:xfrm>
            <a:off x="6976331" y="2427732"/>
            <a:ext cx="1817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 No active exploitation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80" name="Google Shape;880;p43"/>
          <p:cNvSpPr txBox="1"/>
          <p:nvPr/>
        </p:nvSpPr>
        <p:spPr>
          <a:xfrm>
            <a:off x="6976331" y="2894076"/>
            <a:ext cx="1817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 GDPR / CCPA / IT Act 2000 compliance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81" name="Google Shape;881;p43"/>
          <p:cNvSpPr txBox="1"/>
          <p:nvPr/>
        </p:nvSpPr>
        <p:spPr>
          <a:xfrm>
            <a:off x="6976331" y="3360420"/>
            <a:ext cx="1817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 API ToS adherence + rate limits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82" name="Google Shape;882;p43"/>
          <p:cNvSpPr txBox="1"/>
          <p:nvPr/>
        </p:nvSpPr>
        <p:spPr>
          <a:xfrm>
            <a:off x="6976331" y="3826764"/>
            <a:ext cx="1817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 Full chain-of-custody audit trail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83" name="Google Shape;883;p43"/>
          <p:cNvSpPr txBox="1"/>
          <p:nvPr/>
        </p:nvSpPr>
        <p:spPr>
          <a:xfrm>
            <a:off x="6976331" y="4293108"/>
            <a:ext cx="18177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✓  Admissibility-ready evidence packaging</a:t>
            </a:r>
            <a:endParaRPr sz="1300">
              <a:solidFill>
                <a:schemeClr val="dk1"/>
              </a:solidFill>
            </a:endParaRPr>
          </a:p>
        </p:txBody>
      </p:sp>
      <p:sp>
        <p:nvSpPr>
          <p:cNvPr id="884" name="Google Shape;884;p43"/>
          <p:cNvSpPr txBox="1"/>
          <p:nvPr/>
        </p:nvSpPr>
        <p:spPr>
          <a:xfrm>
            <a:off x="8574645" y="4869180"/>
            <a:ext cx="548777" cy="20574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7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15 / 16</a:t>
            </a:r>
            <a:endParaRPr sz="1100"/>
          </a:p>
        </p:txBody>
      </p:sp>
      <p:pic>
        <p:nvPicPr>
          <p:cNvPr id="885" name="Google Shape;885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9" name="Shape 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Google Shape;890;p44"/>
          <p:cNvSpPr/>
          <p:nvPr/>
        </p:nvSpPr>
        <p:spPr>
          <a:xfrm>
            <a:off x="4376499" y="0"/>
            <a:ext cx="96036" cy="5143500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44"/>
          <p:cNvSpPr txBox="1"/>
          <p:nvPr/>
        </p:nvSpPr>
        <p:spPr>
          <a:xfrm>
            <a:off x="411583" y="891540"/>
            <a:ext cx="37728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SUMMARY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892" name="Google Shape;892;p44"/>
          <p:cNvSpPr txBox="1"/>
          <p:nvPr/>
        </p:nvSpPr>
        <p:spPr>
          <a:xfrm>
            <a:off x="411575" y="1200150"/>
            <a:ext cx="3531300" cy="4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2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Ghost Identity Hunter: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893" name="Google Shape;893;p44"/>
          <p:cNvSpPr txBox="1"/>
          <p:nvPr/>
        </p:nvSpPr>
        <p:spPr>
          <a:xfrm>
            <a:off x="411583" y="2023110"/>
            <a:ext cx="3841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►  Automated BFS OSINT collection across 4 artifact types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894" name="Google Shape;894;p44"/>
          <p:cNvSpPr txBox="1"/>
          <p:nvPr/>
        </p:nvSpPr>
        <p:spPr>
          <a:xfrm>
            <a:off x="411583" y="2475738"/>
            <a:ext cx="3841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►  Graph-theoretic persona correlation with quantified confidence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895" name="Google Shape;895;p44"/>
          <p:cNvSpPr txBox="1"/>
          <p:nvPr/>
        </p:nvSpPr>
        <p:spPr>
          <a:xfrm>
            <a:off x="411583" y="2928366"/>
            <a:ext cx="3841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►  STRIDE-modeled security controls mapped to NIST SP 800-53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896" name="Google Shape;896;p44"/>
          <p:cNvSpPr txBox="1"/>
          <p:nvPr/>
        </p:nvSpPr>
        <p:spPr>
          <a:xfrm>
            <a:off x="411583" y="3380994"/>
            <a:ext cx="3841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►  7 MITRE ATT&amp;CK techniques detected (T1585–T1650)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897" name="Google Shape;897;p44"/>
          <p:cNvSpPr txBox="1"/>
          <p:nvPr/>
        </p:nvSpPr>
        <p:spPr>
          <a:xfrm>
            <a:off x="411583" y="3833622"/>
            <a:ext cx="3841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►  Legally defensible HTML / PDF / STIX 2.1 output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898" name="Google Shape;898;p44"/>
          <p:cNvSpPr txBox="1"/>
          <p:nvPr/>
        </p:nvSpPr>
        <p:spPr>
          <a:xfrm>
            <a:off x="411583" y="4286250"/>
            <a:ext cx="38415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►  Zero infrastructure cost · Passive OSINT only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899" name="Google Shape;899;p44"/>
          <p:cNvSpPr/>
          <p:nvPr/>
        </p:nvSpPr>
        <p:spPr>
          <a:xfrm>
            <a:off x="4870398" y="1508760"/>
            <a:ext cx="1852123" cy="41148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0" name="Google Shape;900;p44"/>
          <p:cNvSpPr txBox="1"/>
          <p:nvPr/>
        </p:nvSpPr>
        <p:spPr>
          <a:xfrm>
            <a:off x="4870398" y="1714500"/>
            <a:ext cx="18522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400+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901" name="Google Shape;901;p44"/>
          <p:cNvSpPr txBox="1"/>
          <p:nvPr/>
        </p:nvSpPr>
        <p:spPr>
          <a:xfrm>
            <a:off x="4938995" y="2503170"/>
            <a:ext cx="1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Platforms enumerated       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902" name="Google Shape;902;p44"/>
          <p:cNvSpPr/>
          <p:nvPr/>
        </p:nvSpPr>
        <p:spPr>
          <a:xfrm>
            <a:off x="6996910" y="1508760"/>
            <a:ext cx="1852123" cy="41148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903;p44"/>
          <p:cNvSpPr txBox="1"/>
          <p:nvPr/>
        </p:nvSpPr>
        <p:spPr>
          <a:xfrm>
            <a:off x="6996910" y="1714500"/>
            <a:ext cx="18522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904" name="Google Shape;904;p44"/>
          <p:cNvSpPr txBox="1"/>
          <p:nvPr/>
        </p:nvSpPr>
        <p:spPr>
          <a:xfrm>
            <a:off x="7065507" y="2503170"/>
            <a:ext cx="1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ATT&amp;CK techniques covered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905" name="Google Shape;905;p44"/>
          <p:cNvSpPr/>
          <p:nvPr/>
        </p:nvSpPr>
        <p:spPr>
          <a:xfrm>
            <a:off x="4870398" y="3223260"/>
            <a:ext cx="1852123" cy="41148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" name="Google Shape;906;p44"/>
          <p:cNvSpPr txBox="1"/>
          <p:nvPr/>
        </p:nvSpPr>
        <p:spPr>
          <a:xfrm>
            <a:off x="4870398" y="3429000"/>
            <a:ext cx="18522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907" name="Google Shape;907;p44"/>
          <p:cNvSpPr txBox="1"/>
          <p:nvPr/>
        </p:nvSpPr>
        <p:spPr>
          <a:xfrm>
            <a:off x="4938995" y="4217670"/>
            <a:ext cx="1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NIST controls implemented           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908" name="Google Shape;908;p44"/>
          <p:cNvSpPr/>
          <p:nvPr/>
        </p:nvSpPr>
        <p:spPr>
          <a:xfrm>
            <a:off x="6996910" y="3223260"/>
            <a:ext cx="1852123" cy="41148"/>
          </a:xfrm>
          <a:prstGeom prst="rect">
            <a:avLst/>
          </a:prstGeom>
          <a:solidFill>
            <a:srgbClr val="01809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" name="Google Shape;909;p44"/>
          <p:cNvSpPr txBox="1"/>
          <p:nvPr/>
        </p:nvSpPr>
        <p:spPr>
          <a:xfrm>
            <a:off x="6996910" y="3429000"/>
            <a:ext cx="1852200" cy="6696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" sz="3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$0</a:t>
            </a:r>
            <a:endParaRPr sz="1100">
              <a:solidFill>
                <a:schemeClr val="dk1"/>
              </a:solidFill>
            </a:endParaRPr>
          </a:p>
        </p:txBody>
      </p:sp>
      <p:sp>
        <p:nvSpPr>
          <p:cNvPr id="910" name="Google Shape;910;p44"/>
          <p:cNvSpPr txBox="1"/>
          <p:nvPr/>
        </p:nvSpPr>
        <p:spPr>
          <a:xfrm>
            <a:off x="7065507" y="4217670"/>
            <a:ext cx="1714800" cy="2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Infrastructur e cost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911" name="Google Shape;911;p44"/>
          <p:cNvSpPr txBox="1"/>
          <p:nvPr/>
        </p:nvSpPr>
        <p:spPr>
          <a:xfrm>
            <a:off x="4527413" y="4732020"/>
            <a:ext cx="4458815" cy="24003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" sz="800" u="none" cap="none" strike="noStrike">
                <a:solidFill>
                  <a:srgbClr val="B0C4D8"/>
                </a:solidFill>
                <a:latin typeface="Calibri"/>
                <a:ea typeface="Calibri"/>
                <a:cs typeface="Calibri"/>
                <a:sym typeface="Calibri"/>
              </a:rPr>
              <a:t>Version 2.0  ·  Capstone Program  ·  June 2026</a:t>
            </a:r>
            <a:endParaRPr sz="1100"/>
          </a:p>
        </p:txBody>
      </p:sp>
      <p:pic>
        <p:nvPicPr>
          <p:cNvPr id="912" name="Google Shape;912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7925" y="15225"/>
            <a:ext cx="1435492" cy="23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