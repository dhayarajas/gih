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76" r:id="rId27"/>
    <p:sldId id="277" r:id="rId28"/>
    <p:sldId id="281" r:id="rId32"/>
    <p:sldId id="278" r:id="rId29"/>
    <p:sldId id="271" r:id="rId22"/>
    <p:sldId id="272" r:id="rId23"/>
    <p:sldId id="273" r:id="rId24"/>
    <p:sldId id="279" r:id="rId30"/>
    <p:sldId id="267" r:id="rId18"/>
    <p:sldId id="268" r:id="rId19"/>
    <p:sldId id="269" r:id="rId20"/>
    <p:sldId id="280" r:id="rId31"/>
    <p:sldId id="274" r:id="rId25"/>
    <p:sldId id="270" r:id="rId21"/>
    <p:sldId id="282" r:id="rId33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cf330c7cf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ecf330c7cf_2_75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cf330c7cf_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ecf330c7cf_2_113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cf330c7c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ecf330c7cf_0_16:notes"/>
          <p:cNvSpPr/>
          <p:nvPr>
            <p:ph idx="2" type="sldImg"/>
          </p:nvPr>
        </p:nvSpPr>
        <p:spPr>
          <a:xfrm>
            <a:off x="1142653" y="685800"/>
            <a:ext cx="457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cf330c7cf_2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ecf330c7cf_2_149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cf330c7cf_2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ecf330c7cf_2_165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cf330c7c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ecf330c7cf_0_52:notes"/>
          <p:cNvSpPr/>
          <p:nvPr>
            <p:ph idx="2" type="sldImg"/>
          </p:nvPr>
        </p:nvSpPr>
        <p:spPr>
          <a:xfrm>
            <a:off x="1142653" y="685800"/>
            <a:ext cx="457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cf330c7cf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ecf330c7cf_0_80:notes"/>
          <p:cNvSpPr/>
          <p:nvPr>
            <p:ph idx="2" type="sldImg"/>
          </p:nvPr>
        </p:nvSpPr>
        <p:spPr>
          <a:xfrm>
            <a:off x="1142653" y="685800"/>
            <a:ext cx="457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cf330c7c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ecf330c7cf_0_90:notes"/>
          <p:cNvSpPr/>
          <p:nvPr>
            <p:ph idx="2" type="sldImg"/>
          </p:nvPr>
        </p:nvSpPr>
        <p:spPr>
          <a:xfrm>
            <a:off x="1142653" y="685800"/>
            <a:ext cx="457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cf330c7cf_2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ecf330c7cf_2_192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cf330c7cf_2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ecf330c7cf_2_241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cf330c7cf_2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ecf330c7cf_2_294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ecf330c7cf_2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ecf330c7cf_2_398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ecf330c7cf_2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g3ecf330c7cf_2_448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ecf330c7cf_2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g3ecf330c7cf_2_498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ecf330c7cf_2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g3ecf330c7cf_2_570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ecf330c7cf_2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g3ecf330c7cf_2_613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ecf330c7cf_2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g3ecf330c7cf_2_659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ecf330c7cf_2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g3ecf330c7cf_2_702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ecf330c7cf_2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g3ecf330c7cf_2_770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ecf330c7cf_2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g3ecf330c7cf_2_830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479" y="1597819"/>
            <a:ext cx="5830759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957" y="2914650"/>
            <a:ext cx="4801801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870" y="3305175"/>
            <a:ext cx="5830759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870" y="2180035"/>
            <a:ext cx="5830759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86" y="1200150"/>
            <a:ext cx="30297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7022" y="1200150"/>
            <a:ext cx="30297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86" y="1151335"/>
            <a:ext cx="3030899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86" y="1631156"/>
            <a:ext cx="3030899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4640" y="1151335"/>
            <a:ext cx="3032090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4640" y="1631156"/>
            <a:ext cx="3032090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86" y="204788"/>
            <a:ext cx="2256799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958" y="204788"/>
            <a:ext cx="3834772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86" y="1076325"/>
            <a:ext cx="2256799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552" y="3600450"/>
            <a:ext cx="411583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552" y="459581"/>
            <a:ext cx="411583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552" y="4025503"/>
            <a:ext cx="411583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2622" y="-189486"/>
            <a:ext cx="3394472" cy="61737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50690" y="1628582"/>
            <a:ext cx="4388644" cy="1543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654" y="142311"/>
            <a:ext cx="4388644" cy="45159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4390218" y="0"/>
            <a:ext cx="82317" cy="51435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411583" y="960120"/>
            <a:ext cx="397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CSCD - GROUP 2 - CAPSTONE PROJECT  · FINAL PRESENTATION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411583" y="1303020"/>
            <a:ext cx="3841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Ghost Identity</a:t>
            </a:r>
            <a:br>
              <a:rPr b="1" i="0" lang="en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Hunter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411583" y="2846070"/>
            <a:ext cx="3841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Automated OSINT Attribution Platfor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411583" y="3669030"/>
            <a:ext cx="3772844" cy="27432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411583" y="3771900"/>
            <a:ext cx="3772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Version 3.0  ·  Final Delivery  ·  August 2026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5" name="Google Shape;135;p25"/>
          <p:cNvSpPr/>
          <p:nvPr/>
        </p:nvSpPr>
        <p:spPr>
          <a:xfrm>
            <a:off x="5444203" y="1554625"/>
            <a:ext cx="3095400" cy="4938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5"/>
          <p:cNvSpPr/>
          <p:nvPr/>
        </p:nvSpPr>
        <p:spPr>
          <a:xfrm>
            <a:off x="5336667" y="1554625"/>
            <a:ext cx="41100" cy="4938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5"/>
          <p:cNvSpPr/>
          <p:nvPr/>
        </p:nvSpPr>
        <p:spPr>
          <a:xfrm>
            <a:off x="5377825" y="1691785"/>
            <a:ext cx="377400" cy="2196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5384685" y="1705501"/>
            <a:ext cx="356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&gt;&gt;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5799420" y="1684927"/>
            <a:ext cx="2638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 Integrated OSINT Tools, One Pipeline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0" name="Google Shape;140;p25"/>
          <p:cNvSpPr/>
          <p:nvPr/>
        </p:nvSpPr>
        <p:spPr>
          <a:xfrm>
            <a:off x="5444203" y="2206137"/>
            <a:ext cx="3095400" cy="4938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5"/>
          <p:cNvSpPr/>
          <p:nvPr/>
        </p:nvSpPr>
        <p:spPr>
          <a:xfrm>
            <a:off x="5336667" y="2206135"/>
            <a:ext cx="41100" cy="4938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5"/>
          <p:cNvSpPr/>
          <p:nvPr/>
        </p:nvSpPr>
        <p:spPr>
          <a:xfrm>
            <a:off x="5377825" y="2343295"/>
            <a:ext cx="377400" cy="2196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5"/>
          <p:cNvSpPr txBox="1"/>
          <p:nvPr/>
        </p:nvSpPr>
        <p:spPr>
          <a:xfrm>
            <a:off x="5384685" y="2357011"/>
            <a:ext cx="356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&gt;&gt;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44" name="Google Shape;144;p25"/>
          <p:cNvSpPr txBox="1"/>
          <p:nvPr/>
        </p:nvSpPr>
        <p:spPr>
          <a:xfrm>
            <a:off x="5799420" y="2336440"/>
            <a:ext cx="2638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 Correlation with Scored Confidence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5" name="Google Shape;145;p25"/>
          <p:cNvSpPr/>
          <p:nvPr/>
        </p:nvSpPr>
        <p:spPr>
          <a:xfrm>
            <a:off x="5444203" y="2896623"/>
            <a:ext cx="3095400" cy="4938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5"/>
          <p:cNvSpPr/>
          <p:nvPr/>
        </p:nvSpPr>
        <p:spPr>
          <a:xfrm>
            <a:off x="5336667" y="2896615"/>
            <a:ext cx="41100" cy="4938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5"/>
          <p:cNvSpPr/>
          <p:nvPr/>
        </p:nvSpPr>
        <p:spPr>
          <a:xfrm>
            <a:off x="5377825" y="3033775"/>
            <a:ext cx="377400" cy="2196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5384685" y="3047491"/>
            <a:ext cx="356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&gt;&gt;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49" name="Google Shape;149;p25"/>
          <p:cNvSpPr txBox="1"/>
          <p:nvPr/>
        </p:nvSpPr>
        <p:spPr>
          <a:xfrm>
            <a:off x="5799420" y="3026926"/>
            <a:ext cx="2638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Verifiable Evidence, Redactable Reports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00" y="80650"/>
            <a:ext cx="2683045" cy="44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6" name="Google Shape;156;p26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7" name="Google Shape;157;p26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6"/>
          <p:cNvSpPr/>
          <p:nvPr/>
        </p:nvSpPr>
        <p:spPr>
          <a:xfrm>
            <a:off x="342986" y="1300940"/>
            <a:ext cx="8457900" cy="438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6"/>
          <p:cNvSpPr/>
          <p:nvPr/>
        </p:nvSpPr>
        <p:spPr>
          <a:xfrm>
            <a:off x="342986" y="1300940"/>
            <a:ext cx="48000" cy="438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480180" y="1383236"/>
            <a:ext cx="377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926062" y="1396952"/>
            <a:ext cx="7683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Outcome &amp; Business Impact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2" name="Google Shape;162;p26"/>
          <p:cNvSpPr/>
          <p:nvPr/>
        </p:nvSpPr>
        <p:spPr>
          <a:xfrm>
            <a:off x="342986" y="1829006"/>
            <a:ext cx="8457900" cy="438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6"/>
          <p:cNvSpPr/>
          <p:nvPr/>
        </p:nvSpPr>
        <p:spPr>
          <a:xfrm>
            <a:off x="342986" y="1829006"/>
            <a:ext cx="48000" cy="438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480180" y="1911302"/>
            <a:ext cx="377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5" name="Google Shape;165;p26"/>
          <p:cNvSpPr txBox="1"/>
          <p:nvPr/>
        </p:nvSpPr>
        <p:spPr>
          <a:xfrm>
            <a:off x="926062" y="1925018"/>
            <a:ext cx="7683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&amp; Technology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342986" y="2357072"/>
            <a:ext cx="8457900" cy="438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6"/>
          <p:cNvSpPr/>
          <p:nvPr/>
        </p:nvSpPr>
        <p:spPr>
          <a:xfrm>
            <a:off x="342986" y="2357072"/>
            <a:ext cx="48000" cy="438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6"/>
          <p:cNvSpPr txBox="1"/>
          <p:nvPr/>
        </p:nvSpPr>
        <p:spPr>
          <a:xfrm>
            <a:off x="480180" y="2439368"/>
            <a:ext cx="377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9" name="Google Shape;169;p26"/>
          <p:cNvSpPr txBox="1"/>
          <p:nvPr/>
        </p:nvSpPr>
        <p:spPr>
          <a:xfrm>
            <a:off x="926062" y="2453084"/>
            <a:ext cx="7683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Collection: Tools, Parsers, Evidence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0" name="Google Shape;170;p26"/>
          <p:cNvSpPr/>
          <p:nvPr/>
        </p:nvSpPr>
        <p:spPr>
          <a:xfrm>
            <a:off x="342986" y="2905716"/>
            <a:ext cx="8457900" cy="438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6"/>
          <p:cNvSpPr/>
          <p:nvPr/>
        </p:nvSpPr>
        <p:spPr>
          <a:xfrm>
            <a:off x="342986" y="2905716"/>
            <a:ext cx="48000" cy="438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480180" y="2988012"/>
            <a:ext cx="377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926062" y="3001728"/>
            <a:ext cx="7683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Correlation, Reporting &amp; Disclosure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4" name="Google Shape;174;p26"/>
          <p:cNvSpPr/>
          <p:nvPr/>
        </p:nvSpPr>
        <p:spPr>
          <a:xfrm>
            <a:off x="342986" y="3433782"/>
            <a:ext cx="8457900" cy="438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342986" y="3433782"/>
            <a:ext cx="48000" cy="438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480180" y="3516078"/>
            <a:ext cx="377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7" name="Google Shape;177;p26"/>
          <p:cNvSpPr txBox="1"/>
          <p:nvPr/>
        </p:nvSpPr>
        <p:spPr>
          <a:xfrm>
            <a:off x="926062" y="3529793"/>
            <a:ext cx="7683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Resilience, Quality &amp; Compliance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2 / 27</a:t>
            </a:r>
            <a:endParaRPr sz="1100"/>
          </a:p>
        </p:txBody>
      </p:sp>
      <p:pic>
        <p:nvPicPr>
          <p:cNvPr id="179" name="Google Shape;17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CSCD Group 2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342986" y="994410"/>
            <a:ext cx="8457900" cy="207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7"/>
          <p:cNvSpPr/>
          <p:nvPr/>
        </p:nvSpPr>
        <p:spPr>
          <a:xfrm>
            <a:off x="342986" y="1364551"/>
            <a:ext cx="8457900" cy="438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7"/>
          <p:cNvSpPr/>
          <p:nvPr/>
        </p:nvSpPr>
        <p:spPr>
          <a:xfrm>
            <a:off x="342986" y="1364551"/>
            <a:ext cx="48000" cy="438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7"/>
          <p:cNvSpPr txBox="1"/>
          <p:nvPr/>
        </p:nvSpPr>
        <p:spPr>
          <a:xfrm>
            <a:off x="480180" y="1446847"/>
            <a:ext cx="377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926062" y="1460563"/>
            <a:ext cx="7683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Gunasekaran - Group Lead (Guna)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1" name="Google Shape;191;p27"/>
          <p:cNvSpPr/>
          <p:nvPr/>
        </p:nvSpPr>
        <p:spPr>
          <a:xfrm>
            <a:off x="342986" y="1892617"/>
            <a:ext cx="8457900" cy="438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7"/>
          <p:cNvSpPr/>
          <p:nvPr/>
        </p:nvSpPr>
        <p:spPr>
          <a:xfrm>
            <a:off x="342986" y="1892617"/>
            <a:ext cx="48000" cy="438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480180" y="1974913"/>
            <a:ext cx="377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926062" y="1988629"/>
            <a:ext cx="7683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Kanti Singh Sangher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5" name="Google Shape;195;p27"/>
          <p:cNvSpPr/>
          <p:nvPr/>
        </p:nvSpPr>
        <p:spPr>
          <a:xfrm>
            <a:off x="342986" y="2420683"/>
            <a:ext cx="8457900" cy="438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7"/>
          <p:cNvSpPr/>
          <p:nvPr/>
        </p:nvSpPr>
        <p:spPr>
          <a:xfrm>
            <a:off x="342986" y="2420683"/>
            <a:ext cx="48000" cy="438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7"/>
          <p:cNvSpPr txBox="1"/>
          <p:nvPr/>
        </p:nvSpPr>
        <p:spPr>
          <a:xfrm>
            <a:off x="480180" y="2502979"/>
            <a:ext cx="377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8" name="Google Shape;198;p27"/>
          <p:cNvSpPr txBox="1"/>
          <p:nvPr/>
        </p:nvSpPr>
        <p:spPr>
          <a:xfrm>
            <a:off x="926062" y="2516695"/>
            <a:ext cx="7683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Rekha Saraswat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9" name="Google Shape;199;p27"/>
          <p:cNvSpPr/>
          <p:nvPr/>
        </p:nvSpPr>
        <p:spPr>
          <a:xfrm>
            <a:off x="342986" y="2948749"/>
            <a:ext cx="8457900" cy="438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7"/>
          <p:cNvSpPr/>
          <p:nvPr/>
        </p:nvSpPr>
        <p:spPr>
          <a:xfrm>
            <a:off x="342986" y="2948749"/>
            <a:ext cx="48000" cy="438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7"/>
          <p:cNvSpPr txBox="1"/>
          <p:nvPr/>
        </p:nvSpPr>
        <p:spPr>
          <a:xfrm>
            <a:off x="480180" y="3031045"/>
            <a:ext cx="377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2" name="Google Shape;202;p27"/>
          <p:cNvSpPr txBox="1"/>
          <p:nvPr/>
        </p:nvSpPr>
        <p:spPr>
          <a:xfrm>
            <a:off x="926062" y="3044760"/>
            <a:ext cx="7683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Vindya Narsian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342986" y="3476815"/>
            <a:ext cx="8457900" cy="438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342986" y="3476815"/>
            <a:ext cx="48000" cy="438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7"/>
          <p:cNvSpPr txBox="1"/>
          <p:nvPr/>
        </p:nvSpPr>
        <p:spPr>
          <a:xfrm>
            <a:off x="480180" y="3559111"/>
            <a:ext cx="377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6" name="Google Shape;206;p27"/>
          <p:cNvSpPr txBox="1"/>
          <p:nvPr/>
        </p:nvSpPr>
        <p:spPr>
          <a:xfrm>
            <a:off x="926062" y="3572827"/>
            <a:ext cx="7683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Soumo Dutta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7" name="Google Shape;207;p27"/>
          <p:cNvSpPr/>
          <p:nvPr/>
        </p:nvSpPr>
        <p:spPr>
          <a:xfrm>
            <a:off x="342986" y="4004881"/>
            <a:ext cx="8457900" cy="438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7"/>
          <p:cNvSpPr/>
          <p:nvPr/>
        </p:nvSpPr>
        <p:spPr>
          <a:xfrm>
            <a:off x="342986" y="4004881"/>
            <a:ext cx="48000" cy="438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7"/>
          <p:cNvSpPr txBox="1"/>
          <p:nvPr/>
        </p:nvSpPr>
        <p:spPr>
          <a:xfrm>
            <a:off x="480180" y="4087177"/>
            <a:ext cx="377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0" name="Google Shape;210;p27"/>
          <p:cNvSpPr txBox="1"/>
          <p:nvPr/>
        </p:nvSpPr>
        <p:spPr>
          <a:xfrm>
            <a:off x="926062" y="4100893"/>
            <a:ext cx="7683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Dhayanidhi Rajasekaran (Dhaya) 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1" name="Google Shape;211;p27"/>
          <p:cNvSpPr txBox="1"/>
          <p:nvPr/>
        </p:nvSpPr>
        <p:spPr>
          <a:xfrm>
            <a:off x="8574645" y="4869180"/>
            <a:ext cx="54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3 / 27</a:t>
            </a:r>
            <a:endParaRPr sz="1100"/>
          </a:p>
        </p:txBody>
      </p:sp>
      <p:pic>
        <p:nvPicPr>
          <p:cNvPr id="212" name="Google Shape;21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1 — SUMMARY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Impact &amp; Objectives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342986" y="1097280"/>
            <a:ext cx="4115830" cy="387477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8"/>
          <p:cNvSpPr/>
          <p:nvPr/>
        </p:nvSpPr>
        <p:spPr>
          <a:xfrm>
            <a:off x="342986" y="1097280"/>
            <a:ext cx="48018" cy="387477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8"/>
          <p:cNvSpPr txBox="1"/>
          <p:nvPr/>
        </p:nvSpPr>
        <p:spPr>
          <a:xfrm>
            <a:off x="493900" y="1179576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3" name="Google Shape;223;p28"/>
          <p:cNvSpPr txBox="1"/>
          <p:nvPr/>
        </p:nvSpPr>
        <p:spPr>
          <a:xfrm>
            <a:off x="493900" y="1495044"/>
            <a:ext cx="3841500" cy="20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Threat actors compartmentalise their footprint so that no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lookup identifies them: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 Burner / VoIP numbers, no identity document required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 Disposable and forwarding email addresses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 A username reused across dozens of platforms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 Stolen or stock profile photographs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Correlating this by hand costs hours per subject, and the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 is a folder of tool output that no reviewer can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audit: no provenance, no confidence, nothing repeatable.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4" name="Google Shape;224;p28"/>
          <p:cNvSpPr/>
          <p:nvPr/>
        </p:nvSpPr>
        <p:spPr>
          <a:xfrm>
            <a:off x="4698905" y="1097280"/>
            <a:ext cx="4115830" cy="387477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8"/>
          <p:cNvSpPr/>
          <p:nvPr/>
        </p:nvSpPr>
        <p:spPr>
          <a:xfrm>
            <a:off x="4698905" y="1097280"/>
            <a:ext cx="48018" cy="387477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8"/>
          <p:cNvSpPr txBox="1"/>
          <p:nvPr/>
        </p:nvSpPr>
        <p:spPr>
          <a:xfrm>
            <a:off x="4849819" y="1179576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4849819" y="1495044"/>
            <a:ext cx="38415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Delivered: one command runs the collection, correlation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reporting end to end.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14 external OSINT tools plus 5 native modules,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each read by a parser written for its own format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Breadth-first expansion across 7 seed types with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exact-value matching, so no near miss is recorded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Graph correlation into persona clusters, every score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shown with the evidence that produced it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Every tool run preserved and SHA-256 verifiable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One HTML report: findings first, detail collapsed,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plus a masked copy that is safe to circulate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Runs entirely on the analyst's host. No cloud cost.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8" name="Google Shape;228;p28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4 / 27</a:t>
            </a:r>
            <a:endParaRPr sz="1100"/>
          </a:p>
        </p:txBody>
      </p:sp>
      <p:pic>
        <p:nvPicPr>
          <p:cNvPr id="229" name="Google Shape;2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2 — ARCHITECTURAL DESIGN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35" name="Google Shape;235;p29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4-Layer Pipeline, As Built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36" name="Google Shape;236;p29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9"/>
          <p:cNvSpPr/>
          <p:nvPr/>
        </p:nvSpPr>
        <p:spPr>
          <a:xfrm>
            <a:off x="342986" y="1131570"/>
            <a:ext cx="8458030" cy="809244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9"/>
          <p:cNvSpPr/>
          <p:nvPr/>
        </p:nvSpPr>
        <p:spPr>
          <a:xfrm>
            <a:off x="342986" y="1131570"/>
            <a:ext cx="48018" cy="809244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9"/>
          <p:cNvSpPr txBox="1"/>
          <p:nvPr/>
        </p:nvSpPr>
        <p:spPr>
          <a:xfrm>
            <a:off x="514479" y="1200150"/>
            <a:ext cx="274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INGESTION LAYER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40" name="Google Shape;240;p29"/>
          <p:cNvSpPr txBox="1"/>
          <p:nvPr/>
        </p:nvSpPr>
        <p:spPr>
          <a:xfrm>
            <a:off x="514479" y="1474470"/>
            <a:ext cx="7888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 (Click) · 7 seed types · exact-match policy · BFS queue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41" name="Google Shape;241;p29"/>
          <p:cNvSpPr txBox="1"/>
          <p:nvPr/>
        </p:nvSpPr>
        <p:spPr>
          <a:xfrm>
            <a:off x="752123" y="1823327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42" name="Google Shape;242;p29"/>
          <p:cNvSpPr/>
          <p:nvPr/>
        </p:nvSpPr>
        <p:spPr>
          <a:xfrm>
            <a:off x="342986" y="2057400"/>
            <a:ext cx="8458030" cy="809244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9"/>
          <p:cNvSpPr/>
          <p:nvPr/>
        </p:nvSpPr>
        <p:spPr>
          <a:xfrm>
            <a:off x="342986" y="2057400"/>
            <a:ext cx="48018" cy="809244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9"/>
          <p:cNvSpPr txBox="1"/>
          <p:nvPr/>
        </p:nvSpPr>
        <p:spPr>
          <a:xfrm>
            <a:off x="514479" y="2125980"/>
            <a:ext cx="274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COLLECTION LAYER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45" name="Google Shape;245;p29"/>
          <p:cNvSpPr txBox="1"/>
          <p:nvPr/>
        </p:nvSpPr>
        <p:spPr>
          <a:xfrm>
            <a:off x="514479" y="2400300"/>
            <a:ext cx="7888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native modules + 14 tool integrations → per-tool parsers → evidence store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46" name="Google Shape;246;p29"/>
          <p:cNvSpPr txBox="1"/>
          <p:nvPr/>
        </p:nvSpPr>
        <p:spPr>
          <a:xfrm>
            <a:off x="752123" y="2749156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47" name="Google Shape;247;p29"/>
          <p:cNvSpPr/>
          <p:nvPr/>
        </p:nvSpPr>
        <p:spPr>
          <a:xfrm>
            <a:off x="342986" y="2983229"/>
            <a:ext cx="8458030" cy="809244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9"/>
          <p:cNvSpPr/>
          <p:nvPr/>
        </p:nvSpPr>
        <p:spPr>
          <a:xfrm>
            <a:off x="342986" y="2983229"/>
            <a:ext cx="48018" cy="809244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9"/>
          <p:cNvSpPr txBox="1"/>
          <p:nvPr/>
        </p:nvSpPr>
        <p:spPr>
          <a:xfrm>
            <a:off x="514479" y="3051809"/>
            <a:ext cx="274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CORRELATION LAYER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50" name="Google Shape;250;p29"/>
          <p:cNvSpPr txBox="1"/>
          <p:nvPr/>
        </p:nvSpPr>
        <p:spPr>
          <a:xfrm>
            <a:off x="514479" y="3326130"/>
            <a:ext cx="7888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NetworkX graph → persona clusters → confidence scorer with provenance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51" name="Google Shape;251;p29"/>
          <p:cNvSpPr txBox="1"/>
          <p:nvPr/>
        </p:nvSpPr>
        <p:spPr>
          <a:xfrm>
            <a:off x="752123" y="3674986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52" name="Google Shape;252;p29"/>
          <p:cNvSpPr/>
          <p:nvPr/>
        </p:nvSpPr>
        <p:spPr>
          <a:xfrm>
            <a:off x="342986" y="3909060"/>
            <a:ext cx="8458030" cy="809244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9"/>
          <p:cNvSpPr/>
          <p:nvPr/>
        </p:nvSpPr>
        <p:spPr>
          <a:xfrm>
            <a:off x="342986" y="3909060"/>
            <a:ext cx="48018" cy="809244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9"/>
          <p:cNvSpPr txBox="1"/>
          <p:nvPr/>
        </p:nvSpPr>
        <p:spPr>
          <a:xfrm>
            <a:off x="514479" y="3977640"/>
            <a:ext cx="274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REPORTING LAYER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55" name="Google Shape;255;p29"/>
          <p:cNvSpPr txBox="1"/>
          <p:nvPr/>
        </p:nvSpPr>
        <p:spPr>
          <a:xfrm>
            <a:off x="514479" y="4251960"/>
            <a:ext cx="7888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SQLite → HTML report (+ masked copy) · JSON · CSV · PDF · pyvis graph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56" name="Google Shape;256;p29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5 / 27</a:t>
            </a:r>
            <a:endParaRPr sz="1100"/>
          </a:p>
        </p:txBody>
      </p:sp>
      <p:pic>
        <p:nvPicPr>
          <p:cNvPr id="257" name="Google Shape;25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2 — ARCHITECTURAL DESIGN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3" name="Google Shape;263;p30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</a:t>
            </a: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4" name="Google Shape;264;p30"/>
          <p:cNvSpPr/>
          <p:nvPr/>
        </p:nvSpPr>
        <p:spPr>
          <a:xfrm>
            <a:off x="342986" y="994410"/>
            <a:ext cx="8457900" cy="207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0"/>
          <p:cNvSpPr txBox="1"/>
          <p:nvPr/>
        </p:nvSpPr>
        <p:spPr>
          <a:xfrm>
            <a:off x="8574645" y="4869180"/>
            <a:ext cx="54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6 / 27</a:t>
            </a:r>
            <a:endParaRPr sz="1100"/>
          </a:p>
        </p:txBody>
      </p:sp>
      <p:pic>
        <p:nvPicPr>
          <p:cNvPr id="266" name="Google Shape;26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5875" y="1101325"/>
            <a:ext cx="4994893" cy="394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2 — ARCHITECTURAL DESIGN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73" name="Google Shape;273;p31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Sequence Diagram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74" name="Google Shape;274;p31"/>
          <p:cNvSpPr/>
          <p:nvPr/>
        </p:nvSpPr>
        <p:spPr>
          <a:xfrm>
            <a:off x="342986" y="994410"/>
            <a:ext cx="8457900" cy="207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1"/>
          <p:cNvSpPr txBox="1"/>
          <p:nvPr/>
        </p:nvSpPr>
        <p:spPr>
          <a:xfrm>
            <a:off x="8574645" y="4869180"/>
            <a:ext cx="54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7 / 27</a:t>
            </a:r>
            <a:endParaRPr sz="1100"/>
          </a:p>
        </p:txBody>
      </p:sp>
      <p:pic>
        <p:nvPicPr>
          <p:cNvPr id="276" name="Google Shape;27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0613" y="1181235"/>
            <a:ext cx="6602624" cy="3823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2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2 — ARCHITECTURAL DESIGN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83" name="Google Shape;283;p32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 Interaction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84" name="Google Shape;284;p32"/>
          <p:cNvSpPr/>
          <p:nvPr/>
        </p:nvSpPr>
        <p:spPr>
          <a:xfrm>
            <a:off x="342986" y="994410"/>
            <a:ext cx="8457900" cy="207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2"/>
          <p:cNvSpPr txBox="1"/>
          <p:nvPr/>
        </p:nvSpPr>
        <p:spPr>
          <a:xfrm>
            <a:off x="8574645" y="4869180"/>
            <a:ext cx="54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8 / 27</a:t>
            </a:r>
            <a:endParaRPr sz="1100"/>
          </a:p>
        </p:txBody>
      </p:sp>
      <p:pic>
        <p:nvPicPr>
          <p:cNvPr id="286" name="Google Shape;28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3000" y="1332877"/>
            <a:ext cx="6446500" cy="315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3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2 — COMPONENT SPECIFICATIONS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93" name="Google Shape;293;p33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Components &amp; Technologies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94" name="Google Shape;294;p33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3"/>
          <p:cNvSpPr/>
          <p:nvPr/>
        </p:nvSpPr>
        <p:spPr>
          <a:xfrm>
            <a:off x="342986" y="1363340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3"/>
          <p:cNvSpPr/>
          <p:nvPr/>
        </p:nvSpPr>
        <p:spPr>
          <a:xfrm>
            <a:off x="342986" y="1363340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3"/>
          <p:cNvSpPr txBox="1"/>
          <p:nvPr/>
        </p:nvSpPr>
        <p:spPr>
          <a:xfrm>
            <a:off x="493900" y="1418195"/>
            <a:ext cx="3556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BFS Orchestrator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98" name="Google Shape;298;p33"/>
          <p:cNvSpPr txBox="1"/>
          <p:nvPr/>
        </p:nvSpPr>
        <p:spPr>
          <a:xfrm>
            <a:off x="493900" y="1637653"/>
            <a:ext cx="3556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deque BFS · configurable depth (default 2) · bounded worker pool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99" name="Google Shape;299;p33"/>
          <p:cNvSpPr/>
          <p:nvPr/>
        </p:nvSpPr>
        <p:spPr>
          <a:xfrm>
            <a:off x="4822380" y="1363340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3"/>
          <p:cNvSpPr/>
          <p:nvPr/>
        </p:nvSpPr>
        <p:spPr>
          <a:xfrm>
            <a:off x="4822380" y="1363340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3"/>
          <p:cNvSpPr txBox="1"/>
          <p:nvPr/>
        </p:nvSpPr>
        <p:spPr>
          <a:xfrm>
            <a:off x="4973299" y="1418195"/>
            <a:ext cx="3333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 Intelligence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2" name="Google Shape;302;p33"/>
          <p:cNvSpPr txBox="1"/>
          <p:nvPr/>
        </p:nvSpPr>
        <p:spPr>
          <a:xfrm>
            <a:off x="4973299" y="1637650"/>
            <a:ext cx="333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phonenumbers · E.164 validation · carrier, region and line type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3" name="Google Shape;303;p33"/>
          <p:cNvSpPr/>
          <p:nvPr/>
        </p:nvSpPr>
        <p:spPr>
          <a:xfrm>
            <a:off x="342986" y="2035424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3"/>
          <p:cNvSpPr/>
          <p:nvPr/>
        </p:nvSpPr>
        <p:spPr>
          <a:xfrm>
            <a:off x="342986" y="2035424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3"/>
          <p:cNvSpPr txBox="1"/>
          <p:nvPr/>
        </p:nvSpPr>
        <p:spPr>
          <a:xfrm>
            <a:off x="493900" y="2090295"/>
            <a:ext cx="3556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Intelligence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6" name="Google Shape;306;p33"/>
          <p:cNvSpPr txBox="1"/>
          <p:nvPr/>
        </p:nvSpPr>
        <p:spPr>
          <a:xfrm>
            <a:off x="493900" y="2309753"/>
            <a:ext cx="3556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holehe (120+ services) · HIBP · LeakOSINT (opt-in, keyed)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7" name="Google Shape;307;p33"/>
          <p:cNvSpPr/>
          <p:nvPr/>
        </p:nvSpPr>
        <p:spPr>
          <a:xfrm>
            <a:off x="4822380" y="2035424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3"/>
          <p:cNvSpPr/>
          <p:nvPr/>
        </p:nvSpPr>
        <p:spPr>
          <a:xfrm>
            <a:off x="4822380" y="2035424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3"/>
          <p:cNvSpPr txBox="1"/>
          <p:nvPr/>
        </p:nvSpPr>
        <p:spPr>
          <a:xfrm>
            <a:off x="4973299" y="2090279"/>
            <a:ext cx="3333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Username Enumeration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10" name="Google Shape;310;p33"/>
          <p:cNvSpPr txBox="1"/>
          <p:nvPr/>
        </p:nvSpPr>
        <p:spPr>
          <a:xfrm>
            <a:off x="4973299" y="2309736"/>
            <a:ext cx="3333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sherlock · maigret · usufy · native sweep · exact-username filtering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11" name="Google Shape;311;p33"/>
          <p:cNvSpPr/>
          <p:nvPr/>
        </p:nvSpPr>
        <p:spPr>
          <a:xfrm>
            <a:off x="342986" y="2707508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3"/>
          <p:cNvSpPr/>
          <p:nvPr/>
        </p:nvSpPr>
        <p:spPr>
          <a:xfrm>
            <a:off x="342986" y="2707508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3"/>
          <p:cNvSpPr txBox="1"/>
          <p:nvPr/>
        </p:nvSpPr>
        <p:spPr>
          <a:xfrm>
            <a:off x="493900" y="2762370"/>
            <a:ext cx="3439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Intelligence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14" name="Google Shape;314;p33"/>
          <p:cNvSpPr txBox="1"/>
          <p:nvPr/>
        </p:nvSpPr>
        <p:spPr>
          <a:xfrm>
            <a:off x="493900" y="2981828"/>
            <a:ext cx="343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exiftool + Pillow EXIF/GPS · optional dlib face similarity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15" name="Google Shape;315;p33"/>
          <p:cNvSpPr/>
          <p:nvPr/>
        </p:nvSpPr>
        <p:spPr>
          <a:xfrm>
            <a:off x="4822380" y="2707508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3"/>
          <p:cNvSpPr/>
          <p:nvPr/>
        </p:nvSpPr>
        <p:spPr>
          <a:xfrm>
            <a:off x="4822380" y="2707508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3"/>
          <p:cNvSpPr txBox="1"/>
          <p:nvPr/>
        </p:nvSpPr>
        <p:spPr>
          <a:xfrm>
            <a:off x="4973299" y="2762364"/>
            <a:ext cx="3333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Identity Graph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18" name="Google Shape;318;p33"/>
          <p:cNvSpPr txBox="1"/>
          <p:nvPr/>
        </p:nvSpPr>
        <p:spPr>
          <a:xfrm>
            <a:off x="4973299" y="2981820"/>
            <a:ext cx="3333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NetworkX DiGraph · weakly connected components · pyvis graph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19" name="Google Shape;319;p33"/>
          <p:cNvSpPr/>
          <p:nvPr/>
        </p:nvSpPr>
        <p:spPr>
          <a:xfrm>
            <a:off x="342986" y="3379592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3"/>
          <p:cNvSpPr/>
          <p:nvPr/>
        </p:nvSpPr>
        <p:spPr>
          <a:xfrm>
            <a:off x="342986" y="3379592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3"/>
          <p:cNvSpPr txBox="1"/>
          <p:nvPr/>
        </p:nvSpPr>
        <p:spPr>
          <a:xfrm>
            <a:off x="493900" y="3434445"/>
            <a:ext cx="328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Confidence Scorer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22" name="Google Shape;322;p33"/>
          <p:cNvSpPr txBox="1"/>
          <p:nvPr/>
        </p:nvSpPr>
        <p:spPr>
          <a:xfrm>
            <a:off x="493900" y="3653903"/>
            <a:ext cx="3287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Typed link weights · staleness decay · per-score provenance breakdown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23" name="Google Shape;323;p33"/>
          <p:cNvSpPr/>
          <p:nvPr/>
        </p:nvSpPr>
        <p:spPr>
          <a:xfrm>
            <a:off x="4822380" y="3379592"/>
            <a:ext cx="40473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3"/>
          <p:cNvSpPr/>
          <p:nvPr/>
        </p:nvSpPr>
        <p:spPr>
          <a:xfrm>
            <a:off x="4822380" y="3379592"/>
            <a:ext cx="48000" cy="534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3"/>
          <p:cNvSpPr txBox="1"/>
          <p:nvPr/>
        </p:nvSpPr>
        <p:spPr>
          <a:xfrm>
            <a:off x="4973299" y="3434449"/>
            <a:ext cx="3333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 &amp; Export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26" name="Google Shape;326;p33"/>
          <p:cNvSpPr txBox="1"/>
          <p:nvPr/>
        </p:nvSpPr>
        <p:spPr>
          <a:xfrm>
            <a:off x="4973299" y="3653905"/>
            <a:ext cx="333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Jinja2 HTML · JSON · CSV · PDF via pandoc · redacted twin file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27" name="Google Shape;327;p33"/>
          <p:cNvSpPr/>
          <p:nvPr/>
        </p:nvSpPr>
        <p:spPr>
          <a:xfrm>
            <a:off x="342986" y="4375404"/>
            <a:ext cx="8458030" cy="58293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3"/>
          <p:cNvSpPr txBox="1"/>
          <p:nvPr/>
        </p:nvSpPr>
        <p:spPr>
          <a:xfrm>
            <a:off x="411583" y="4409694"/>
            <a:ext cx="1977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400+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29" name="Google Shape;329;p33"/>
          <p:cNvSpPr txBox="1"/>
          <p:nvPr/>
        </p:nvSpPr>
        <p:spPr>
          <a:xfrm>
            <a:off x="411583" y="4704587"/>
            <a:ext cx="1977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Platforms probed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30" name="Google Shape;330;p33"/>
          <p:cNvSpPr txBox="1"/>
          <p:nvPr/>
        </p:nvSpPr>
        <p:spPr>
          <a:xfrm>
            <a:off x="2526090" y="4409694"/>
            <a:ext cx="1977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31" name="Google Shape;331;p33"/>
          <p:cNvSpPr txBox="1"/>
          <p:nvPr/>
        </p:nvSpPr>
        <p:spPr>
          <a:xfrm>
            <a:off x="2526090" y="4704587"/>
            <a:ext cx="1977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Native OSINT modules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32" name="Google Shape;332;p33"/>
          <p:cNvSpPr txBox="1"/>
          <p:nvPr/>
        </p:nvSpPr>
        <p:spPr>
          <a:xfrm>
            <a:off x="4640598" y="4409694"/>
            <a:ext cx="1977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100+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33" name="Google Shape;333;p33"/>
          <p:cNvSpPr txBox="1"/>
          <p:nvPr/>
        </p:nvSpPr>
        <p:spPr>
          <a:xfrm>
            <a:off x="4640598" y="4704587"/>
            <a:ext cx="1977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Email services (holehe)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34" name="Google Shape;334;p33"/>
          <p:cNvSpPr txBox="1"/>
          <p:nvPr/>
        </p:nvSpPr>
        <p:spPr>
          <a:xfrm>
            <a:off x="6755105" y="4409694"/>
            <a:ext cx="1977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35" name="Google Shape;335;p33"/>
          <p:cNvSpPr txBox="1"/>
          <p:nvPr/>
        </p:nvSpPr>
        <p:spPr>
          <a:xfrm>
            <a:off x="6755105" y="4704587"/>
            <a:ext cx="1977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External tools integrated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36" name="Google Shape;336;p33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9 / 27</a:t>
            </a:r>
            <a:endParaRPr sz="1100"/>
          </a:p>
        </p:txBody>
      </p:sp>
      <p:pic>
        <p:nvPicPr>
          <p:cNvPr id="337" name="Google Shape;33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4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2 — DATA FLOW &amp; TRUST BOUNDARIES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43" name="Google Shape;343;p34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Zero Trust Data Flow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44" name="Google Shape;344;p34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4"/>
          <p:cNvSpPr/>
          <p:nvPr/>
        </p:nvSpPr>
        <p:spPr>
          <a:xfrm>
            <a:off x="342975" y="1131574"/>
            <a:ext cx="48000" cy="31965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4"/>
          <p:cNvSpPr txBox="1"/>
          <p:nvPr/>
        </p:nvSpPr>
        <p:spPr>
          <a:xfrm>
            <a:off x="480180" y="1213866"/>
            <a:ext cx="2400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TRUSTED — LOCAL HOST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47" name="Google Shape;347;p34"/>
          <p:cNvSpPr/>
          <p:nvPr/>
        </p:nvSpPr>
        <p:spPr>
          <a:xfrm>
            <a:off x="480180" y="1577340"/>
            <a:ext cx="2366601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4"/>
          <p:cNvSpPr txBox="1"/>
          <p:nvPr/>
        </p:nvSpPr>
        <p:spPr>
          <a:xfrm>
            <a:off x="583075" y="1645925"/>
            <a:ext cx="130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 Input Validation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49" name="Google Shape;349;p34"/>
          <p:cNvSpPr/>
          <p:nvPr/>
        </p:nvSpPr>
        <p:spPr>
          <a:xfrm>
            <a:off x="480180" y="2139695"/>
            <a:ext cx="2366601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4"/>
          <p:cNvSpPr txBox="1"/>
          <p:nvPr/>
        </p:nvSpPr>
        <p:spPr>
          <a:xfrm>
            <a:off x="583075" y="2208278"/>
            <a:ext cx="130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BFS Orchestrator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51" name="Google Shape;351;p34"/>
          <p:cNvSpPr/>
          <p:nvPr/>
        </p:nvSpPr>
        <p:spPr>
          <a:xfrm>
            <a:off x="480180" y="2702051"/>
            <a:ext cx="2366601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4"/>
          <p:cNvSpPr txBox="1"/>
          <p:nvPr/>
        </p:nvSpPr>
        <p:spPr>
          <a:xfrm>
            <a:off x="583075" y="2770631"/>
            <a:ext cx="130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SQLite DB (local)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53" name="Google Shape;353;p34"/>
          <p:cNvSpPr/>
          <p:nvPr/>
        </p:nvSpPr>
        <p:spPr>
          <a:xfrm>
            <a:off x="480180" y="3264408"/>
            <a:ext cx="2366601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4"/>
          <p:cNvSpPr txBox="1"/>
          <p:nvPr/>
        </p:nvSpPr>
        <p:spPr>
          <a:xfrm>
            <a:off x="583075" y="3332984"/>
            <a:ext cx="130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 dispatch + parsers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55" name="Google Shape;355;p34"/>
          <p:cNvSpPr/>
          <p:nvPr/>
        </p:nvSpPr>
        <p:spPr>
          <a:xfrm>
            <a:off x="480180" y="3826764"/>
            <a:ext cx="2366601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4"/>
          <p:cNvSpPr txBox="1"/>
          <p:nvPr/>
        </p:nvSpPr>
        <p:spPr>
          <a:xfrm>
            <a:off x="583075" y="3895338"/>
            <a:ext cx="130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Evidence store (SHA-256)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57" name="Google Shape;357;p34"/>
          <p:cNvSpPr/>
          <p:nvPr/>
        </p:nvSpPr>
        <p:spPr>
          <a:xfrm>
            <a:off x="3155469" y="1131574"/>
            <a:ext cx="48000" cy="31965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4"/>
          <p:cNvSpPr txBox="1"/>
          <p:nvPr/>
        </p:nvSpPr>
        <p:spPr>
          <a:xfrm>
            <a:off x="3292664" y="1213866"/>
            <a:ext cx="253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UNTRUSTED — EXTERNAL APIs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59" name="Google Shape;359;p34"/>
          <p:cNvSpPr/>
          <p:nvPr/>
        </p:nvSpPr>
        <p:spPr>
          <a:xfrm>
            <a:off x="3292664" y="1577340"/>
            <a:ext cx="2503796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4"/>
          <p:cNvSpPr txBox="1"/>
          <p:nvPr/>
        </p:nvSpPr>
        <p:spPr>
          <a:xfrm>
            <a:off x="3395553" y="1645925"/>
            <a:ext cx="1595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HaveIBeenPwned API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61" name="Google Shape;361;p34"/>
          <p:cNvSpPr/>
          <p:nvPr/>
        </p:nvSpPr>
        <p:spPr>
          <a:xfrm>
            <a:off x="3292664" y="2139695"/>
            <a:ext cx="2503796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4"/>
          <p:cNvSpPr txBox="1"/>
          <p:nvPr/>
        </p:nvSpPr>
        <p:spPr>
          <a:xfrm>
            <a:off x="3395553" y="2208278"/>
            <a:ext cx="1595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holehe / maigret probes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63" name="Google Shape;363;p34"/>
          <p:cNvSpPr/>
          <p:nvPr/>
        </p:nvSpPr>
        <p:spPr>
          <a:xfrm>
            <a:off x="3292664" y="2702051"/>
            <a:ext cx="2503796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4"/>
          <p:cNvSpPr txBox="1"/>
          <p:nvPr/>
        </p:nvSpPr>
        <p:spPr>
          <a:xfrm>
            <a:off x="3395553" y="2770631"/>
            <a:ext cx="1595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sherlock / usufy probes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65" name="Google Shape;365;p34"/>
          <p:cNvSpPr/>
          <p:nvPr/>
        </p:nvSpPr>
        <p:spPr>
          <a:xfrm>
            <a:off x="3292664" y="3264408"/>
            <a:ext cx="2503796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4"/>
          <p:cNvSpPr txBox="1"/>
          <p:nvPr/>
        </p:nvSpPr>
        <p:spPr>
          <a:xfrm>
            <a:off x="3395553" y="3332984"/>
            <a:ext cx="1595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WHOIS Servers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67" name="Google Shape;367;p34"/>
          <p:cNvSpPr/>
          <p:nvPr/>
        </p:nvSpPr>
        <p:spPr>
          <a:xfrm>
            <a:off x="3292664" y="3826764"/>
            <a:ext cx="2503796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4"/>
          <p:cNvSpPr txBox="1"/>
          <p:nvPr/>
        </p:nvSpPr>
        <p:spPr>
          <a:xfrm>
            <a:off x="3395553" y="3895338"/>
            <a:ext cx="1595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Wayback CDX · Shodan · search engines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69" name="Google Shape;369;p34"/>
          <p:cNvSpPr/>
          <p:nvPr/>
        </p:nvSpPr>
        <p:spPr>
          <a:xfrm>
            <a:off x="6105157" y="1131574"/>
            <a:ext cx="48000" cy="31965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4"/>
          <p:cNvSpPr txBox="1"/>
          <p:nvPr/>
        </p:nvSpPr>
        <p:spPr>
          <a:xfrm>
            <a:off x="6242342" y="1213866"/>
            <a:ext cx="2503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SANITIZED — PARSED OUTPUT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71" name="Google Shape;371;p34"/>
          <p:cNvSpPr/>
          <p:nvPr/>
        </p:nvSpPr>
        <p:spPr>
          <a:xfrm>
            <a:off x="6242342" y="1577340"/>
            <a:ext cx="2469498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4"/>
          <p:cNvSpPr txBox="1"/>
          <p:nvPr/>
        </p:nvSpPr>
        <p:spPr>
          <a:xfrm>
            <a:off x="6345230" y="1645925"/>
            <a:ext cx="1477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Schema Validation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73" name="Google Shape;373;p34"/>
          <p:cNvSpPr/>
          <p:nvPr/>
        </p:nvSpPr>
        <p:spPr>
          <a:xfrm>
            <a:off x="6242342" y="2139695"/>
            <a:ext cx="2469498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4"/>
          <p:cNvSpPr txBox="1"/>
          <p:nvPr/>
        </p:nvSpPr>
        <p:spPr>
          <a:xfrm>
            <a:off x="6345230" y="2208278"/>
            <a:ext cx="1477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eval() / exec()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75" name="Google Shape;375;p34"/>
          <p:cNvSpPr/>
          <p:nvPr/>
        </p:nvSpPr>
        <p:spPr>
          <a:xfrm>
            <a:off x="6242342" y="2702051"/>
            <a:ext cx="2469498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4"/>
          <p:cNvSpPr txBox="1"/>
          <p:nvPr/>
        </p:nvSpPr>
        <p:spPr>
          <a:xfrm>
            <a:off x="6345230" y="2770631"/>
            <a:ext cx="1477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Type-checked insertion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77" name="Google Shape;377;p34"/>
          <p:cNvSpPr/>
          <p:nvPr/>
        </p:nvSpPr>
        <p:spPr>
          <a:xfrm>
            <a:off x="6242342" y="3264408"/>
            <a:ext cx="2469498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4"/>
          <p:cNvSpPr txBox="1"/>
          <p:nvPr/>
        </p:nvSpPr>
        <p:spPr>
          <a:xfrm>
            <a:off x="6345230" y="3332984"/>
            <a:ext cx="1477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Provenance metadata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79" name="Google Shape;379;p34"/>
          <p:cNvSpPr/>
          <p:nvPr/>
        </p:nvSpPr>
        <p:spPr>
          <a:xfrm>
            <a:off x="6242342" y="3826764"/>
            <a:ext cx="2469498" cy="37719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4"/>
          <p:cNvSpPr txBox="1"/>
          <p:nvPr/>
        </p:nvSpPr>
        <p:spPr>
          <a:xfrm>
            <a:off x="6345230" y="3895338"/>
            <a:ext cx="1477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Evidence chain store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81" name="Google Shape;381;p34"/>
          <p:cNvSpPr/>
          <p:nvPr/>
        </p:nvSpPr>
        <p:spPr>
          <a:xfrm>
            <a:off x="2963397" y="2434590"/>
            <a:ext cx="384144" cy="6172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4"/>
          <p:cNvSpPr txBox="1"/>
          <p:nvPr/>
        </p:nvSpPr>
        <p:spPr>
          <a:xfrm>
            <a:off x="2471572" y="2412625"/>
            <a:ext cx="8211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</a:t>
            </a:r>
            <a:b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TLS 1.3</a:t>
            </a:r>
            <a:b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-&gt;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383" name="Google Shape;383;p34"/>
          <p:cNvSpPr/>
          <p:nvPr/>
        </p:nvSpPr>
        <p:spPr>
          <a:xfrm>
            <a:off x="5913074" y="2434590"/>
            <a:ext cx="384144" cy="6172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4"/>
          <p:cNvSpPr txBox="1"/>
          <p:nvPr/>
        </p:nvSpPr>
        <p:spPr>
          <a:xfrm>
            <a:off x="5503644" y="2434600"/>
            <a:ext cx="8211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Parsed</a:t>
            </a:r>
            <a:b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-&gt;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385" name="Google Shape;385;p34"/>
          <p:cNvSpPr/>
          <p:nvPr/>
        </p:nvSpPr>
        <p:spPr>
          <a:xfrm>
            <a:off x="480175" y="4903475"/>
            <a:ext cx="8320800" cy="1716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4"/>
          <p:cNvSpPr txBox="1"/>
          <p:nvPr/>
        </p:nvSpPr>
        <p:spPr>
          <a:xfrm>
            <a:off x="480175" y="4883443"/>
            <a:ext cx="823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TLS verified  ·  keys in env vars only  ·  argv lists, never a shell  ·  each tool in its own process group</a:t>
            </a:r>
            <a:endParaRPr sz="1300"/>
          </a:p>
        </p:txBody>
      </p:sp>
      <p:sp>
        <p:nvSpPr>
          <p:cNvPr id="387" name="Google Shape;387;p34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10 / 27</a:t>
            </a:r>
            <a:endParaRPr sz="1100"/>
          </a:p>
        </p:txBody>
      </p:sp>
      <p:pic>
        <p:nvPicPr>
          <p:cNvPr id="388" name="Google Shape;38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5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2 — TECHNOLOGY STACK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94" name="Google Shape;394;p35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Technology Stack, As Shipped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95" name="Google Shape;395;p35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5"/>
          <p:cNvSpPr/>
          <p:nvPr/>
        </p:nvSpPr>
        <p:spPr>
          <a:xfrm>
            <a:off x="342986" y="1097280"/>
            <a:ext cx="1234749" cy="26060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5"/>
          <p:cNvSpPr txBox="1"/>
          <p:nvPr/>
        </p:nvSpPr>
        <p:spPr>
          <a:xfrm>
            <a:off x="397864" y="1131570"/>
            <a:ext cx="116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</a:t>
            </a:r>
            <a:endParaRPr sz="1300"/>
          </a:p>
        </p:txBody>
      </p:sp>
      <p:sp>
        <p:nvSpPr>
          <p:cNvPr id="398" name="Google Shape;398;p35"/>
          <p:cNvSpPr/>
          <p:nvPr/>
        </p:nvSpPr>
        <p:spPr>
          <a:xfrm>
            <a:off x="1612033" y="1097280"/>
            <a:ext cx="1783526" cy="26060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5"/>
          <p:cNvSpPr txBox="1"/>
          <p:nvPr/>
        </p:nvSpPr>
        <p:spPr>
          <a:xfrm>
            <a:off x="1666911" y="1131570"/>
            <a:ext cx="171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sz="1300"/>
          </a:p>
        </p:txBody>
      </p:sp>
      <p:sp>
        <p:nvSpPr>
          <p:cNvPr id="400" name="Google Shape;400;p35"/>
          <p:cNvSpPr/>
          <p:nvPr/>
        </p:nvSpPr>
        <p:spPr>
          <a:xfrm>
            <a:off x="3416139" y="1097280"/>
            <a:ext cx="754569" cy="26060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5"/>
          <p:cNvSpPr txBox="1"/>
          <p:nvPr/>
        </p:nvSpPr>
        <p:spPr>
          <a:xfrm>
            <a:off x="3471016" y="1131570"/>
            <a:ext cx="6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</a:t>
            </a:r>
            <a:endParaRPr sz="1300"/>
          </a:p>
        </p:txBody>
      </p:sp>
      <p:sp>
        <p:nvSpPr>
          <p:cNvPr id="402" name="Google Shape;402;p35"/>
          <p:cNvSpPr/>
          <p:nvPr/>
        </p:nvSpPr>
        <p:spPr>
          <a:xfrm>
            <a:off x="4205006" y="1097280"/>
            <a:ext cx="4390218" cy="26060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5"/>
          <p:cNvSpPr txBox="1"/>
          <p:nvPr/>
        </p:nvSpPr>
        <p:spPr>
          <a:xfrm>
            <a:off x="4259884" y="1131570"/>
            <a:ext cx="4321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Justification</a:t>
            </a:r>
            <a:endParaRPr sz="1300"/>
          </a:p>
        </p:txBody>
      </p:sp>
      <p:sp>
        <p:nvSpPr>
          <p:cNvPr id="404" name="Google Shape;404;p35"/>
          <p:cNvSpPr/>
          <p:nvPr/>
        </p:nvSpPr>
        <p:spPr>
          <a:xfrm>
            <a:off x="342986" y="1357884"/>
            <a:ext cx="123474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5"/>
          <p:cNvSpPr txBox="1"/>
          <p:nvPr/>
        </p:nvSpPr>
        <p:spPr>
          <a:xfrm>
            <a:off x="411583" y="1412748"/>
            <a:ext cx="115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Language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1612033" y="1357884"/>
            <a:ext cx="1783526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5"/>
          <p:cNvSpPr txBox="1"/>
          <p:nvPr/>
        </p:nvSpPr>
        <p:spPr>
          <a:xfrm>
            <a:off x="1680630" y="1412748"/>
            <a:ext cx="1701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08" name="Google Shape;408;p35"/>
          <p:cNvSpPr/>
          <p:nvPr/>
        </p:nvSpPr>
        <p:spPr>
          <a:xfrm>
            <a:off x="3416139" y="1357884"/>
            <a:ext cx="75456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5"/>
          <p:cNvSpPr txBox="1"/>
          <p:nvPr/>
        </p:nvSpPr>
        <p:spPr>
          <a:xfrm>
            <a:off x="3484736" y="1412748"/>
            <a:ext cx="67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3.10+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10" name="Google Shape;410;p35"/>
          <p:cNvSpPr/>
          <p:nvPr/>
        </p:nvSpPr>
        <p:spPr>
          <a:xfrm>
            <a:off x="4205006" y="1357884"/>
            <a:ext cx="4390218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5"/>
          <p:cNvSpPr txBox="1"/>
          <p:nvPr/>
        </p:nvSpPr>
        <p:spPr>
          <a:xfrm>
            <a:off x="4273603" y="1412748"/>
            <a:ext cx="430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OSINT ecosystem; async support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12" name="Google Shape;412;p35"/>
          <p:cNvSpPr/>
          <p:nvPr/>
        </p:nvSpPr>
        <p:spPr>
          <a:xfrm>
            <a:off x="342986" y="1645920"/>
            <a:ext cx="123474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5"/>
          <p:cNvSpPr txBox="1"/>
          <p:nvPr/>
        </p:nvSpPr>
        <p:spPr>
          <a:xfrm>
            <a:off x="411583" y="1700784"/>
            <a:ext cx="115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14" name="Google Shape;414;p35"/>
          <p:cNvSpPr/>
          <p:nvPr/>
        </p:nvSpPr>
        <p:spPr>
          <a:xfrm>
            <a:off x="1612033" y="1645920"/>
            <a:ext cx="1783526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5"/>
          <p:cNvSpPr txBox="1"/>
          <p:nvPr/>
        </p:nvSpPr>
        <p:spPr>
          <a:xfrm>
            <a:off x="1680630" y="1700784"/>
            <a:ext cx="1701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16" name="Google Shape;416;p35"/>
          <p:cNvSpPr/>
          <p:nvPr/>
        </p:nvSpPr>
        <p:spPr>
          <a:xfrm>
            <a:off x="3416139" y="1645920"/>
            <a:ext cx="75456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5"/>
          <p:cNvSpPr txBox="1"/>
          <p:nvPr/>
        </p:nvSpPr>
        <p:spPr>
          <a:xfrm>
            <a:off x="3484736" y="1700784"/>
            <a:ext cx="67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≥8.1.0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18" name="Google Shape;418;p35"/>
          <p:cNvSpPr/>
          <p:nvPr/>
        </p:nvSpPr>
        <p:spPr>
          <a:xfrm>
            <a:off x="4205006" y="1645920"/>
            <a:ext cx="4390218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5"/>
          <p:cNvSpPr txBox="1"/>
          <p:nvPr/>
        </p:nvSpPr>
        <p:spPr>
          <a:xfrm>
            <a:off x="4273603" y="1700784"/>
            <a:ext cx="430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Type-safe argument parsing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20" name="Google Shape;420;p35"/>
          <p:cNvSpPr/>
          <p:nvPr/>
        </p:nvSpPr>
        <p:spPr>
          <a:xfrm>
            <a:off x="342986" y="1933956"/>
            <a:ext cx="123474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5"/>
          <p:cNvSpPr txBox="1"/>
          <p:nvPr/>
        </p:nvSpPr>
        <p:spPr>
          <a:xfrm>
            <a:off x="411583" y="1988820"/>
            <a:ext cx="115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 Intel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22" name="Google Shape;422;p35"/>
          <p:cNvSpPr/>
          <p:nvPr/>
        </p:nvSpPr>
        <p:spPr>
          <a:xfrm>
            <a:off x="1612033" y="1933956"/>
            <a:ext cx="1783526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5"/>
          <p:cNvSpPr txBox="1"/>
          <p:nvPr/>
        </p:nvSpPr>
        <p:spPr>
          <a:xfrm>
            <a:off x="1680630" y="1988820"/>
            <a:ext cx="1701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phonenumbers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24" name="Google Shape;424;p35"/>
          <p:cNvSpPr/>
          <p:nvPr/>
        </p:nvSpPr>
        <p:spPr>
          <a:xfrm>
            <a:off x="3416139" y="1933956"/>
            <a:ext cx="75456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5"/>
          <p:cNvSpPr txBox="1"/>
          <p:nvPr/>
        </p:nvSpPr>
        <p:spPr>
          <a:xfrm>
            <a:off x="3484736" y="1988820"/>
            <a:ext cx="67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≥8.13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26" name="Google Shape;426;p35"/>
          <p:cNvSpPr/>
          <p:nvPr/>
        </p:nvSpPr>
        <p:spPr>
          <a:xfrm>
            <a:off x="4205006" y="1933956"/>
            <a:ext cx="4390218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5"/>
          <p:cNvSpPr txBox="1"/>
          <p:nvPr/>
        </p:nvSpPr>
        <p:spPr>
          <a:xfrm>
            <a:off x="4273603" y="1988820"/>
            <a:ext cx="430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E.164 parsing; carrier resolution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28" name="Google Shape;428;p35"/>
          <p:cNvSpPr/>
          <p:nvPr/>
        </p:nvSpPr>
        <p:spPr>
          <a:xfrm>
            <a:off x="342986" y="2221992"/>
            <a:ext cx="123474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5"/>
          <p:cNvSpPr txBox="1"/>
          <p:nvPr/>
        </p:nvSpPr>
        <p:spPr>
          <a:xfrm>
            <a:off x="411583" y="2276856"/>
            <a:ext cx="115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Intel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30" name="Google Shape;430;p35"/>
          <p:cNvSpPr/>
          <p:nvPr/>
        </p:nvSpPr>
        <p:spPr>
          <a:xfrm>
            <a:off x="1612033" y="2221992"/>
            <a:ext cx="1783526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5"/>
          <p:cNvSpPr txBox="1"/>
          <p:nvPr/>
        </p:nvSpPr>
        <p:spPr>
          <a:xfrm>
            <a:off x="1680630" y="2276856"/>
            <a:ext cx="1701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holehe + HIBP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32" name="Google Shape;432;p35"/>
          <p:cNvSpPr/>
          <p:nvPr/>
        </p:nvSpPr>
        <p:spPr>
          <a:xfrm>
            <a:off x="3416139" y="2221992"/>
            <a:ext cx="75456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5"/>
          <p:cNvSpPr txBox="1"/>
          <p:nvPr/>
        </p:nvSpPr>
        <p:spPr>
          <a:xfrm>
            <a:off x="3484736" y="2276856"/>
            <a:ext cx="67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Latest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34" name="Google Shape;434;p35"/>
          <p:cNvSpPr/>
          <p:nvPr/>
        </p:nvSpPr>
        <p:spPr>
          <a:xfrm>
            <a:off x="4205006" y="2221992"/>
            <a:ext cx="4390218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5"/>
          <p:cNvSpPr txBox="1"/>
          <p:nvPr/>
        </p:nvSpPr>
        <p:spPr>
          <a:xfrm>
            <a:off x="4273603" y="2276856"/>
            <a:ext cx="430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120+ services; CSV output parsed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36" name="Google Shape;436;p35"/>
          <p:cNvSpPr/>
          <p:nvPr/>
        </p:nvSpPr>
        <p:spPr>
          <a:xfrm>
            <a:off x="342986" y="2510028"/>
            <a:ext cx="123474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5"/>
          <p:cNvSpPr txBox="1"/>
          <p:nvPr/>
        </p:nvSpPr>
        <p:spPr>
          <a:xfrm>
            <a:off x="411583" y="2564892"/>
            <a:ext cx="115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Username Enum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38" name="Google Shape;438;p35"/>
          <p:cNvSpPr/>
          <p:nvPr/>
        </p:nvSpPr>
        <p:spPr>
          <a:xfrm>
            <a:off x="1612033" y="2510028"/>
            <a:ext cx="1783526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5"/>
          <p:cNvSpPr txBox="1"/>
          <p:nvPr/>
        </p:nvSpPr>
        <p:spPr>
          <a:xfrm>
            <a:off x="1680630" y="2564892"/>
            <a:ext cx="1701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sherlock / maigret / usufy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40" name="Google Shape;440;p35"/>
          <p:cNvSpPr/>
          <p:nvPr/>
        </p:nvSpPr>
        <p:spPr>
          <a:xfrm>
            <a:off x="3416139" y="2510028"/>
            <a:ext cx="75456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5"/>
          <p:cNvSpPr txBox="1"/>
          <p:nvPr/>
        </p:nvSpPr>
        <p:spPr>
          <a:xfrm>
            <a:off x="3484736" y="2564892"/>
            <a:ext cx="67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Latest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42" name="Google Shape;442;p35"/>
          <p:cNvSpPr/>
          <p:nvPr/>
        </p:nvSpPr>
        <p:spPr>
          <a:xfrm>
            <a:off x="4205006" y="2510028"/>
            <a:ext cx="4390218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5"/>
          <p:cNvSpPr txBox="1"/>
          <p:nvPr/>
        </p:nvSpPr>
        <p:spPr>
          <a:xfrm>
            <a:off x="4273603" y="2564892"/>
            <a:ext cx="430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Native NDJSON + tree output parsed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44" name="Google Shape;444;p35"/>
          <p:cNvSpPr/>
          <p:nvPr/>
        </p:nvSpPr>
        <p:spPr>
          <a:xfrm>
            <a:off x="342986" y="2798064"/>
            <a:ext cx="123474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5"/>
          <p:cNvSpPr txBox="1"/>
          <p:nvPr/>
        </p:nvSpPr>
        <p:spPr>
          <a:xfrm>
            <a:off x="411583" y="2852928"/>
            <a:ext cx="115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Analysis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46" name="Google Shape;446;p35"/>
          <p:cNvSpPr/>
          <p:nvPr/>
        </p:nvSpPr>
        <p:spPr>
          <a:xfrm>
            <a:off x="1612033" y="2798064"/>
            <a:ext cx="1783526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5"/>
          <p:cNvSpPr txBox="1"/>
          <p:nvPr/>
        </p:nvSpPr>
        <p:spPr>
          <a:xfrm>
            <a:off x="1680630" y="2852928"/>
            <a:ext cx="1701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Pillow + exiftool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48" name="Google Shape;448;p35"/>
          <p:cNvSpPr/>
          <p:nvPr/>
        </p:nvSpPr>
        <p:spPr>
          <a:xfrm>
            <a:off x="3416139" y="2798064"/>
            <a:ext cx="75456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5"/>
          <p:cNvSpPr txBox="1"/>
          <p:nvPr/>
        </p:nvSpPr>
        <p:spPr>
          <a:xfrm>
            <a:off x="3484736" y="2852928"/>
            <a:ext cx="67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≥10.0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50" name="Google Shape;450;p35"/>
          <p:cNvSpPr/>
          <p:nvPr/>
        </p:nvSpPr>
        <p:spPr>
          <a:xfrm>
            <a:off x="4205006" y="2798064"/>
            <a:ext cx="4390218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5"/>
          <p:cNvSpPr txBox="1"/>
          <p:nvPr/>
        </p:nvSpPr>
        <p:spPr>
          <a:xfrm>
            <a:off x="4273603" y="2852928"/>
            <a:ext cx="430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EXIF/GPS; dlib face match is optional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52" name="Google Shape;452;p35"/>
          <p:cNvSpPr/>
          <p:nvPr/>
        </p:nvSpPr>
        <p:spPr>
          <a:xfrm>
            <a:off x="342986" y="3086100"/>
            <a:ext cx="123474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5"/>
          <p:cNvSpPr txBox="1"/>
          <p:nvPr/>
        </p:nvSpPr>
        <p:spPr>
          <a:xfrm>
            <a:off x="411583" y="3140964"/>
            <a:ext cx="115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 Engine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54" name="Google Shape;454;p35"/>
          <p:cNvSpPr/>
          <p:nvPr/>
        </p:nvSpPr>
        <p:spPr>
          <a:xfrm>
            <a:off x="1612033" y="3086100"/>
            <a:ext cx="1783526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5"/>
          <p:cNvSpPr txBox="1"/>
          <p:nvPr/>
        </p:nvSpPr>
        <p:spPr>
          <a:xfrm>
            <a:off x="1680630" y="3140964"/>
            <a:ext cx="1701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NetworkX + pyvis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56" name="Google Shape;456;p35"/>
          <p:cNvSpPr/>
          <p:nvPr/>
        </p:nvSpPr>
        <p:spPr>
          <a:xfrm>
            <a:off x="3416139" y="3086100"/>
            <a:ext cx="75456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5"/>
          <p:cNvSpPr txBox="1"/>
          <p:nvPr/>
        </p:nvSpPr>
        <p:spPr>
          <a:xfrm>
            <a:off x="3484736" y="3140964"/>
            <a:ext cx="67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≥3.0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58" name="Google Shape;458;p35"/>
          <p:cNvSpPr/>
          <p:nvPr/>
        </p:nvSpPr>
        <p:spPr>
          <a:xfrm>
            <a:off x="4205006" y="3086100"/>
            <a:ext cx="4390218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5"/>
          <p:cNvSpPr txBox="1"/>
          <p:nvPr/>
        </p:nvSpPr>
        <p:spPr>
          <a:xfrm>
            <a:off x="4273603" y="3140964"/>
            <a:ext cx="430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Connected components; interactive viz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60" name="Google Shape;460;p35"/>
          <p:cNvSpPr/>
          <p:nvPr/>
        </p:nvSpPr>
        <p:spPr>
          <a:xfrm>
            <a:off x="342986" y="3374136"/>
            <a:ext cx="123474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5"/>
          <p:cNvSpPr txBox="1"/>
          <p:nvPr/>
        </p:nvSpPr>
        <p:spPr>
          <a:xfrm>
            <a:off x="411583" y="3429000"/>
            <a:ext cx="115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Breach Intel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62" name="Google Shape;462;p35"/>
          <p:cNvSpPr/>
          <p:nvPr/>
        </p:nvSpPr>
        <p:spPr>
          <a:xfrm>
            <a:off x="1612033" y="3374136"/>
            <a:ext cx="1783526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5"/>
          <p:cNvSpPr txBox="1"/>
          <p:nvPr/>
        </p:nvSpPr>
        <p:spPr>
          <a:xfrm>
            <a:off x="1680630" y="3429000"/>
            <a:ext cx="1701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HIBP + LeakOSINT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64" name="Google Shape;464;p35"/>
          <p:cNvSpPr/>
          <p:nvPr/>
        </p:nvSpPr>
        <p:spPr>
          <a:xfrm>
            <a:off x="3416139" y="3374136"/>
            <a:ext cx="75456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5"/>
          <p:cNvSpPr txBox="1"/>
          <p:nvPr/>
        </p:nvSpPr>
        <p:spPr>
          <a:xfrm>
            <a:off x="3484736" y="3429000"/>
            <a:ext cx="67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66" name="Google Shape;466;p35"/>
          <p:cNvSpPr/>
          <p:nvPr/>
        </p:nvSpPr>
        <p:spPr>
          <a:xfrm>
            <a:off x="4205006" y="3374136"/>
            <a:ext cx="4390218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5"/>
          <p:cNvSpPr txBox="1"/>
          <p:nvPr/>
        </p:nvSpPr>
        <p:spPr>
          <a:xfrm>
            <a:off x="4273603" y="3429000"/>
            <a:ext cx="430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Keyed and opt-in; token never stored in the report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68" name="Google Shape;468;p35"/>
          <p:cNvSpPr/>
          <p:nvPr/>
        </p:nvSpPr>
        <p:spPr>
          <a:xfrm>
            <a:off x="342986" y="3662172"/>
            <a:ext cx="123474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5"/>
          <p:cNvSpPr txBox="1"/>
          <p:nvPr/>
        </p:nvSpPr>
        <p:spPr>
          <a:xfrm>
            <a:off x="411583" y="3717036"/>
            <a:ext cx="115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 / Export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70" name="Google Shape;470;p35"/>
          <p:cNvSpPr/>
          <p:nvPr/>
        </p:nvSpPr>
        <p:spPr>
          <a:xfrm>
            <a:off x="1612033" y="3662172"/>
            <a:ext cx="1783526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5"/>
          <p:cNvSpPr txBox="1"/>
          <p:nvPr/>
        </p:nvSpPr>
        <p:spPr>
          <a:xfrm>
            <a:off x="1680630" y="3717036"/>
            <a:ext cx="1701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Jinja2 + pandoc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72" name="Google Shape;472;p35"/>
          <p:cNvSpPr/>
          <p:nvPr/>
        </p:nvSpPr>
        <p:spPr>
          <a:xfrm>
            <a:off x="3416139" y="3662172"/>
            <a:ext cx="75456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5"/>
          <p:cNvSpPr txBox="1"/>
          <p:nvPr/>
        </p:nvSpPr>
        <p:spPr>
          <a:xfrm>
            <a:off x="3484736" y="3717036"/>
            <a:ext cx="67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≥3.1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74" name="Google Shape;474;p35"/>
          <p:cNvSpPr/>
          <p:nvPr/>
        </p:nvSpPr>
        <p:spPr>
          <a:xfrm>
            <a:off x="4205006" y="3662172"/>
            <a:ext cx="4390218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5"/>
          <p:cNvSpPr txBox="1"/>
          <p:nvPr/>
        </p:nvSpPr>
        <p:spPr>
          <a:xfrm>
            <a:off x="4273603" y="3717036"/>
            <a:ext cx="430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· JSON · CSV · PDF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76" name="Google Shape;476;p35"/>
          <p:cNvSpPr/>
          <p:nvPr/>
        </p:nvSpPr>
        <p:spPr>
          <a:xfrm>
            <a:off x="342986" y="3950208"/>
            <a:ext cx="123474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5"/>
          <p:cNvSpPr txBox="1"/>
          <p:nvPr/>
        </p:nvSpPr>
        <p:spPr>
          <a:xfrm>
            <a:off x="411583" y="4005072"/>
            <a:ext cx="115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Persistence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78" name="Google Shape;478;p35"/>
          <p:cNvSpPr/>
          <p:nvPr/>
        </p:nvSpPr>
        <p:spPr>
          <a:xfrm>
            <a:off x="1612033" y="3950208"/>
            <a:ext cx="1783526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5"/>
          <p:cNvSpPr txBox="1"/>
          <p:nvPr/>
        </p:nvSpPr>
        <p:spPr>
          <a:xfrm>
            <a:off x="1680630" y="4005072"/>
            <a:ext cx="1701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SQLite3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80" name="Google Shape;480;p35"/>
          <p:cNvSpPr/>
          <p:nvPr/>
        </p:nvSpPr>
        <p:spPr>
          <a:xfrm>
            <a:off x="3416139" y="3950208"/>
            <a:ext cx="75456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5"/>
          <p:cNvSpPr txBox="1"/>
          <p:nvPr/>
        </p:nvSpPr>
        <p:spPr>
          <a:xfrm>
            <a:off x="3484736" y="4005072"/>
            <a:ext cx="67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stdlib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82" name="Google Shape;482;p35"/>
          <p:cNvSpPr/>
          <p:nvPr/>
        </p:nvSpPr>
        <p:spPr>
          <a:xfrm>
            <a:off x="4205006" y="3950208"/>
            <a:ext cx="4390218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5"/>
          <p:cNvSpPr txBox="1"/>
          <p:nvPr/>
        </p:nvSpPr>
        <p:spPr>
          <a:xfrm>
            <a:off x="4273603" y="4005072"/>
            <a:ext cx="430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stdlib; investigator-local; evidence blobs on disk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84" name="Google Shape;484;p35"/>
          <p:cNvSpPr/>
          <p:nvPr/>
        </p:nvSpPr>
        <p:spPr>
          <a:xfrm>
            <a:off x="342986" y="4238244"/>
            <a:ext cx="123474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5"/>
          <p:cNvSpPr txBox="1"/>
          <p:nvPr/>
        </p:nvSpPr>
        <p:spPr>
          <a:xfrm>
            <a:off x="411583" y="4293108"/>
            <a:ext cx="115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/ Lint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86" name="Google Shape;486;p35"/>
          <p:cNvSpPr/>
          <p:nvPr/>
        </p:nvSpPr>
        <p:spPr>
          <a:xfrm>
            <a:off x="1612033" y="4238244"/>
            <a:ext cx="1783526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5"/>
          <p:cNvSpPr txBox="1"/>
          <p:nvPr/>
        </p:nvSpPr>
        <p:spPr>
          <a:xfrm>
            <a:off x="1680630" y="4293108"/>
            <a:ext cx="1701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pytest + ruff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88" name="Google Shape;488;p35"/>
          <p:cNvSpPr/>
          <p:nvPr/>
        </p:nvSpPr>
        <p:spPr>
          <a:xfrm>
            <a:off x="3416139" y="4238244"/>
            <a:ext cx="754569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5"/>
          <p:cNvSpPr txBox="1"/>
          <p:nvPr/>
        </p:nvSpPr>
        <p:spPr>
          <a:xfrm>
            <a:off x="3484736" y="4293108"/>
            <a:ext cx="67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≥7.0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90" name="Google Shape;490;p35"/>
          <p:cNvSpPr/>
          <p:nvPr/>
        </p:nvSpPr>
        <p:spPr>
          <a:xfrm>
            <a:off x="4205006" y="4238244"/>
            <a:ext cx="4390218" cy="274319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5"/>
          <p:cNvSpPr txBox="1"/>
          <p:nvPr/>
        </p:nvSpPr>
        <p:spPr>
          <a:xfrm>
            <a:off x="4273603" y="4293108"/>
            <a:ext cx="430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588 tests · ruff clean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92" name="Google Shape;492;p35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11 / 27</a:t>
            </a:r>
            <a:endParaRPr sz="1100"/>
          </a:p>
        </p:txBody>
      </p:sp>
      <p:pic>
        <p:nvPicPr>
          <p:cNvPr id="493" name="Google Shape;49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6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3 — CYBER DEFENSE &amp; THREAT MODELING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99" name="Google Shape;499;p36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STRIDE Threat Model — Platform Threats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00" name="Google Shape;500;p36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6"/>
          <p:cNvSpPr/>
          <p:nvPr/>
        </p:nvSpPr>
        <p:spPr>
          <a:xfrm>
            <a:off x="1463081" y="1147375"/>
            <a:ext cx="40299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6"/>
          <p:cNvSpPr/>
          <p:nvPr/>
        </p:nvSpPr>
        <p:spPr>
          <a:xfrm>
            <a:off x="1463086" y="1147370"/>
            <a:ext cx="377400" cy="5349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6"/>
          <p:cNvSpPr txBox="1"/>
          <p:nvPr/>
        </p:nvSpPr>
        <p:spPr>
          <a:xfrm>
            <a:off x="1463086" y="1270813"/>
            <a:ext cx="3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100"/>
          </a:p>
        </p:txBody>
      </p:sp>
      <p:sp>
        <p:nvSpPr>
          <p:cNvPr id="504" name="Google Shape;504;p36"/>
          <p:cNvSpPr txBox="1"/>
          <p:nvPr/>
        </p:nvSpPr>
        <p:spPr>
          <a:xfrm>
            <a:off x="1908967" y="1181660"/>
            <a:ext cx="137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Spoofing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05" name="Google Shape;505;p36"/>
          <p:cNvSpPr txBox="1"/>
          <p:nvPr/>
        </p:nvSpPr>
        <p:spPr>
          <a:xfrm>
            <a:off x="1908967" y="1421689"/>
            <a:ext cx="6516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Adversary lookalike domain returns false OSINT positives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06" name="Google Shape;506;p36"/>
          <p:cNvSpPr/>
          <p:nvPr/>
        </p:nvSpPr>
        <p:spPr>
          <a:xfrm>
            <a:off x="6362556" y="1270829"/>
            <a:ext cx="891900" cy="2607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6"/>
          <p:cNvSpPr txBox="1"/>
          <p:nvPr/>
        </p:nvSpPr>
        <p:spPr>
          <a:xfrm>
            <a:off x="6362556" y="1318836"/>
            <a:ext cx="891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08" name="Google Shape;508;p36"/>
          <p:cNvSpPr/>
          <p:nvPr/>
        </p:nvSpPr>
        <p:spPr>
          <a:xfrm>
            <a:off x="1463081" y="1764595"/>
            <a:ext cx="40299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6"/>
          <p:cNvSpPr/>
          <p:nvPr/>
        </p:nvSpPr>
        <p:spPr>
          <a:xfrm>
            <a:off x="1463086" y="1764590"/>
            <a:ext cx="377400" cy="53490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6"/>
          <p:cNvSpPr txBox="1"/>
          <p:nvPr/>
        </p:nvSpPr>
        <p:spPr>
          <a:xfrm>
            <a:off x="1463086" y="1888034"/>
            <a:ext cx="3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1100"/>
          </a:p>
        </p:txBody>
      </p:sp>
      <p:sp>
        <p:nvSpPr>
          <p:cNvPr id="511" name="Google Shape;511;p36"/>
          <p:cNvSpPr txBox="1"/>
          <p:nvPr/>
        </p:nvSpPr>
        <p:spPr>
          <a:xfrm>
            <a:off x="1908967" y="1798879"/>
            <a:ext cx="137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Tampering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12" name="Google Shape;512;p36"/>
          <p:cNvSpPr txBox="1"/>
          <p:nvPr/>
        </p:nvSpPr>
        <p:spPr>
          <a:xfrm>
            <a:off x="1908967" y="2038909"/>
            <a:ext cx="6516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filesystem access corrupts SQLite evidence chains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13" name="Google Shape;513;p36"/>
          <p:cNvSpPr/>
          <p:nvPr/>
        </p:nvSpPr>
        <p:spPr>
          <a:xfrm>
            <a:off x="6362556" y="1888050"/>
            <a:ext cx="891900" cy="26070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6"/>
          <p:cNvSpPr txBox="1"/>
          <p:nvPr/>
        </p:nvSpPr>
        <p:spPr>
          <a:xfrm>
            <a:off x="6362556" y="1936056"/>
            <a:ext cx="891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15" name="Google Shape;515;p36"/>
          <p:cNvSpPr/>
          <p:nvPr/>
        </p:nvSpPr>
        <p:spPr>
          <a:xfrm>
            <a:off x="1463081" y="2381815"/>
            <a:ext cx="40299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6"/>
          <p:cNvSpPr/>
          <p:nvPr/>
        </p:nvSpPr>
        <p:spPr>
          <a:xfrm>
            <a:off x="1463086" y="2381810"/>
            <a:ext cx="377400" cy="5349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6"/>
          <p:cNvSpPr txBox="1"/>
          <p:nvPr/>
        </p:nvSpPr>
        <p:spPr>
          <a:xfrm>
            <a:off x="1463086" y="2505254"/>
            <a:ext cx="3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1100"/>
          </a:p>
        </p:txBody>
      </p:sp>
      <p:sp>
        <p:nvSpPr>
          <p:cNvPr id="518" name="Google Shape;518;p36"/>
          <p:cNvSpPr txBox="1"/>
          <p:nvPr/>
        </p:nvSpPr>
        <p:spPr>
          <a:xfrm>
            <a:off x="1908967" y="2416100"/>
            <a:ext cx="137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Repudiation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19" name="Google Shape;519;p36"/>
          <p:cNvSpPr txBox="1"/>
          <p:nvPr/>
        </p:nvSpPr>
        <p:spPr>
          <a:xfrm>
            <a:off x="1908967" y="2656130"/>
            <a:ext cx="6516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signed audit log; investigator denies query history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20" name="Google Shape;520;p36"/>
          <p:cNvSpPr/>
          <p:nvPr/>
        </p:nvSpPr>
        <p:spPr>
          <a:xfrm>
            <a:off x="6362556" y="2505270"/>
            <a:ext cx="891900" cy="2607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6"/>
          <p:cNvSpPr txBox="1"/>
          <p:nvPr/>
        </p:nvSpPr>
        <p:spPr>
          <a:xfrm>
            <a:off x="6362556" y="2553276"/>
            <a:ext cx="891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22" name="Google Shape;522;p36"/>
          <p:cNvSpPr/>
          <p:nvPr/>
        </p:nvSpPr>
        <p:spPr>
          <a:xfrm>
            <a:off x="1463081" y="2999035"/>
            <a:ext cx="40299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6"/>
          <p:cNvSpPr/>
          <p:nvPr/>
        </p:nvSpPr>
        <p:spPr>
          <a:xfrm>
            <a:off x="1463086" y="2999029"/>
            <a:ext cx="377400" cy="53490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6"/>
          <p:cNvSpPr txBox="1"/>
          <p:nvPr/>
        </p:nvSpPr>
        <p:spPr>
          <a:xfrm>
            <a:off x="1463086" y="3122473"/>
            <a:ext cx="3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100"/>
          </a:p>
        </p:txBody>
      </p:sp>
      <p:sp>
        <p:nvSpPr>
          <p:cNvPr id="525" name="Google Shape;525;p36"/>
          <p:cNvSpPr txBox="1"/>
          <p:nvPr/>
        </p:nvSpPr>
        <p:spPr>
          <a:xfrm>
            <a:off x="1908967" y="3033319"/>
            <a:ext cx="137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 Disclosure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26" name="Google Shape;526;p36"/>
          <p:cNvSpPr txBox="1"/>
          <p:nvPr/>
        </p:nvSpPr>
        <p:spPr>
          <a:xfrm>
            <a:off x="1908967" y="3273350"/>
            <a:ext cx="6516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PII in HTTP query params or stdout in CI/CD environments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27" name="Google Shape;527;p36"/>
          <p:cNvSpPr/>
          <p:nvPr/>
        </p:nvSpPr>
        <p:spPr>
          <a:xfrm>
            <a:off x="6362556" y="3122490"/>
            <a:ext cx="891900" cy="26070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6"/>
          <p:cNvSpPr txBox="1"/>
          <p:nvPr/>
        </p:nvSpPr>
        <p:spPr>
          <a:xfrm>
            <a:off x="6362556" y="3170495"/>
            <a:ext cx="891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29" name="Google Shape;529;p36"/>
          <p:cNvSpPr/>
          <p:nvPr/>
        </p:nvSpPr>
        <p:spPr>
          <a:xfrm>
            <a:off x="1463081" y="3616256"/>
            <a:ext cx="40299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6"/>
          <p:cNvSpPr/>
          <p:nvPr/>
        </p:nvSpPr>
        <p:spPr>
          <a:xfrm>
            <a:off x="1463086" y="3616250"/>
            <a:ext cx="377400" cy="534900"/>
          </a:xfrm>
          <a:prstGeom prst="rect">
            <a:avLst/>
          </a:prstGeom>
          <a:solidFill>
            <a:srgbClr val="39D35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6"/>
          <p:cNvSpPr txBox="1"/>
          <p:nvPr/>
        </p:nvSpPr>
        <p:spPr>
          <a:xfrm>
            <a:off x="1463086" y="3739694"/>
            <a:ext cx="3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100"/>
          </a:p>
        </p:txBody>
      </p:sp>
      <p:sp>
        <p:nvSpPr>
          <p:cNvPr id="532" name="Google Shape;532;p36"/>
          <p:cNvSpPr txBox="1"/>
          <p:nvPr/>
        </p:nvSpPr>
        <p:spPr>
          <a:xfrm>
            <a:off x="1908967" y="3650540"/>
            <a:ext cx="137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Denial of Service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33" name="Google Shape;533;p36"/>
          <p:cNvSpPr txBox="1"/>
          <p:nvPr/>
        </p:nvSpPr>
        <p:spPr>
          <a:xfrm>
            <a:off x="1908967" y="3890570"/>
            <a:ext cx="6516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Unbounded BFS traversal exhausts external API rate limits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34" name="Google Shape;534;p36"/>
          <p:cNvSpPr/>
          <p:nvPr/>
        </p:nvSpPr>
        <p:spPr>
          <a:xfrm>
            <a:off x="6362556" y="3739710"/>
            <a:ext cx="891900" cy="260700"/>
          </a:xfrm>
          <a:prstGeom prst="rect">
            <a:avLst/>
          </a:prstGeom>
          <a:solidFill>
            <a:srgbClr val="39D35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6"/>
          <p:cNvSpPr txBox="1"/>
          <p:nvPr/>
        </p:nvSpPr>
        <p:spPr>
          <a:xfrm>
            <a:off x="6362556" y="3787716"/>
            <a:ext cx="891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36" name="Google Shape;536;p36"/>
          <p:cNvSpPr/>
          <p:nvPr/>
        </p:nvSpPr>
        <p:spPr>
          <a:xfrm>
            <a:off x="1463081" y="4233476"/>
            <a:ext cx="40299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6"/>
          <p:cNvSpPr/>
          <p:nvPr/>
        </p:nvSpPr>
        <p:spPr>
          <a:xfrm>
            <a:off x="1463086" y="4233470"/>
            <a:ext cx="377400" cy="534900"/>
          </a:xfrm>
          <a:prstGeom prst="rect">
            <a:avLst/>
          </a:prstGeom>
          <a:solidFill>
            <a:srgbClr val="FF33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6"/>
          <p:cNvSpPr txBox="1"/>
          <p:nvPr/>
        </p:nvSpPr>
        <p:spPr>
          <a:xfrm>
            <a:off x="1463086" y="4356914"/>
            <a:ext cx="3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100"/>
          </a:p>
        </p:txBody>
      </p:sp>
      <p:sp>
        <p:nvSpPr>
          <p:cNvPr id="539" name="Google Shape;539;p36"/>
          <p:cNvSpPr txBox="1"/>
          <p:nvPr/>
        </p:nvSpPr>
        <p:spPr>
          <a:xfrm>
            <a:off x="1908967" y="4267760"/>
            <a:ext cx="137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Elev. of Privilege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40" name="Google Shape;540;p36"/>
          <p:cNvSpPr txBox="1"/>
          <p:nvPr/>
        </p:nvSpPr>
        <p:spPr>
          <a:xfrm>
            <a:off x="1908967" y="4507790"/>
            <a:ext cx="6516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Shell metacharacters in OSINT response → subprocess inject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41" name="Google Shape;541;p36"/>
          <p:cNvSpPr/>
          <p:nvPr/>
        </p:nvSpPr>
        <p:spPr>
          <a:xfrm>
            <a:off x="6362556" y="4356930"/>
            <a:ext cx="891900" cy="260700"/>
          </a:xfrm>
          <a:prstGeom prst="rect">
            <a:avLst/>
          </a:prstGeom>
          <a:solidFill>
            <a:srgbClr val="FF33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6"/>
          <p:cNvSpPr txBox="1"/>
          <p:nvPr/>
        </p:nvSpPr>
        <p:spPr>
          <a:xfrm>
            <a:off x="6362556" y="4404936"/>
            <a:ext cx="891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Critical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43" name="Google Shape;543;p36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20 / 27</a:t>
            </a:r>
            <a:endParaRPr sz="1100"/>
          </a:p>
        </p:txBody>
      </p:sp>
      <p:pic>
        <p:nvPicPr>
          <p:cNvPr id="544" name="Google Shape;54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7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3 — THREAT MODELING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50" name="Google Shape;550;p37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MITRE ATT&amp;CK Coverage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51" name="Google Shape;551;p37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7"/>
          <p:cNvSpPr/>
          <p:nvPr/>
        </p:nvSpPr>
        <p:spPr>
          <a:xfrm>
            <a:off x="342986" y="1131570"/>
            <a:ext cx="8458030" cy="48006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7"/>
          <p:cNvSpPr/>
          <p:nvPr/>
        </p:nvSpPr>
        <p:spPr>
          <a:xfrm>
            <a:off x="342986" y="1131570"/>
            <a:ext cx="48018" cy="48006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7"/>
          <p:cNvSpPr/>
          <p:nvPr/>
        </p:nvSpPr>
        <p:spPr>
          <a:xfrm>
            <a:off x="445882" y="1234439"/>
            <a:ext cx="891763" cy="2743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7"/>
          <p:cNvSpPr txBox="1"/>
          <p:nvPr/>
        </p:nvSpPr>
        <p:spPr>
          <a:xfrm>
            <a:off x="445882" y="1268729"/>
            <a:ext cx="8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T1585.001</a:t>
            </a:r>
            <a:endParaRPr sz="1300"/>
          </a:p>
        </p:txBody>
      </p:sp>
      <p:sp>
        <p:nvSpPr>
          <p:cNvPr id="556" name="Google Shape;556;p37"/>
          <p:cNvSpPr txBox="1"/>
          <p:nvPr/>
        </p:nvSpPr>
        <p:spPr>
          <a:xfrm>
            <a:off x="1440540" y="1179576"/>
            <a:ext cx="288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Establish Accounts — Social Media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57" name="Google Shape;557;p37"/>
          <p:cNvSpPr txBox="1"/>
          <p:nvPr/>
        </p:nvSpPr>
        <p:spPr>
          <a:xfrm>
            <a:off x="1440540" y="1392173"/>
            <a:ext cx="7202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sherlock · maigret · usufy · native platform sweep, exact-match filtered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58" name="Google Shape;558;p37"/>
          <p:cNvSpPr/>
          <p:nvPr/>
        </p:nvSpPr>
        <p:spPr>
          <a:xfrm>
            <a:off x="342986" y="1680210"/>
            <a:ext cx="8458030" cy="48006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7"/>
          <p:cNvSpPr/>
          <p:nvPr/>
        </p:nvSpPr>
        <p:spPr>
          <a:xfrm>
            <a:off x="342986" y="1680210"/>
            <a:ext cx="48018" cy="48006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7"/>
          <p:cNvSpPr/>
          <p:nvPr/>
        </p:nvSpPr>
        <p:spPr>
          <a:xfrm>
            <a:off x="445882" y="1783080"/>
            <a:ext cx="891763" cy="2743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7"/>
          <p:cNvSpPr txBox="1"/>
          <p:nvPr/>
        </p:nvSpPr>
        <p:spPr>
          <a:xfrm>
            <a:off x="445882" y="1817370"/>
            <a:ext cx="8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T1585.002</a:t>
            </a:r>
            <a:endParaRPr sz="1300"/>
          </a:p>
        </p:txBody>
      </p:sp>
      <p:sp>
        <p:nvSpPr>
          <p:cNvPr id="562" name="Google Shape;562;p37"/>
          <p:cNvSpPr txBox="1"/>
          <p:nvPr/>
        </p:nvSpPr>
        <p:spPr>
          <a:xfrm>
            <a:off x="1440540" y="1728216"/>
            <a:ext cx="288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Establish Accounts — Email Accounts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63" name="Google Shape;563;p37"/>
          <p:cNvSpPr txBox="1"/>
          <p:nvPr/>
        </p:nvSpPr>
        <p:spPr>
          <a:xfrm>
            <a:off x="1440540" y="1940814"/>
            <a:ext cx="7202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holehe registration detection across 120+ services; disposable domains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64" name="Google Shape;564;p37"/>
          <p:cNvSpPr/>
          <p:nvPr/>
        </p:nvSpPr>
        <p:spPr>
          <a:xfrm>
            <a:off x="342986" y="2228850"/>
            <a:ext cx="8458030" cy="48006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7"/>
          <p:cNvSpPr/>
          <p:nvPr/>
        </p:nvSpPr>
        <p:spPr>
          <a:xfrm>
            <a:off x="342986" y="2228850"/>
            <a:ext cx="48018" cy="48006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7"/>
          <p:cNvSpPr/>
          <p:nvPr/>
        </p:nvSpPr>
        <p:spPr>
          <a:xfrm>
            <a:off x="445882" y="2331720"/>
            <a:ext cx="891763" cy="2743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7"/>
          <p:cNvSpPr txBox="1"/>
          <p:nvPr/>
        </p:nvSpPr>
        <p:spPr>
          <a:xfrm>
            <a:off x="445882" y="2366010"/>
            <a:ext cx="8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T1586</a:t>
            </a:r>
            <a:endParaRPr sz="1300"/>
          </a:p>
        </p:txBody>
      </p:sp>
      <p:sp>
        <p:nvSpPr>
          <p:cNvPr id="568" name="Google Shape;568;p37"/>
          <p:cNvSpPr txBox="1"/>
          <p:nvPr/>
        </p:nvSpPr>
        <p:spPr>
          <a:xfrm>
            <a:off x="1440540" y="2276856"/>
            <a:ext cx="288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Compromise Accounts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69" name="Google Shape;569;p37"/>
          <p:cNvSpPr txBox="1"/>
          <p:nvPr/>
        </p:nvSpPr>
        <p:spPr>
          <a:xfrm>
            <a:off x="1440540" y="2489454"/>
            <a:ext cx="7202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HIBP breach correlation; stolen credentials to active accounts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70" name="Google Shape;570;p37"/>
          <p:cNvSpPr/>
          <p:nvPr/>
        </p:nvSpPr>
        <p:spPr>
          <a:xfrm>
            <a:off x="342986" y="2777490"/>
            <a:ext cx="8458030" cy="48006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7"/>
          <p:cNvSpPr/>
          <p:nvPr/>
        </p:nvSpPr>
        <p:spPr>
          <a:xfrm>
            <a:off x="342986" y="2777490"/>
            <a:ext cx="48018" cy="48006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7"/>
          <p:cNvSpPr/>
          <p:nvPr/>
        </p:nvSpPr>
        <p:spPr>
          <a:xfrm>
            <a:off x="445882" y="2880360"/>
            <a:ext cx="891763" cy="2743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7"/>
          <p:cNvSpPr txBox="1"/>
          <p:nvPr/>
        </p:nvSpPr>
        <p:spPr>
          <a:xfrm>
            <a:off x="445882" y="2914650"/>
            <a:ext cx="8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T1598</a:t>
            </a:r>
            <a:endParaRPr sz="1300"/>
          </a:p>
        </p:txBody>
      </p:sp>
      <p:sp>
        <p:nvSpPr>
          <p:cNvPr id="574" name="Google Shape;574;p37"/>
          <p:cNvSpPr txBox="1"/>
          <p:nvPr/>
        </p:nvSpPr>
        <p:spPr>
          <a:xfrm>
            <a:off x="1440540" y="2825496"/>
            <a:ext cx="288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Phishing for Information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75" name="Google Shape;575;p37"/>
          <p:cNvSpPr txBox="1"/>
          <p:nvPr/>
        </p:nvSpPr>
        <p:spPr>
          <a:xfrm>
            <a:off x="1440540" y="3038094"/>
            <a:ext cx="7202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Phone/email artifacts in social engineering from breach data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76" name="Google Shape;576;p37"/>
          <p:cNvSpPr/>
          <p:nvPr/>
        </p:nvSpPr>
        <p:spPr>
          <a:xfrm>
            <a:off x="342986" y="3326130"/>
            <a:ext cx="8458030" cy="48006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7"/>
          <p:cNvSpPr/>
          <p:nvPr/>
        </p:nvSpPr>
        <p:spPr>
          <a:xfrm>
            <a:off x="342986" y="3326130"/>
            <a:ext cx="48018" cy="48006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7"/>
          <p:cNvSpPr/>
          <p:nvPr/>
        </p:nvSpPr>
        <p:spPr>
          <a:xfrm>
            <a:off x="445882" y="3429000"/>
            <a:ext cx="891763" cy="2743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7"/>
          <p:cNvSpPr txBox="1"/>
          <p:nvPr/>
        </p:nvSpPr>
        <p:spPr>
          <a:xfrm>
            <a:off x="445882" y="3463290"/>
            <a:ext cx="8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T1650</a:t>
            </a:r>
            <a:endParaRPr sz="1300"/>
          </a:p>
        </p:txBody>
      </p:sp>
      <p:sp>
        <p:nvSpPr>
          <p:cNvPr id="580" name="Google Shape;580;p37"/>
          <p:cNvSpPr txBox="1"/>
          <p:nvPr/>
        </p:nvSpPr>
        <p:spPr>
          <a:xfrm>
            <a:off x="1440540" y="3374136"/>
            <a:ext cx="288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Acquire — Prepaid/VoIP Numbers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81" name="Google Shape;581;p37"/>
          <p:cNvSpPr txBox="1"/>
          <p:nvPr/>
        </p:nvSpPr>
        <p:spPr>
          <a:xfrm>
            <a:off x="1440540" y="3586734"/>
            <a:ext cx="7202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phonenumbers carrier, region and line-type detection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82" name="Google Shape;582;p37"/>
          <p:cNvSpPr/>
          <p:nvPr/>
        </p:nvSpPr>
        <p:spPr>
          <a:xfrm>
            <a:off x="342986" y="3874770"/>
            <a:ext cx="8458030" cy="48006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7"/>
          <p:cNvSpPr/>
          <p:nvPr/>
        </p:nvSpPr>
        <p:spPr>
          <a:xfrm>
            <a:off x="342986" y="3874770"/>
            <a:ext cx="48018" cy="48006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7"/>
          <p:cNvSpPr/>
          <p:nvPr/>
        </p:nvSpPr>
        <p:spPr>
          <a:xfrm>
            <a:off x="445882" y="3977640"/>
            <a:ext cx="891763" cy="2743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7"/>
          <p:cNvSpPr txBox="1"/>
          <p:nvPr/>
        </p:nvSpPr>
        <p:spPr>
          <a:xfrm>
            <a:off x="445882" y="4011930"/>
            <a:ext cx="8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T1566.003</a:t>
            </a:r>
            <a:endParaRPr sz="1300"/>
          </a:p>
        </p:txBody>
      </p:sp>
      <p:sp>
        <p:nvSpPr>
          <p:cNvPr id="586" name="Google Shape;586;p37"/>
          <p:cNvSpPr txBox="1"/>
          <p:nvPr/>
        </p:nvSpPr>
        <p:spPr>
          <a:xfrm>
            <a:off x="1440540" y="3922776"/>
            <a:ext cx="288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Spearphishing via Service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87" name="Google Shape;587;p37"/>
          <p:cNvSpPr txBox="1"/>
          <p:nvPr/>
        </p:nvSpPr>
        <p:spPr>
          <a:xfrm>
            <a:off x="1440540" y="4135374"/>
            <a:ext cx="7202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Profile image reverse search reveals stolen impersonation photos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88" name="Google Shape;588;p37"/>
          <p:cNvSpPr/>
          <p:nvPr/>
        </p:nvSpPr>
        <p:spPr>
          <a:xfrm>
            <a:off x="342986" y="4423410"/>
            <a:ext cx="8458030" cy="48006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7"/>
          <p:cNvSpPr/>
          <p:nvPr/>
        </p:nvSpPr>
        <p:spPr>
          <a:xfrm>
            <a:off x="342986" y="4423410"/>
            <a:ext cx="48018" cy="48006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7"/>
          <p:cNvSpPr/>
          <p:nvPr/>
        </p:nvSpPr>
        <p:spPr>
          <a:xfrm>
            <a:off x="445882" y="4526280"/>
            <a:ext cx="891763" cy="2743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7"/>
          <p:cNvSpPr txBox="1"/>
          <p:nvPr/>
        </p:nvSpPr>
        <p:spPr>
          <a:xfrm>
            <a:off x="445882" y="4560570"/>
            <a:ext cx="8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T1056.003</a:t>
            </a:r>
            <a:endParaRPr sz="1300"/>
          </a:p>
        </p:txBody>
      </p:sp>
      <p:sp>
        <p:nvSpPr>
          <p:cNvPr id="592" name="Google Shape;592;p37"/>
          <p:cNvSpPr txBox="1"/>
          <p:nvPr/>
        </p:nvSpPr>
        <p:spPr>
          <a:xfrm>
            <a:off x="1440540" y="4471416"/>
            <a:ext cx="288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Capture — Web Portal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93" name="Google Shape;593;p37"/>
          <p:cNvSpPr txBox="1"/>
          <p:nvPr/>
        </p:nvSpPr>
        <p:spPr>
          <a:xfrm>
            <a:off x="1440540" y="4684014"/>
            <a:ext cx="7202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Breach data links account credentials to targeted services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94" name="Google Shape;594;p37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21 / 27</a:t>
            </a:r>
            <a:endParaRPr sz="1100"/>
          </a:p>
        </p:txBody>
      </p:sp>
      <p:pic>
        <p:nvPicPr>
          <p:cNvPr id="595" name="Google Shape;59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8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3 — SECURITY CONTROLS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01" name="Google Shape;601;p38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NIST SP 800-53 Rev. 5 Control Mapping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02" name="Google Shape;602;p38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8"/>
          <p:cNvSpPr/>
          <p:nvPr/>
        </p:nvSpPr>
        <p:spPr>
          <a:xfrm>
            <a:off x="342986" y="1131570"/>
            <a:ext cx="48018" cy="397764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8"/>
          <p:cNvSpPr/>
          <p:nvPr/>
        </p:nvSpPr>
        <p:spPr>
          <a:xfrm>
            <a:off x="445882" y="1200150"/>
            <a:ext cx="1131853" cy="233172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8"/>
          <p:cNvSpPr txBox="1"/>
          <p:nvPr/>
        </p:nvSpPr>
        <p:spPr>
          <a:xfrm>
            <a:off x="445882" y="1227582"/>
            <a:ext cx="1131900" cy="1923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PREVENTIVE</a:t>
            </a:r>
            <a:endParaRPr sz="1300"/>
          </a:p>
        </p:txBody>
      </p:sp>
      <p:sp>
        <p:nvSpPr>
          <p:cNvPr id="606" name="Google Shape;606;p38"/>
          <p:cNvSpPr/>
          <p:nvPr/>
        </p:nvSpPr>
        <p:spPr>
          <a:xfrm>
            <a:off x="1646332" y="1200150"/>
            <a:ext cx="617374" cy="233172"/>
          </a:xfrm>
          <a:prstGeom prst="rect">
            <a:avLst/>
          </a:prstGeom>
          <a:solidFill>
            <a:srgbClr val="1226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8"/>
          <p:cNvSpPr txBox="1"/>
          <p:nvPr/>
        </p:nvSpPr>
        <p:spPr>
          <a:xfrm>
            <a:off x="1646332" y="1227582"/>
            <a:ext cx="617374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SI-10</a:t>
            </a:r>
            <a:endParaRPr sz="1100"/>
          </a:p>
        </p:txBody>
      </p:sp>
      <p:sp>
        <p:nvSpPr>
          <p:cNvPr id="608" name="Google Shape;608;p38"/>
          <p:cNvSpPr txBox="1"/>
          <p:nvPr/>
        </p:nvSpPr>
        <p:spPr>
          <a:xfrm>
            <a:off x="2366602" y="1165860"/>
            <a:ext cx="157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Validation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09" name="Google Shape;609;p38"/>
          <p:cNvSpPr txBox="1"/>
          <p:nvPr/>
        </p:nvSpPr>
        <p:spPr>
          <a:xfrm>
            <a:off x="2366602" y="1337310"/>
            <a:ext cx="6242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E.164/RFC5321 format checks; subprocess list args only — no shell=True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10" name="Google Shape;610;p38"/>
          <p:cNvSpPr/>
          <p:nvPr/>
        </p:nvSpPr>
        <p:spPr>
          <a:xfrm>
            <a:off x="342986" y="1563623"/>
            <a:ext cx="48018" cy="397764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8"/>
          <p:cNvSpPr/>
          <p:nvPr/>
        </p:nvSpPr>
        <p:spPr>
          <a:xfrm>
            <a:off x="445882" y="1632204"/>
            <a:ext cx="1131853" cy="233172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8"/>
          <p:cNvSpPr txBox="1"/>
          <p:nvPr/>
        </p:nvSpPr>
        <p:spPr>
          <a:xfrm>
            <a:off x="445882" y="1659636"/>
            <a:ext cx="1131900" cy="1923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PREVENTIVE</a:t>
            </a:r>
            <a:endParaRPr sz="1300"/>
          </a:p>
        </p:txBody>
      </p:sp>
      <p:sp>
        <p:nvSpPr>
          <p:cNvPr id="613" name="Google Shape;613;p38"/>
          <p:cNvSpPr/>
          <p:nvPr/>
        </p:nvSpPr>
        <p:spPr>
          <a:xfrm>
            <a:off x="1646332" y="1632204"/>
            <a:ext cx="617374" cy="233172"/>
          </a:xfrm>
          <a:prstGeom prst="rect">
            <a:avLst/>
          </a:prstGeom>
          <a:solidFill>
            <a:srgbClr val="1226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8"/>
          <p:cNvSpPr txBox="1"/>
          <p:nvPr/>
        </p:nvSpPr>
        <p:spPr>
          <a:xfrm>
            <a:off x="1646332" y="1659636"/>
            <a:ext cx="617374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IA-5</a:t>
            </a:r>
            <a:endParaRPr sz="1100"/>
          </a:p>
        </p:txBody>
      </p:sp>
      <p:sp>
        <p:nvSpPr>
          <p:cNvPr id="615" name="Google Shape;615;p38"/>
          <p:cNvSpPr txBox="1"/>
          <p:nvPr/>
        </p:nvSpPr>
        <p:spPr>
          <a:xfrm>
            <a:off x="2366602" y="1597913"/>
            <a:ext cx="157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Secrets Mgmt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16" name="Google Shape;616;p38"/>
          <p:cNvSpPr txBox="1"/>
          <p:nvPr/>
        </p:nvSpPr>
        <p:spPr>
          <a:xfrm>
            <a:off x="2366602" y="1769363"/>
            <a:ext cx="6242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keys from env vars only; .env excluded from VCS via .gitignore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17" name="Google Shape;617;p38"/>
          <p:cNvSpPr/>
          <p:nvPr/>
        </p:nvSpPr>
        <p:spPr>
          <a:xfrm>
            <a:off x="342986" y="1995678"/>
            <a:ext cx="48018" cy="397764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8"/>
          <p:cNvSpPr/>
          <p:nvPr/>
        </p:nvSpPr>
        <p:spPr>
          <a:xfrm>
            <a:off x="445882" y="2064258"/>
            <a:ext cx="1131853" cy="233172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8"/>
          <p:cNvSpPr txBox="1"/>
          <p:nvPr/>
        </p:nvSpPr>
        <p:spPr>
          <a:xfrm>
            <a:off x="445882" y="2091690"/>
            <a:ext cx="1131900" cy="1923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PREVENTIVE</a:t>
            </a:r>
            <a:endParaRPr sz="1300"/>
          </a:p>
        </p:txBody>
      </p:sp>
      <p:sp>
        <p:nvSpPr>
          <p:cNvPr id="620" name="Google Shape;620;p38"/>
          <p:cNvSpPr/>
          <p:nvPr/>
        </p:nvSpPr>
        <p:spPr>
          <a:xfrm>
            <a:off x="1646332" y="2064258"/>
            <a:ext cx="617374" cy="233172"/>
          </a:xfrm>
          <a:prstGeom prst="rect">
            <a:avLst/>
          </a:prstGeom>
          <a:solidFill>
            <a:srgbClr val="1226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8"/>
          <p:cNvSpPr txBox="1"/>
          <p:nvPr/>
        </p:nvSpPr>
        <p:spPr>
          <a:xfrm>
            <a:off x="1646332" y="2091690"/>
            <a:ext cx="617374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SC-8</a:t>
            </a:r>
            <a:endParaRPr sz="1100"/>
          </a:p>
        </p:txBody>
      </p:sp>
      <p:sp>
        <p:nvSpPr>
          <p:cNvPr id="622" name="Google Shape;622;p38"/>
          <p:cNvSpPr txBox="1"/>
          <p:nvPr/>
        </p:nvSpPr>
        <p:spPr>
          <a:xfrm>
            <a:off x="2366602" y="2029968"/>
            <a:ext cx="157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TLS Enforcement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23" name="Google Shape;623;p38"/>
          <p:cNvSpPr txBox="1"/>
          <p:nvPr/>
        </p:nvSpPr>
        <p:spPr>
          <a:xfrm>
            <a:off x="2366602" y="2201418"/>
            <a:ext cx="6242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httpx verify=True; HTTP-to-HTTPS redirect enforcement; min TLS 1.2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24" name="Google Shape;624;p38"/>
          <p:cNvSpPr/>
          <p:nvPr/>
        </p:nvSpPr>
        <p:spPr>
          <a:xfrm>
            <a:off x="342986" y="2427732"/>
            <a:ext cx="48018" cy="397764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8"/>
          <p:cNvSpPr/>
          <p:nvPr/>
        </p:nvSpPr>
        <p:spPr>
          <a:xfrm>
            <a:off x="445882" y="2496312"/>
            <a:ext cx="1131853" cy="233172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8"/>
          <p:cNvSpPr txBox="1"/>
          <p:nvPr/>
        </p:nvSpPr>
        <p:spPr>
          <a:xfrm>
            <a:off x="445882" y="2523744"/>
            <a:ext cx="1131900" cy="1923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DETECTIVE</a:t>
            </a:r>
            <a:endParaRPr sz="1300"/>
          </a:p>
        </p:txBody>
      </p:sp>
      <p:sp>
        <p:nvSpPr>
          <p:cNvPr id="627" name="Google Shape;627;p38"/>
          <p:cNvSpPr/>
          <p:nvPr/>
        </p:nvSpPr>
        <p:spPr>
          <a:xfrm>
            <a:off x="1646332" y="2496312"/>
            <a:ext cx="617374" cy="233172"/>
          </a:xfrm>
          <a:prstGeom prst="rect">
            <a:avLst/>
          </a:prstGeom>
          <a:solidFill>
            <a:srgbClr val="1226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8"/>
          <p:cNvSpPr txBox="1"/>
          <p:nvPr/>
        </p:nvSpPr>
        <p:spPr>
          <a:xfrm>
            <a:off x="1646332" y="2523744"/>
            <a:ext cx="617374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AU-2</a:t>
            </a:r>
            <a:endParaRPr sz="1100"/>
          </a:p>
        </p:txBody>
      </p:sp>
      <p:sp>
        <p:nvSpPr>
          <p:cNvPr id="629" name="Google Shape;629;p38"/>
          <p:cNvSpPr txBox="1"/>
          <p:nvPr/>
        </p:nvSpPr>
        <p:spPr>
          <a:xfrm>
            <a:off x="2366602" y="2462022"/>
            <a:ext cx="157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 Logging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30" name="Google Shape;630;p38"/>
          <p:cNvSpPr txBox="1"/>
          <p:nvPr/>
        </p:nvSpPr>
        <p:spPr>
          <a:xfrm>
            <a:off x="2366602" y="2633472"/>
            <a:ext cx="6242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Per-run row: tool, argv, target, duration, exit status, ISO 8601 time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31" name="Google Shape;631;p38"/>
          <p:cNvSpPr/>
          <p:nvPr/>
        </p:nvSpPr>
        <p:spPr>
          <a:xfrm>
            <a:off x="342986" y="2859786"/>
            <a:ext cx="48018" cy="397764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8"/>
          <p:cNvSpPr/>
          <p:nvPr/>
        </p:nvSpPr>
        <p:spPr>
          <a:xfrm>
            <a:off x="445882" y="2928365"/>
            <a:ext cx="1131853" cy="233172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8"/>
          <p:cNvSpPr txBox="1"/>
          <p:nvPr/>
        </p:nvSpPr>
        <p:spPr>
          <a:xfrm>
            <a:off x="445882" y="2955797"/>
            <a:ext cx="1131900" cy="1923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DETECTIVE</a:t>
            </a:r>
            <a:endParaRPr sz="1300"/>
          </a:p>
        </p:txBody>
      </p:sp>
      <p:sp>
        <p:nvSpPr>
          <p:cNvPr id="634" name="Google Shape;634;p38"/>
          <p:cNvSpPr/>
          <p:nvPr/>
        </p:nvSpPr>
        <p:spPr>
          <a:xfrm>
            <a:off x="1646332" y="2928365"/>
            <a:ext cx="617374" cy="233172"/>
          </a:xfrm>
          <a:prstGeom prst="rect">
            <a:avLst/>
          </a:prstGeom>
          <a:solidFill>
            <a:srgbClr val="1226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8"/>
          <p:cNvSpPr txBox="1"/>
          <p:nvPr/>
        </p:nvSpPr>
        <p:spPr>
          <a:xfrm>
            <a:off x="1646332" y="2955797"/>
            <a:ext cx="617374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AU-3</a:t>
            </a:r>
            <a:endParaRPr sz="1100"/>
          </a:p>
        </p:txBody>
      </p:sp>
      <p:sp>
        <p:nvSpPr>
          <p:cNvPr id="636" name="Google Shape;636;p38"/>
          <p:cNvSpPr txBox="1"/>
          <p:nvPr/>
        </p:nvSpPr>
        <p:spPr>
          <a:xfrm>
            <a:off x="2366602" y="2894076"/>
            <a:ext cx="157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Evidence Provenance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37" name="Google Shape;637;p38"/>
          <p:cNvSpPr txBox="1"/>
          <p:nvPr/>
        </p:nvSpPr>
        <p:spPr>
          <a:xfrm>
            <a:off x="2366602" y="3065526"/>
            <a:ext cx="6242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finding cites the run it came from; report links to that output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38" name="Google Shape;638;p38"/>
          <p:cNvSpPr/>
          <p:nvPr/>
        </p:nvSpPr>
        <p:spPr>
          <a:xfrm>
            <a:off x="342986" y="3291840"/>
            <a:ext cx="48018" cy="397764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8"/>
          <p:cNvSpPr/>
          <p:nvPr/>
        </p:nvSpPr>
        <p:spPr>
          <a:xfrm>
            <a:off x="445882" y="3360419"/>
            <a:ext cx="1131853" cy="233172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8"/>
          <p:cNvSpPr txBox="1"/>
          <p:nvPr/>
        </p:nvSpPr>
        <p:spPr>
          <a:xfrm>
            <a:off x="445882" y="3387852"/>
            <a:ext cx="1131900" cy="1923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DETECTIVE</a:t>
            </a:r>
            <a:endParaRPr sz="1300"/>
          </a:p>
        </p:txBody>
      </p:sp>
      <p:sp>
        <p:nvSpPr>
          <p:cNvPr id="641" name="Google Shape;641;p38"/>
          <p:cNvSpPr/>
          <p:nvPr/>
        </p:nvSpPr>
        <p:spPr>
          <a:xfrm>
            <a:off x="1646332" y="3360419"/>
            <a:ext cx="617374" cy="233172"/>
          </a:xfrm>
          <a:prstGeom prst="rect">
            <a:avLst/>
          </a:prstGeom>
          <a:solidFill>
            <a:srgbClr val="1226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8"/>
          <p:cNvSpPr txBox="1"/>
          <p:nvPr/>
        </p:nvSpPr>
        <p:spPr>
          <a:xfrm>
            <a:off x="1646332" y="3387852"/>
            <a:ext cx="617374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SI-7</a:t>
            </a:r>
            <a:endParaRPr sz="1100"/>
          </a:p>
        </p:txBody>
      </p:sp>
      <p:sp>
        <p:nvSpPr>
          <p:cNvPr id="643" name="Google Shape;643;p38"/>
          <p:cNvSpPr txBox="1"/>
          <p:nvPr/>
        </p:nvSpPr>
        <p:spPr>
          <a:xfrm>
            <a:off x="2366602" y="3326130"/>
            <a:ext cx="157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 Integrity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44" name="Google Shape;644;p38"/>
          <p:cNvSpPr txBox="1"/>
          <p:nvPr/>
        </p:nvSpPr>
        <p:spPr>
          <a:xfrm>
            <a:off x="2366602" y="3497580"/>
            <a:ext cx="6242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captured output hashed on write; `ghost-hunter evidence` re-verifies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45" name="Google Shape;645;p38"/>
          <p:cNvSpPr/>
          <p:nvPr/>
        </p:nvSpPr>
        <p:spPr>
          <a:xfrm>
            <a:off x="342986" y="3723894"/>
            <a:ext cx="48018" cy="397764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8"/>
          <p:cNvSpPr/>
          <p:nvPr/>
        </p:nvSpPr>
        <p:spPr>
          <a:xfrm>
            <a:off x="445882" y="3792473"/>
            <a:ext cx="1131853" cy="233172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8"/>
          <p:cNvSpPr txBox="1"/>
          <p:nvPr/>
        </p:nvSpPr>
        <p:spPr>
          <a:xfrm>
            <a:off x="445882" y="3819905"/>
            <a:ext cx="1131900" cy="1923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RESPONSIVE</a:t>
            </a:r>
            <a:endParaRPr sz="1300"/>
          </a:p>
        </p:txBody>
      </p:sp>
      <p:sp>
        <p:nvSpPr>
          <p:cNvPr id="648" name="Google Shape;648;p38"/>
          <p:cNvSpPr/>
          <p:nvPr/>
        </p:nvSpPr>
        <p:spPr>
          <a:xfrm>
            <a:off x="1646332" y="3792473"/>
            <a:ext cx="617374" cy="233172"/>
          </a:xfrm>
          <a:prstGeom prst="rect">
            <a:avLst/>
          </a:prstGeom>
          <a:solidFill>
            <a:srgbClr val="1226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8"/>
          <p:cNvSpPr txBox="1"/>
          <p:nvPr/>
        </p:nvSpPr>
        <p:spPr>
          <a:xfrm>
            <a:off x="1646332" y="3819905"/>
            <a:ext cx="617374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SC-5</a:t>
            </a:r>
            <a:endParaRPr sz="1100"/>
          </a:p>
        </p:txBody>
      </p:sp>
      <p:sp>
        <p:nvSpPr>
          <p:cNvPr id="650" name="Google Shape;650;p38"/>
          <p:cNvSpPr txBox="1"/>
          <p:nvPr/>
        </p:nvSpPr>
        <p:spPr>
          <a:xfrm>
            <a:off x="2366602" y="3758184"/>
            <a:ext cx="157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Rate Limit Backoff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51" name="Google Shape;651;p38"/>
          <p:cNvSpPr txBox="1"/>
          <p:nvPr/>
        </p:nvSpPr>
        <p:spPr>
          <a:xfrm>
            <a:off x="2366602" y="3929634"/>
            <a:ext cx="6242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Per-tool timeout, process-group kill, bounded output; a run cannot hang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52" name="Google Shape;652;p38"/>
          <p:cNvSpPr/>
          <p:nvPr/>
        </p:nvSpPr>
        <p:spPr>
          <a:xfrm>
            <a:off x="342986" y="4155948"/>
            <a:ext cx="48018" cy="397764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8"/>
          <p:cNvSpPr/>
          <p:nvPr/>
        </p:nvSpPr>
        <p:spPr>
          <a:xfrm>
            <a:off x="445882" y="4224528"/>
            <a:ext cx="1131853" cy="233172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8"/>
          <p:cNvSpPr txBox="1"/>
          <p:nvPr/>
        </p:nvSpPr>
        <p:spPr>
          <a:xfrm>
            <a:off x="445882" y="4251960"/>
            <a:ext cx="1131900" cy="1923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RESPONSIVE</a:t>
            </a:r>
            <a:endParaRPr sz="1300"/>
          </a:p>
        </p:txBody>
      </p:sp>
      <p:sp>
        <p:nvSpPr>
          <p:cNvPr id="655" name="Google Shape;655;p38"/>
          <p:cNvSpPr/>
          <p:nvPr/>
        </p:nvSpPr>
        <p:spPr>
          <a:xfrm>
            <a:off x="1646332" y="4224528"/>
            <a:ext cx="617374" cy="233172"/>
          </a:xfrm>
          <a:prstGeom prst="rect">
            <a:avLst/>
          </a:prstGeom>
          <a:solidFill>
            <a:srgbClr val="1226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8"/>
          <p:cNvSpPr txBox="1"/>
          <p:nvPr/>
        </p:nvSpPr>
        <p:spPr>
          <a:xfrm>
            <a:off x="1646332" y="4251960"/>
            <a:ext cx="617374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IR-4</a:t>
            </a:r>
            <a:endParaRPr sz="1100"/>
          </a:p>
        </p:txBody>
      </p:sp>
      <p:sp>
        <p:nvSpPr>
          <p:cNvPr id="657" name="Google Shape;657;p38"/>
          <p:cNvSpPr txBox="1"/>
          <p:nvPr/>
        </p:nvSpPr>
        <p:spPr>
          <a:xfrm>
            <a:off x="2366602" y="4190238"/>
            <a:ext cx="157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Evidence Packaging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58" name="Google Shape;658;p38"/>
          <p:cNvSpPr txBox="1"/>
          <p:nvPr/>
        </p:nvSpPr>
        <p:spPr>
          <a:xfrm>
            <a:off x="2366602" y="4361688"/>
            <a:ext cx="6242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 + masked twin + CSV/JSON exports; raw captures kept beside the DB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59" name="Google Shape;659;p38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22 / 27</a:t>
            </a:r>
            <a:endParaRPr sz="1100"/>
          </a:p>
        </p:txBody>
      </p:sp>
      <p:pic>
        <p:nvPicPr>
          <p:cNvPr id="660" name="Google Shape;66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9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4 — WHAT WAS DELIVERED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66" name="Google Shape;666;p39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Delivered Increments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67" name="Google Shape;667;p39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9"/>
          <p:cNvSpPr/>
          <p:nvPr/>
        </p:nvSpPr>
        <p:spPr>
          <a:xfrm>
            <a:off x="342986" y="1131570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9"/>
          <p:cNvSpPr/>
          <p:nvPr/>
        </p:nvSpPr>
        <p:spPr>
          <a:xfrm>
            <a:off x="445882" y="1268729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9"/>
          <p:cNvSpPr txBox="1"/>
          <p:nvPr/>
        </p:nvSpPr>
        <p:spPr>
          <a:xfrm>
            <a:off x="445882" y="1316736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/>
          </a:p>
        </p:txBody>
      </p:sp>
      <p:sp>
        <p:nvSpPr>
          <p:cNvPr id="671" name="Google Shape;671;p39"/>
          <p:cNvSpPr txBox="1"/>
          <p:nvPr/>
        </p:nvSpPr>
        <p:spPr>
          <a:xfrm>
            <a:off x="1440540" y="1200150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2" name="Google Shape;672;p39"/>
          <p:cNvSpPr txBox="1"/>
          <p:nvPr/>
        </p:nvSpPr>
        <p:spPr>
          <a:xfrm>
            <a:off x="1440540" y="1313630"/>
            <a:ext cx="2743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Infrastructure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9"/>
          <p:cNvSpPr txBox="1"/>
          <p:nvPr/>
        </p:nvSpPr>
        <p:spPr>
          <a:xfrm>
            <a:off x="3136276" y="1337300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SQLite schema · BFS orchestrator · CLI · config-driven tool table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4" name="Google Shape;674;p39"/>
          <p:cNvSpPr/>
          <p:nvPr/>
        </p:nvSpPr>
        <p:spPr>
          <a:xfrm>
            <a:off x="342986" y="1872234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9"/>
          <p:cNvSpPr/>
          <p:nvPr/>
        </p:nvSpPr>
        <p:spPr>
          <a:xfrm>
            <a:off x="445882" y="2009394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9"/>
          <p:cNvSpPr txBox="1"/>
          <p:nvPr/>
        </p:nvSpPr>
        <p:spPr>
          <a:xfrm>
            <a:off x="445882" y="2057400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/>
          </a:p>
        </p:txBody>
      </p:sp>
      <p:sp>
        <p:nvSpPr>
          <p:cNvPr id="677" name="Google Shape;677;p39"/>
          <p:cNvSpPr txBox="1"/>
          <p:nvPr/>
        </p:nvSpPr>
        <p:spPr>
          <a:xfrm>
            <a:off x="1440540" y="1940814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78" name="Google Shape;678;p39"/>
          <p:cNvSpPr txBox="1"/>
          <p:nvPr/>
        </p:nvSpPr>
        <p:spPr>
          <a:xfrm>
            <a:off x="1440540" y="2125980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Collection Modules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79" name="Google Shape;679;p39"/>
          <p:cNvSpPr txBox="1"/>
          <p:nvPr/>
        </p:nvSpPr>
        <p:spPr>
          <a:xfrm>
            <a:off x="3136276" y="2077968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native modules · 14 tool integrations · a parser per output format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80" name="Google Shape;680;p39"/>
          <p:cNvSpPr/>
          <p:nvPr/>
        </p:nvSpPr>
        <p:spPr>
          <a:xfrm>
            <a:off x="342986" y="2612898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9"/>
          <p:cNvSpPr/>
          <p:nvPr/>
        </p:nvSpPr>
        <p:spPr>
          <a:xfrm>
            <a:off x="445882" y="2750058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9"/>
          <p:cNvSpPr txBox="1"/>
          <p:nvPr/>
        </p:nvSpPr>
        <p:spPr>
          <a:xfrm>
            <a:off x="445882" y="2798064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/>
          </a:p>
        </p:txBody>
      </p:sp>
      <p:sp>
        <p:nvSpPr>
          <p:cNvPr id="683" name="Google Shape;683;p39"/>
          <p:cNvSpPr txBox="1"/>
          <p:nvPr/>
        </p:nvSpPr>
        <p:spPr>
          <a:xfrm>
            <a:off x="1440540" y="2681478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84" name="Google Shape;684;p39"/>
          <p:cNvSpPr txBox="1"/>
          <p:nvPr/>
        </p:nvSpPr>
        <p:spPr>
          <a:xfrm>
            <a:off x="1440540" y="2866643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Correlation Engine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85" name="Google Shape;685;p39"/>
          <p:cNvSpPr txBox="1"/>
          <p:nvPr/>
        </p:nvSpPr>
        <p:spPr>
          <a:xfrm>
            <a:off x="3136276" y="2818637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NetworkX graph · persona clusters · scorer with provenance breakdown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86" name="Google Shape;686;p39"/>
          <p:cNvSpPr/>
          <p:nvPr/>
        </p:nvSpPr>
        <p:spPr>
          <a:xfrm>
            <a:off x="342986" y="3353562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9"/>
          <p:cNvSpPr/>
          <p:nvPr/>
        </p:nvSpPr>
        <p:spPr>
          <a:xfrm>
            <a:off x="445882" y="3490722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/>
          <p:cNvSpPr txBox="1"/>
          <p:nvPr/>
        </p:nvSpPr>
        <p:spPr>
          <a:xfrm>
            <a:off x="445882" y="3538728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/>
          </a:p>
        </p:txBody>
      </p:sp>
      <p:sp>
        <p:nvSpPr>
          <p:cNvPr id="689" name="Google Shape;689;p39"/>
          <p:cNvSpPr txBox="1"/>
          <p:nvPr/>
        </p:nvSpPr>
        <p:spPr>
          <a:xfrm>
            <a:off x="1440540" y="3422142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0" name="Google Shape;690;p39"/>
          <p:cNvSpPr txBox="1"/>
          <p:nvPr/>
        </p:nvSpPr>
        <p:spPr>
          <a:xfrm>
            <a:off x="1440540" y="3607308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Reporting &amp; Disclosure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91" name="Google Shape;691;p39"/>
          <p:cNvSpPr txBox="1"/>
          <p:nvPr/>
        </p:nvSpPr>
        <p:spPr>
          <a:xfrm>
            <a:off x="3136276" y="3559305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Findings-first HTML · geo map · timeline · redacted twin · JSON/CSV/PDF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2" name="Google Shape;692;p39"/>
          <p:cNvSpPr/>
          <p:nvPr/>
        </p:nvSpPr>
        <p:spPr>
          <a:xfrm>
            <a:off x="342986" y="4094226"/>
            <a:ext cx="48018" cy="65836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9"/>
          <p:cNvSpPr/>
          <p:nvPr/>
        </p:nvSpPr>
        <p:spPr>
          <a:xfrm>
            <a:off x="445882" y="4231386"/>
            <a:ext cx="891763" cy="342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9"/>
          <p:cNvSpPr txBox="1"/>
          <p:nvPr/>
        </p:nvSpPr>
        <p:spPr>
          <a:xfrm>
            <a:off x="445882" y="4279392"/>
            <a:ext cx="891900" cy="238500"/>
          </a:xfrm>
          <a:prstGeom prst="rect">
            <a:avLst/>
          </a:prstGeom>
          <a:solidFill>
            <a:srgbClr val="01809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5</a:t>
            </a:r>
            <a:endParaRPr/>
          </a:p>
        </p:txBody>
      </p:sp>
      <p:sp>
        <p:nvSpPr>
          <p:cNvPr id="695" name="Google Shape;695;p39"/>
          <p:cNvSpPr txBox="1"/>
          <p:nvPr/>
        </p:nvSpPr>
        <p:spPr>
          <a:xfrm>
            <a:off x="1440540" y="4162806"/>
            <a:ext cx="68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6" name="Google Shape;696;p39"/>
          <p:cNvSpPr txBox="1"/>
          <p:nvPr/>
        </p:nvSpPr>
        <p:spPr>
          <a:xfrm>
            <a:off x="1440540" y="4347972"/>
            <a:ext cx="2743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Evidence &amp; Hardening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97" name="Google Shape;697;p39"/>
          <p:cNvSpPr txBox="1"/>
          <p:nvPr/>
        </p:nvSpPr>
        <p:spPr>
          <a:xfrm>
            <a:off x="3136276" y="4299974"/>
            <a:ext cx="5506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Evidence store · process-group isolation · 588 tests · live runs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98" name="Google Shape;698;p39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25 / 27</a:t>
            </a:r>
            <a:endParaRPr sz="1100"/>
          </a:p>
        </p:txBody>
      </p:sp>
      <p:pic>
        <p:nvPicPr>
          <p:cNvPr id="699" name="Google Shape;69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40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4 — STORAGE LAYER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05" name="Google Shape;705;p40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SQLite Investigation Schema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06" name="Google Shape;706;p40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0"/>
          <p:cNvSpPr/>
          <p:nvPr/>
        </p:nvSpPr>
        <p:spPr>
          <a:xfrm>
            <a:off x="342986" y="1131570"/>
            <a:ext cx="4047232" cy="233172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40"/>
          <p:cNvSpPr txBox="1"/>
          <p:nvPr/>
        </p:nvSpPr>
        <p:spPr>
          <a:xfrm>
            <a:off x="445882" y="1114198"/>
            <a:ext cx="3909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investigations</a:t>
            </a:r>
            <a:endParaRPr sz="1300"/>
          </a:p>
        </p:txBody>
      </p:sp>
      <p:sp>
        <p:nvSpPr>
          <p:cNvPr id="709" name="Google Shape;709;p40"/>
          <p:cNvSpPr txBox="1"/>
          <p:nvPr/>
        </p:nvSpPr>
        <p:spPr>
          <a:xfrm>
            <a:off x="480180" y="1405889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investigation_id  TEXT  PK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10" name="Google Shape;710;p40"/>
          <p:cNvSpPr txBox="1"/>
          <p:nvPr/>
        </p:nvSpPr>
        <p:spPr>
          <a:xfrm>
            <a:off x="480180" y="1628775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title  TEXT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11" name="Google Shape;711;p40"/>
          <p:cNvSpPr txBox="1"/>
          <p:nvPr/>
        </p:nvSpPr>
        <p:spPr>
          <a:xfrm>
            <a:off x="480180" y="1851659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  TEXT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12" name="Google Shape;712;p40"/>
          <p:cNvSpPr txBox="1"/>
          <p:nvPr/>
        </p:nvSpPr>
        <p:spPr>
          <a:xfrm>
            <a:off x="480180" y="2074545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status  TEXT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13" name="Google Shape;713;p40"/>
          <p:cNvSpPr txBox="1"/>
          <p:nvPr/>
        </p:nvSpPr>
        <p:spPr>
          <a:xfrm>
            <a:off x="480180" y="2297429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created_at  TEXT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14" name="Google Shape;714;p40"/>
          <p:cNvSpPr txBox="1"/>
          <p:nvPr/>
        </p:nvSpPr>
        <p:spPr>
          <a:xfrm>
            <a:off x="480180" y="2520315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15" name="Google Shape;715;p40"/>
          <p:cNvSpPr/>
          <p:nvPr/>
        </p:nvSpPr>
        <p:spPr>
          <a:xfrm>
            <a:off x="4822380" y="1131570"/>
            <a:ext cx="4047232" cy="233172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40"/>
          <p:cNvSpPr txBox="1"/>
          <p:nvPr/>
        </p:nvSpPr>
        <p:spPr>
          <a:xfrm>
            <a:off x="4925276" y="1114198"/>
            <a:ext cx="3909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artifacts</a:t>
            </a:r>
            <a:endParaRPr sz="1300"/>
          </a:p>
        </p:txBody>
      </p:sp>
      <p:sp>
        <p:nvSpPr>
          <p:cNvPr id="717" name="Google Shape;717;p40"/>
          <p:cNvSpPr txBox="1"/>
          <p:nvPr/>
        </p:nvSpPr>
        <p:spPr>
          <a:xfrm>
            <a:off x="4959575" y="1405889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artifact_id  TEXT  PK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18" name="Google Shape;718;p40"/>
          <p:cNvSpPr txBox="1"/>
          <p:nvPr/>
        </p:nvSpPr>
        <p:spPr>
          <a:xfrm>
            <a:off x="4959575" y="1596934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investigation_id  TEXT  FK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19" name="Google Shape;719;p40"/>
          <p:cNvSpPr txBox="1"/>
          <p:nvPr/>
        </p:nvSpPr>
        <p:spPr>
          <a:xfrm>
            <a:off x="4959575" y="1787978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artifact_type  TEXT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20" name="Google Shape;720;p40"/>
          <p:cNvSpPr txBox="1"/>
          <p:nvPr/>
        </p:nvSpPr>
        <p:spPr>
          <a:xfrm>
            <a:off x="4959575" y="1979023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  TEXT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21" name="Google Shape;721;p40"/>
          <p:cNvSpPr txBox="1"/>
          <p:nvPr/>
        </p:nvSpPr>
        <p:spPr>
          <a:xfrm>
            <a:off x="4959575" y="2170067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 TEXT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22" name="Google Shape;722;p40"/>
          <p:cNvSpPr txBox="1"/>
          <p:nvPr/>
        </p:nvSpPr>
        <p:spPr>
          <a:xfrm>
            <a:off x="4959575" y="2361111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confidence  REAL  CHECK(0-1)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23" name="Google Shape;723;p40"/>
          <p:cNvSpPr txBox="1"/>
          <p:nvPr/>
        </p:nvSpPr>
        <p:spPr>
          <a:xfrm>
            <a:off x="4959575" y="2552156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metadata  TEXT (JSON)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24" name="Google Shape;724;p40"/>
          <p:cNvSpPr/>
          <p:nvPr/>
        </p:nvSpPr>
        <p:spPr>
          <a:xfrm>
            <a:off x="342986" y="2811779"/>
            <a:ext cx="4047232" cy="233172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40"/>
          <p:cNvSpPr txBox="1"/>
          <p:nvPr/>
        </p:nvSpPr>
        <p:spPr>
          <a:xfrm>
            <a:off x="445882" y="2794407"/>
            <a:ext cx="3909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artifact_links</a:t>
            </a:r>
            <a:endParaRPr sz="1300"/>
          </a:p>
        </p:txBody>
      </p:sp>
      <p:sp>
        <p:nvSpPr>
          <p:cNvPr id="726" name="Google Shape;726;p40"/>
          <p:cNvSpPr txBox="1"/>
          <p:nvPr/>
        </p:nvSpPr>
        <p:spPr>
          <a:xfrm>
            <a:off x="480180" y="3086100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link_id  TEXT  PK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27" name="Google Shape;727;p40"/>
          <p:cNvSpPr txBox="1"/>
          <p:nvPr/>
        </p:nvSpPr>
        <p:spPr>
          <a:xfrm>
            <a:off x="480180" y="3366135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source_artifact  TEXT  FK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28" name="Google Shape;728;p40"/>
          <p:cNvSpPr txBox="1"/>
          <p:nvPr/>
        </p:nvSpPr>
        <p:spPr>
          <a:xfrm>
            <a:off x="480180" y="3646170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target_artifact  TEXT  FK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29" name="Google Shape;729;p40"/>
          <p:cNvSpPr txBox="1"/>
          <p:nvPr/>
        </p:nvSpPr>
        <p:spPr>
          <a:xfrm>
            <a:off x="480180" y="3926205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link_type  TEXT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30" name="Google Shape;730;p40"/>
          <p:cNvSpPr txBox="1"/>
          <p:nvPr/>
        </p:nvSpPr>
        <p:spPr>
          <a:xfrm>
            <a:off x="480180" y="4206240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confidence  REAL  CHECK(0-1)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31" name="Google Shape;731;p40"/>
          <p:cNvSpPr txBox="1"/>
          <p:nvPr/>
        </p:nvSpPr>
        <p:spPr>
          <a:xfrm>
            <a:off x="480180" y="4486275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evidence  TEXT (JSON)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32" name="Google Shape;732;p40"/>
          <p:cNvSpPr/>
          <p:nvPr/>
        </p:nvSpPr>
        <p:spPr>
          <a:xfrm>
            <a:off x="4822380" y="2811779"/>
            <a:ext cx="4047232" cy="233172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40"/>
          <p:cNvSpPr txBox="1"/>
          <p:nvPr/>
        </p:nvSpPr>
        <p:spPr>
          <a:xfrm>
            <a:off x="4925276" y="2794407"/>
            <a:ext cx="3909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evidence</a:t>
            </a:r>
            <a:endParaRPr sz="1300"/>
          </a:p>
        </p:txBody>
      </p:sp>
      <p:sp>
        <p:nvSpPr>
          <p:cNvPr id="734" name="Google Shape;734;p40"/>
          <p:cNvSpPr txBox="1"/>
          <p:nvPr/>
        </p:nvSpPr>
        <p:spPr>
          <a:xfrm>
            <a:off x="4959575" y="3086100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evidence_id  TEXT  PK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35" name="Google Shape;735;p40"/>
          <p:cNvSpPr txBox="1"/>
          <p:nvPr/>
        </p:nvSpPr>
        <p:spPr>
          <a:xfrm>
            <a:off x="4959575" y="3366135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 / operation  TEXT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36" name="Google Shape;736;p40"/>
          <p:cNvSpPr txBox="1"/>
          <p:nvPr/>
        </p:nvSpPr>
        <p:spPr>
          <a:xfrm>
            <a:off x="4959575" y="3646170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  TEXT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37" name="Google Shape;737;p40"/>
          <p:cNvSpPr txBox="1"/>
          <p:nvPr/>
        </p:nvSpPr>
        <p:spPr>
          <a:xfrm>
            <a:off x="4959575" y="3926205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sha256 / byte_size  TEXT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38" name="Google Shape;738;p40"/>
          <p:cNvSpPr txBox="1"/>
          <p:nvPr/>
        </p:nvSpPr>
        <p:spPr>
          <a:xfrm>
            <a:off x="4959575" y="4206240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exit_status  TEXT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39" name="Google Shape;739;p40"/>
          <p:cNvSpPr txBox="1"/>
          <p:nvPr/>
        </p:nvSpPr>
        <p:spPr>
          <a:xfrm>
            <a:off x="4959575" y="4486275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stored_path  TEXT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40" name="Google Shape;740;p40"/>
          <p:cNvSpPr txBox="1"/>
          <p:nvPr/>
        </p:nvSpPr>
        <p:spPr>
          <a:xfrm>
            <a:off x="342986" y="4821173"/>
            <a:ext cx="845803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PK = Primary Key   FK = Foreign Key   ·  also: platform_presence, audit_trail, investigation_metadata, geocode_cache</a:t>
            </a:r>
            <a:endParaRPr sz="1100"/>
          </a:p>
        </p:txBody>
      </p:sp>
      <p:sp>
        <p:nvSpPr>
          <p:cNvPr id="741" name="Google Shape;741;p40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16 / 27</a:t>
            </a:r>
            <a:endParaRPr sz="1100"/>
          </a:p>
        </p:txBody>
      </p:sp>
      <p:pic>
        <p:nvPicPr>
          <p:cNvPr id="742" name="Google Shape;74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41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4 — PHASE 3: CORRELATION ENGINE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48" name="Google Shape;748;p41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Identity Graph &amp; Confidence Scoring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49" name="Google Shape;749;p41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41"/>
          <p:cNvSpPr/>
          <p:nvPr/>
        </p:nvSpPr>
        <p:spPr>
          <a:xfrm>
            <a:off x="342986" y="1131570"/>
            <a:ext cx="48018" cy="3771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41"/>
          <p:cNvSpPr txBox="1"/>
          <p:nvPr/>
        </p:nvSpPr>
        <p:spPr>
          <a:xfrm>
            <a:off x="493900" y="1200150"/>
            <a:ext cx="3841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IDENTITY GRAPH (NetworkX DiGraph)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52" name="Google Shape;752;p41"/>
          <p:cNvSpPr txBox="1"/>
          <p:nvPr/>
        </p:nvSpPr>
        <p:spPr>
          <a:xfrm>
            <a:off x="493900" y="1488186"/>
            <a:ext cx="3772800" cy="31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Nodes:   Artifact records (phone, email,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username, image)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Edges:   Directed weighted relationships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(link_type + confidence score)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Algorithm: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1. Build DiGraph from DB artifacts + links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2. Find weakly connected components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3. Each component = one persona cluster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4. Score = cross-type link density / 5.0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(capped at 1.0)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 classification per cluster: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burner_or_voip_phone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disposable_email_address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credential_breach_exposure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stolen_profile_photograph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53" name="Google Shape;753;p41"/>
          <p:cNvSpPr/>
          <p:nvPr/>
        </p:nvSpPr>
        <p:spPr>
          <a:xfrm>
            <a:off x="4698905" y="1131570"/>
            <a:ext cx="48018" cy="3771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41"/>
          <p:cNvSpPr txBox="1"/>
          <p:nvPr/>
        </p:nvSpPr>
        <p:spPr>
          <a:xfrm>
            <a:off x="4849819" y="1200150"/>
            <a:ext cx="3841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CONFIDENCE SCORING MODEL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55" name="Google Shape;755;p41"/>
          <p:cNvSpPr/>
          <p:nvPr/>
        </p:nvSpPr>
        <p:spPr>
          <a:xfrm>
            <a:off x="4849819" y="1488186"/>
            <a:ext cx="3807142" cy="246888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41"/>
          <p:cNvSpPr txBox="1"/>
          <p:nvPr/>
        </p:nvSpPr>
        <p:spPr>
          <a:xfrm>
            <a:off x="4884118" y="1522476"/>
            <a:ext cx="2743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Link Type</a:t>
            </a:r>
            <a:endParaRPr sz="1300"/>
          </a:p>
        </p:txBody>
      </p:sp>
      <p:sp>
        <p:nvSpPr>
          <p:cNvPr id="757" name="Google Shape;757;p41"/>
          <p:cNvSpPr txBox="1"/>
          <p:nvPr/>
        </p:nvSpPr>
        <p:spPr>
          <a:xfrm>
            <a:off x="7545688" y="1522476"/>
            <a:ext cx="548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sz="1300"/>
          </a:p>
        </p:txBody>
      </p:sp>
      <p:sp>
        <p:nvSpPr>
          <p:cNvPr id="758" name="Google Shape;758;p41"/>
          <p:cNvSpPr/>
          <p:nvPr/>
        </p:nvSpPr>
        <p:spPr>
          <a:xfrm>
            <a:off x="4849819" y="1735074"/>
            <a:ext cx="3807142" cy="342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41"/>
          <p:cNvSpPr txBox="1"/>
          <p:nvPr/>
        </p:nvSpPr>
        <p:spPr>
          <a:xfrm>
            <a:off x="4938996" y="1803654"/>
            <a:ext cx="2469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exact_match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60" name="Google Shape;760;p41"/>
          <p:cNvSpPr/>
          <p:nvPr/>
        </p:nvSpPr>
        <p:spPr>
          <a:xfrm>
            <a:off x="7408493" y="1789938"/>
            <a:ext cx="617374" cy="233172"/>
          </a:xfrm>
          <a:prstGeom prst="rect">
            <a:avLst/>
          </a:prstGeom>
          <a:solidFill>
            <a:srgbClr val="39D35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41"/>
          <p:cNvSpPr txBox="1"/>
          <p:nvPr/>
        </p:nvSpPr>
        <p:spPr>
          <a:xfrm>
            <a:off x="7408493" y="1817370"/>
            <a:ext cx="61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 sz="1300"/>
          </a:p>
        </p:txBody>
      </p:sp>
      <p:sp>
        <p:nvSpPr>
          <p:cNvPr id="762" name="Google Shape;762;p41"/>
          <p:cNvSpPr/>
          <p:nvPr/>
        </p:nvSpPr>
        <p:spPr>
          <a:xfrm>
            <a:off x="4849819" y="2105406"/>
            <a:ext cx="3807142" cy="342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41"/>
          <p:cNvSpPr txBox="1"/>
          <p:nvPr/>
        </p:nvSpPr>
        <p:spPr>
          <a:xfrm>
            <a:off x="4938996" y="2173986"/>
            <a:ext cx="2469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registered_with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64" name="Google Shape;764;p41"/>
          <p:cNvSpPr/>
          <p:nvPr/>
        </p:nvSpPr>
        <p:spPr>
          <a:xfrm>
            <a:off x="7408493" y="2160270"/>
            <a:ext cx="617374" cy="233172"/>
          </a:xfrm>
          <a:prstGeom prst="rect">
            <a:avLst/>
          </a:prstGeom>
          <a:solidFill>
            <a:srgbClr val="39D35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41"/>
          <p:cNvSpPr txBox="1"/>
          <p:nvPr/>
        </p:nvSpPr>
        <p:spPr>
          <a:xfrm>
            <a:off x="7408493" y="2187702"/>
            <a:ext cx="61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0.90</a:t>
            </a:r>
            <a:endParaRPr sz="1300"/>
          </a:p>
        </p:txBody>
      </p:sp>
      <p:sp>
        <p:nvSpPr>
          <p:cNvPr id="766" name="Google Shape;766;p41"/>
          <p:cNvSpPr/>
          <p:nvPr/>
        </p:nvSpPr>
        <p:spPr>
          <a:xfrm>
            <a:off x="4849819" y="2475738"/>
            <a:ext cx="3807142" cy="342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41"/>
          <p:cNvSpPr txBox="1"/>
          <p:nvPr/>
        </p:nvSpPr>
        <p:spPr>
          <a:xfrm>
            <a:off x="4938996" y="2544318"/>
            <a:ext cx="2469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breach_linked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68" name="Google Shape;768;p41"/>
          <p:cNvSpPr/>
          <p:nvPr/>
        </p:nvSpPr>
        <p:spPr>
          <a:xfrm>
            <a:off x="7408493" y="2530602"/>
            <a:ext cx="617374" cy="233172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41"/>
          <p:cNvSpPr txBox="1"/>
          <p:nvPr/>
        </p:nvSpPr>
        <p:spPr>
          <a:xfrm>
            <a:off x="7408493" y="2558034"/>
            <a:ext cx="61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0.80</a:t>
            </a:r>
            <a:endParaRPr sz="1300"/>
          </a:p>
        </p:txBody>
      </p:sp>
      <p:sp>
        <p:nvSpPr>
          <p:cNvPr id="770" name="Google Shape;770;p41"/>
          <p:cNvSpPr/>
          <p:nvPr/>
        </p:nvSpPr>
        <p:spPr>
          <a:xfrm>
            <a:off x="4849819" y="2846070"/>
            <a:ext cx="3807142" cy="342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41"/>
          <p:cNvSpPr txBox="1"/>
          <p:nvPr/>
        </p:nvSpPr>
        <p:spPr>
          <a:xfrm>
            <a:off x="4938996" y="2914650"/>
            <a:ext cx="2469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image_match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72" name="Google Shape;772;p41"/>
          <p:cNvSpPr/>
          <p:nvPr/>
        </p:nvSpPr>
        <p:spPr>
          <a:xfrm>
            <a:off x="7408493" y="2900934"/>
            <a:ext cx="617374" cy="233172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1"/>
          <p:cNvSpPr txBox="1"/>
          <p:nvPr/>
        </p:nvSpPr>
        <p:spPr>
          <a:xfrm>
            <a:off x="7408493" y="2928366"/>
            <a:ext cx="61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0.75</a:t>
            </a:r>
            <a:endParaRPr sz="1300"/>
          </a:p>
        </p:txBody>
      </p:sp>
      <p:sp>
        <p:nvSpPr>
          <p:cNvPr id="774" name="Google Shape;774;p41"/>
          <p:cNvSpPr/>
          <p:nvPr/>
        </p:nvSpPr>
        <p:spPr>
          <a:xfrm>
            <a:off x="4849819" y="3216402"/>
            <a:ext cx="3807142" cy="342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41"/>
          <p:cNvSpPr txBox="1"/>
          <p:nvPr/>
        </p:nvSpPr>
        <p:spPr>
          <a:xfrm>
            <a:off x="4938996" y="3284981"/>
            <a:ext cx="2469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username_pattern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76" name="Google Shape;776;p41"/>
          <p:cNvSpPr/>
          <p:nvPr/>
        </p:nvSpPr>
        <p:spPr>
          <a:xfrm>
            <a:off x="7408493" y="3271266"/>
            <a:ext cx="617374" cy="233172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41"/>
          <p:cNvSpPr txBox="1"/>
          <p:nvPr/>
        </p:nvSpPr>
        <p:spPr>
          <a:xfrm>
            <a:off x="7408493" y="3298698"/>
            <a:ext cx="61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0.60</a:t>
            </a:r>
            <a:endParaRPr sz="1300"/>
          </a:p>
        </p:txBody>
      </p:sp>
      <p:sp>
        <p:nvSpPr>
          <p:cNvPr id="778" name="Google Shape;778;p41"/>
          <p:cNvSpPr/>
          <p:nvPr/>
        </p:nvSpPr>
        <p:spPr>
          <a:xfrm>
            <a:off x="4849819" y="3586734"/>
            <a:ext cx="3807142" cy="342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41"/>
          <p:cNvSpPr txBox="1"/>
          <p:nvPr/>
        </p:nvSpPr>
        <p:spPr>
          <a:xfrm>
            <a:off x="4938996" y="3655314"/>
            <a:ext cx="2469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temporal_match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80" name="Google Shape;780;p41"/>
          <p:cNvSpPr/>
          <p:nvPr/>
        </p:nvSpPr>
        <p:spPr>
          <a:xfrm>
            <a:off x="7408493" y="3641598"/>
            <a:ext cx="617374" cy="233172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41"/>
          <p:cNvSpPr txBox="1"/>
          <p:nvPr/>
        </p:nvSpPr>
        <p:spPr>
          <a:xfrm>
            <a:off x="7408493" y="3669030"/>
            <a:ext cx="61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0.40</a:t>
            </a:r>
            <a:endParaRPr sz="1300"/>
          </a:p>
        </p:txBody>
      </p:sp>
      <p:sp>
        <p:nvSpPr>
          <p:cNvPr id="782" name="Google Shape;782;p41"/>
          <p:cNvSpPr txBox="1"/>
          <p:nvPr/>
        </p:nvSpPr>
        <p:spPr>
          <a:xfrm>
            <a:off x="4849819" y="3977640"/>
            <a:ext cx="3807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Staleness Decay:  &gt;365 days → ×0.80   |   &gt;730 days → ×0.60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83" name="Google Shape;783;p41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17 / 27</a:t>
            </a:r>
            <a:endParaRPr sz="1100"/>
          </a:p>
        </p:txBody>
      </p:sp>
      <p:pic>
        <p:nvPicPr>
          <p:cNvPr id="784" name="Google Shape;78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42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4 — REPORTING &amp; DISCLOSURE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90" name="Google Shape;790;p42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the Report Contains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91" name="Google Shape;791;p42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42"/>
          <p:cNvSpPr/>
          <p:nvPr/>
        </p:nvSpPr>
        <p:spPr>
          <a:xfrm>
            <a:off x="342986" y="1131570"/>
            <a:ext cx="48018" cy="3771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42"/>
          <p:cNvSpPr txBox="1"/>
          <p:nvPr/>
        </p:nvSpPr>
        <p:spPr>
          <a:xfrm>
            <a:off x="493900" y="1200150"/>
            <a:ext cx="5076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 STRUCTURE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94" name="Google Shape;794;p42"/>
          <p:cNvSpPr/>
          <p:nvPr/>
        </p:nvSpPr>
        <p:spPr>
          <a:xfrm>
            <a:off x="493900" y="1488186"/>
            <a:ext cx="5076190" cy="246888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42"/>
          <p:cNvSpPr txBox="1"/>
          <p:nvPr/>
        </p:nvSpPr>
        <p:spPr>
          <a:xfrm>
            <a:off x="528198" y="1522476"/>
            <a:ext cx="2195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96" name="Google Shape;796;p42"/>
          <p:cNvSpPr txBox="1"/>
          <p:nvPr/>
        </p:nvSpPr>
        <p:spPr>
          <a:xfrm>
            <a:off x="2675289" y="1522476"/>
            <a:ext cx="1029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97" name="Google Shape;797;p42"/>
          <p:cNvSpPr txBox="1"/>
          <p:nvPr/>
        </p:nvSpPr>
        <p:spPr>
          <a:xfrm>
            <a:off x="3738545" y="1522476"/>
            <a:ext cx="171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98" name="Google Shape;798;p42"/>
          <p:cNvSpPr txBox="1"/>
          <p:nvPr/>
        </p:nvSpPr>
        <p:spPr>
          <a:xfrm>
            <a:off x="562497" y="1803654"/>
            <a:ext cx="205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OSINT Overview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99" name="Google Shape;799;p42"/>
          <p:cNvSpPr/>
          <p:nvPr/>
        </p:nvSpPr>
        <p:spPr>
          <a:xfrm>
            <a:off x="2675289" y="1796795"/>
            <a:ext cx="960360" cy="2057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42"/>
          <p:cNvSpPr txBox="1"/>
          <p:nvPr/>
        </p:nvSpPr>
        <p:spPr>
          <a:xfrm>
            <a:off x="2675289" y="1817370"/>
            <a:ext cx="96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+ PDF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01" name="Google Shape;801;p42"/>
          <p:cNvSpPr txBox="1"/>
          <p:nvPr/>
        </p:nvSpPr>
        <p:spPr>
          <a:xfrm>
            <a:off x="3738545" y="1803654"/>
            <a:ext cx="1749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KPIs, headline findings, charts, graph and map — open on load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02" name="Google Shape;802;p42"/>
          <p:cNvSpPr txBox="1"/>
          <p:nvPr/>
        </p:nvSpPr>
        <p:spPr>
          <a:xfrm>
            <a:off x="562497" y="2160270"/>
            <a:ext cx="205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Identity Profile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03" name="Google Shape;803;p42"/>
          <p:cNvSpPr/>
          <p:nvPr/>
        </p:nvSpPr>
        <p:spPr>
          <a:xfrm>
            <a:off x="2675289" y="2153411"/>
            <a:ext cx="960360" cy="2057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42"/>
          <p:cNvSpPr txBox="1"/>
          <p:nvPr/>
        </p:nvSpPr>
        <p:spPr>
          <a:xfrm>
            <a:off x="2675289" y="2173986"/>
            <a:ext cx="96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+ PDF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05" name="Google Shape;805;p42"/>
          <p:cNvSpPr txBox="1"/>
          <p:nvPr/>
        </p:nvSpPr>
        <p:spPr>
          <a:xfrm>
            <a:off x="3738545" y="2160270"/>
            <a:ext cx="1749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Correlated personas, each score shown with its provenance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06" name="Google Shape;806;p42"/>
          <p:cNvSpPr txBox="1"/>
          <p:nvPr/>
        </p:nvSpPr>
        <p:spPr>
          <a:xfrm>
            <a:off x="562497" y="2516886"/>
            <a:ext cx="205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Platform Presence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07" name="Google Shape;807;p42"/>
          <p:cNvSpPr/>
          <p:nvPr/>
        </p:nvSpPr>
        <p:spPr>
          <a:xfrm>
            <a:off x="2675289" y="2510027"/>
            <a:ext cx="960360" cy="2057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42"/>
          <p:cNvSpPr txBox="1"/>
          <p:nvPr/>
        </p:nvSpPr>
        <p:spPr>
          <a:xfrm>
            <a:off x="2675289" y="2530602"/>
            <a:ext cx="96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+ PDF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09" name="Google Shape;809;p42"/>
          <p:cNvSpPr txBox="1"/>
          <p:nvPr/>
        </p:nvSpPr>
        <p:spPr>
          <a:xfrm>
            <a:off x="3738545" y="2516886"/>
            <a:ext cx="1749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Profile URLs and account detail, collapsed by default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10" name="Google Shape;810;p42"/>
          <p:cNvSpPr txBox="1"/>
          <p:nvPr/>
        </p:nvSpPr>
        <p:spPr>
          <a:xfrm>
            <a:off x="562497" y="2873501"/>
            <a:ext cx="205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Relationship Graph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11" name="Google Shape;811;p42"/>
          <p:cNvSpPr/>
          <p:nvPr/>
        </p:nvSpPr>
        <p:spPr>
          <a:xfrm>
            <a:off x="2675289" y="2866643"/>
            <a:ext cx="960360" cy="2057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42"/>
          <p:cNvSpPr txBox="1"/>
          <p:nvPr/>
        </p:nvSpPr>
        <p:spPr>
          <a:xfrm>
            <a:off x="2675289" y="2887218"/>
            <a:ext cx="96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only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13" name="Google Shape;813;p42"/>
          <p:cNvSpPr txBox="1"/>
          <p:nvPr/>
        </p:nvSpPr>
        <p:spPr>
          <a:xfrm>
            <a:off x="3738545" y="2873501"/>
            <a:ext cx="1749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pyvis graph, in the overview and standalone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14" name="Google Shape;814;p42"/>
          <p:cNvSpPr txBox="1"/>
          <p:nvPr/>
        </p:nvSpPr>
        <p:spPr>
          <a:xfrm>
            <a:off x="562497" y="3230117"/>
            <a:ext cx="205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Breach Records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15" name="Google Shape;815;p42"/>
          <p:cNvSpPr/>
          <p:nvPr/>
        </p:nvSpPr>
        <p:spPr>
          <a:xfrm>
            <a:off x="2675289" y="3223259"/>
            <a:ext cx="960360" cy="2057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42"/>
          <p:cNvSpPr txBox="1"/>
          <p:nvPr/>
        </p:nvSpPr>
        <p:spPr>
          <a:xfrm>
            <a:off x="2675289" y="3243834"/>
            <a:ext cx="96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+ PDF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17" name="Google Shape;817;p42"/>
          <p:cNvSpPr txBox="1"/>
          <p:nvPr/>
        </p:nvSpPr>
        <p:spPr>
          <a:xfrm>
            <a:off x="3738545" y="3230117"/>
            <a:ext cx="1749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LeakOSINT / HIBP records, reduced to the database when masked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18" name="Google Shape;818;p42"/>
          <p:cNvSpPr txBox="1"/>
          <p:nvPr/>
        </p:nvSpPr>
        <p:spPr>
          <a:xfrm>
            <a:off x="562497" y="3586734"/>
            <a:ext cx="205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Evidence Chains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19" name="Google Shape;819;p42"/>
          <p:cNvSpPr/>
          <p:nvPr/>
        </p:nvSpPr>
        <p:spPr>
          <a:xfrm>
            <a:off x="2675289" y="3579876"/>
            <a:ext cx="960360" cy="2057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42"/>
          <p:cNvSpPr txBox="1"/>
          <p:nvPr/>
        </p:nvSpPr>
        <p:spPr>
          <a:xfrm>
            <a:off x="2675289" y="3600450"/>
            <a:ext cx="96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+ PDF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21" name="Google Shape;821;p42"/>
          <p:cNvSpPr txBox="1"/>
          <p:nvPr/>
        </p:nvSpPr>
        <p:spPr>
          <a:xfrm>
            <a:off x="3738545" y="3586734"/>
            <a:ext cx="1749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Seed → finding path, one line each, linked to the raw output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22" name="Google Shape;822;p42"/>
          <p:cNvSpPr txBox="1"/>
          <p:nvPr/>
        </p:nvSpPr>
        <p:spPr>
          <a:xfrm>
            <a:off x="562497" y="3943350"/>
            <a:ext cx="2058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Masked twin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23" name="Google Shape;823;p42"/>
          <p:cNvSpPr/>
          <p:nvPr/>
        </p:nvSpPr>
        <p:spPr>
          <a:xfrm>
            <a:off x="2675289" y="3936492"/>
            <a:ext cx="960360" cy="2057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42"/>
          <p:cNvSpPr txBox="1"/>
          <p:nvPr/>
        </p:nvSpPr>
        <p:spPr>
          <a:xfrm>
            <a:off x="2675289" y="3957066"/>
            <a:ext cx="96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file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25" name="Google Shape;825;p42"/>
          <p:cNvSpPr txBox="1"/>
          <p:nvPr/>
        </p:nvSpPr>
        <p:spPr>
          <a:xfrm>
            <a:off x="3738545" y="3943350"/>
            <a:ext cx="1749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Values stripped at generation; safe to circulate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26" name="Google Shape;826;p42"/>
          <p:cNvSpPr/>
          <p:nvPr/>
        </p:nvSpPr>
        <p:spPr>
          <a:xfrm>
            <a:off x="5899356" y="1131570"/>
            <a:ext cx="48018" cy="3771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42"/>
          <p:cNvSpPr txBox="1"/>
          <p:nvPr/>
        </p:nvSpPr>
        <p:spPr>
          <a:xfrm>
            <a:off x="6050270" y="1200150"/>
            <a:ext cx="2606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EXPORTED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28" name="Google Shape;828;p42"/>
          <p:cNvSpPr txBox="1"/>
          <p:nvPr/>
        </p:nvSpPr>
        <p:spPr>
          <a:xfrm>
            <a:off x="6139445" y="1543050"/>
            <a:ext cx="2400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JSON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29" name="Google Shape;829;p42"/>
          <p:cNvSpPr txBox="1"/>
          <p:nvPr/>
        </p:nvSpPr>
        <p:spPr>
          <a:xfrm>
            <a:off x="6139445" y="1776222"/>
            <a:ext cx="2400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Whole investigation, for SIEM / further analysis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30" name="Google Shape;830;p42"/>
          <p:cNvSpPr txBox="1"/>
          <p:nvPr/>
        </p:nvSpPr>
        <p:spPr>
          <a:xfrm>
            <a:off x="6139445" y="2194560"/>
            <a:ext cx="2400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CSV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31" name="Google Shape;831;p42"/>
          <p:cNvSpPr txBox="1"/>
          <p:nvPr/>
        </p:nvSpPr>
        <p:spPr>
          <a:xfrm>
            <a:off x="6139445" y="2427732"/>
            <a:ext cx="2400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Artifacts and platform presences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32" name="Google Shape;832;p42"/>
          <p:cNvSpPr txBox="1"/>
          <p:nvPr/>
        </p:nvSpPr>
        <p:spPr>
          <a:xfrm>
            <a:off x="6139445" y="2846070"/>
            <a:ext cx="2400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PDF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33" name="Google Shape;833;p42"/>
          <p:cNvSpPr txBox="1"/>
          <p:nvPr/>
        </p:nvSpPr>
        <p:spPr>
          <a:xfrm>
            <a:off x="6139445" y="3079242"/>
            <a:ext cx="2400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pandoc; sections expanded so nothing is hidden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34" name="Google Shape;834;p42"/>
          <p:cNvSpPr txBox="1"/>
          <p:nvPr/>
        </p:nvSpPr>
        <p:spPr>
          <a:xfrm>
            <a:off x="6139445" y="3497580"/>
            <a:ext cx="2400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35" name="Google Shape;835;p42"/>
          <p:cNvSpPr txBox="1"/>
          <p:nvPr/>
        </p:nvSpPr>
        <p:spPr>
          <a:xfrm>
            <a:off x="6139445" y="3730752"/>
            <a:ext cx="2400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Standalone interactive pyvis HTML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36" name="Google Shape;836;p42"/>
          <p:cNvSpPr txBox="1"/>
          <p:nvPr/>
        </p:nvSpPr>
        <p:spPr>
          <a:xfrm>
            <a:off x="6139445" y="4149090"/>
            <a:ext cx="2400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37" name="Google Shape;837;p42"/>
          <p:cNvSpPr txBox="1"/>
          <p:nvPr/>
        </p:nvSpPr>
        <p:spPr>
          <a:xfrm>
            <a:off x="6139445" y="4382262"/>
            <a:ext cx="2400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`--compare INV-x`: what changed since an earlier run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38" name="Google Shape;838;p42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18 / 27</a:t>
            </a:r>
            <a:endParaRPr sz="1100"/>
          </a:p>
        </p:txBody>
      </p:sp>
      <p:pic>
        <p:nvPicPr>
          <p:cNvPr id="839" name="Google Shape;83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43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5 — PRODUCTION-READY QUALITY STANDARDS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45" name="Google Shape;845;p43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Quality, Constraints &amp; Compliance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46" name="Google Shape;846;p43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43"/>
          <p:cNvSpPr/>
          <p:nvPr/>
        </p:nvSpPr>
        <p:spPr>
          <a:xfrm>
            <a:off x="342986" y="1131570"/>
            <a:ext cx="48018" cy="3771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3"/>
          <p:cNvSpPr txBox="1"/>
          <p:nvPr/>
        </p:nvSpPr>
        <p:spPr>
          <a:xfrm>
            <a:off x="493900" y="1200150"/>
            <a:ext cx="3772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QUALITY STANDARDS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49" name="Google Shape;849;p43"/>
          <p:cNvSpPr txBox="1"/>
          <p:nvPr/>
        </p:nvSpPr>
        <p:spPr>
          <a:xfrm>
            <a:off x="583076" y="1529334"/>
            <a:ext cx="1509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 Annotations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50" name="Google Shape;850;p43"/>
          <p:cNvSpPr txBox="1"/>
          <p:nvPr/>
        </p:nvSpPr>
        <p:spPr>
          <a:xfrm>
            <a:off x="583076" y="1728216"/>
            <a:ext cx="3567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Annotated public APIs; ruff-enforced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51" name="Google Shape;851;p43"/>
          <p:cNvSpPr txBox="1"/>
          <p:nvPr/>
        </p:nvSpPr>
        <p:spPr>
          <a:xfrm>
            <a:off x="583076" y="2064258"/>
            <a:ext cx="1509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Linting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52" name="Google Shape;852;p43"/>
          <p:cNvSpPr txBox="1"/>
          <p:nvPr/>
        </p:nvSpPr>
        <p:spPr>
          <a:xfrm>
            <a:off x="583076" y="2263140"/>
            <a:ext cx="3567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ruff clean on changed modules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53" name="Google Shape;853;p43"/>
          <p:cNvSpPr txBox="1"/>
          <p:nvPr/>
        </p:nvSpPr>
        <p:spPr>
          <a:xfrm>
            <a:off x="583076" y="2599182"/>
            <a:ext cx="1509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Suite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54" name="Google Shape;854;p43"/>
          <p:cNvSpPr txBox="1"/>
          <p:nvPr/>
        </p:nvSpPr>
        <p:spPr>
          <a:xfrm>
            <a:off x="583076" y="2798064"/>
            <a:ext cx="3567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588 pytest tests, all passing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55" name="Google Shape;855;p43"/>
          <p:cNvSpPr txBox="1"/>
          <p:nvPr/>
        </p:nvSpPr>
        <p:spPr>
          <a:xfrm>
            <a:off x="583076" y="3134105"/>
            <a:ext cx="1509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Docstrings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56" name="Google Shape;856;p43"/>
          <p:cNvSpPr txBox="1"/>
          <p:nvPr/>
        </p:nvSpPr>
        <p:spPr>
          <a:xfrm>
            <a:off x="583076" y="3332987"/>
            <a:ext cx="3567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style; all public APIs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57" name="Google Shape;857;p43"/>
          <p:cNvSpPr txBox="1"/>
          <p:nvPr/>
        </p:nvSpPr>
        <p:spPr>
          <a:xfrm>
            <a:off x="583076" y="3669030"/>
            <a:ext cx="1509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 Pinning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58" name="Google Shape;858;p43"/>
          <p:cNvSpPr txBox="1"/>
          <p:nvPr/>
        </p:nvSpPr>
        <p:spPr>
          <a:xfrm>
            <a:off x="583076" y="3867912"/>
            <a:ext cx="3567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Minimum-version pins; heavy extras optional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59" name="Google Shape;859;p43"/>
          <p:cNvSpPr txBox="1"/>
          <p:nvPr/>
        </p:nvSpPr>
        <p:spPr>
          <a:xfrm>
            <a:off x="583076" y="4203954"/>
            <a:ext cx="1509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Secrets Scanning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60" name="Google Shape;860;p43"/>
          <p:cNvSpPr txBox="1"/>
          <p:nvPr/>
        </p:nvSpPr>
        <p:spPr>
          <a:xfrm>
            <a:off x="583076" y="4402836"/>
            <a:ext cx="3567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Keys from env only; tokens never written to a report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61" name="Google Shape;861;p43"/>
          <p:cNvSpPr/>
          <p:nvPr/>
        </p:nvSpPr>
        <p:spPr>
          <a:xfrm>
            <a:off x="4596010" y="1131570"/>
            <a:ext cx="48018" cy="3771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43"/>
          <p:cNvSpPr txBox="1"/>
          <p:nvPr/>
        </p:nvSpPr>
        <p:spPr>
          <a:xfrm>
            <a:off x="4746924" y="1200150"/>
            <a:ext cx="1783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OPERATIONAL CONSTRAINTS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63" name="Google Shape;863;p43"/>
          <p:cNvSpPr txBox="1"/>
          <p:nvPr/>
        </p:nvSpPr>
        <p:spPr>
          <a:xfrm>
            <a:off x="4836100" y="1529334"/>
            <a:ext cx="164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BFS Depth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64" name="Google Shape;864;p43"/>
          <p:cNvSpPr txBox="1"/>
          <p:nvPr/>
        </p:nvSpPr>
        <p:spPr>
          <a:xfrm>
            <a:off x="4836100" y="1721358"/>
            <a:ext cx="164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Default 2 hops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65" name="Google Shape;865;p43"/>
          <p:cNvSpPr txBox="1"/>
          <p:nvPr/>
        </p:nvSpPr>
        <p:spPr>
          <a:xfrm>
            <a:off x="4836100" y="2077974"/>
            <a:ext cx="164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HIBP Rate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66" name="Google Shape;866;p43"/>
          <p:cNvSpPr txBox="1"/>
          <p:nvPr/>
        </p:nvSpPr>
        <p:spPr>
          <a:xfrm>
            <a:off x="4836100" y="2269998"/>
            <a:ext cx="164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Rate limited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67" name="Google Shape;867;p43"/>
          <p:cNvSpPr txBox="1"/>
          <p:nvPr/>
        </p:nvSpPr>
        <p:spPr>
          <a:xfrm>
            <a:off x="4836100" y="2626614"/>
            <a:ext cx="164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Subprocess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68" name="Google Shape;868;p43"/>
          <p:cNvSpPr txBox="1"/>
          <p:nvPr/>
        </p:nvSpPr>
        <p:spPr>
          <a:xfrm>
            <a:off x="4836100" y="2818638"/>
            <a:ext cx="164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Per-tool budget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69" name="Google Shape;869;p43"/>
          <p:cNvSpPr txBox="1"/>
          <p:nvPr/>
        </p:nvSpPr>
        <p:spPr>
          <a:xfrm>
            <a:off x="4836100" y="3175254"/>
            <a:ext cx="164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 Conn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70" name="Google Shape;870;p43"/>
          <p:cNvSpPr txBox="1"/>
          <p:nvPr/>
        </p:nvSpPr>
        <p:spPr>
          <a:xfrm>
            <a:off x="4836100" y="3367278"/>
            <a:ext cx="164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sec timeout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71" name="Google Shape;871;p43"/>
          <p:cNvSpPr txBox="1"/>
          <p:nvPr/>
        </p:nvSpPr>
        <p:spPr>
          <a:xfrm>
            <a:off x="4836100" y="3723894"/>
            <a:ext cx="164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 Warning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72" name="Google Shape;872;p43"/>
          <p:cNvSpPr txBox="1"/>
          <p:nvPr/>
        </p:nvSpPr>
        <p:spPr>
          <a:xfrm>
            <a:off x="4836100" y="3915918"/>
            <a:ext cx="164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 MB output cap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73" name="Google Shape;873;p43"/>
          <p:cNvSpPr txBox="1"/>
          <p:nvPr/>
        </p:nvSpPr>
        <p:spPr>
          <a:xfrm>
            <a:off x="4836100" y="4272534"/>
            <a:ext cx="164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 PII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74" name="Google Shape;874;p43"/>
          <p:cNvSpPr txBox="1"/>
          <p:nvPr/>
        </p:nvSpPr>
        <p:spPr>
          <a:xfrm>
            <a:off x="4836100" y="4464558"/>
            <a:ext cx="164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Masked in reports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75" name="Google Shape;875;p43"/>
          <p:cNvSpPr/>
          <p:nvPr/>
        </p:nvSpPr>
        <p:spPr>
          <a:xfrm>
            <a:off x="6825417" y="1131570"/>
            <a:ext cx="48018" cy="37719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43"/>
          <p:cNvSpPr txBox="1"/>
          <p:nvPr/>
        </p:nvSpPr>
        <p:spPr>
          <a:xfrm>
            <a:off x="6976331" y="1200150"/>
            <a:ext cx="1783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LEGAL &amp; ETHICAL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77" name="Google Shape;877;p43"/>
          <p:cNvSpPr txBox="1"/>
          <p:nvPr/>
        </p:nvSpPr>
        <p:spPr>
          <a:xfrm>
            <a:off x="6976331" y="1495044"/>
            <a:ext cx="181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 Passive OSINT only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78" name="Google Shape;878;p43"/>
          <p:cNvSpPr txBox="1"/>
          <p:nvPr/>
        </p:nvSpPr>
        <p:spPr>
          <a:xfrm>
            <a:off x="6976331" y="1961388"/>
            <a:ext cx="181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 No credential stuffing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79" name="Google Shape;879;p43"/>
          <p:cNvSpPr txBox="1"/>
          <p:nvPr/>
        </p:nvSpPr>
        <p:spPr>
          <a:xfrm>
            <a:off x="6976331" y="2427732"/>
            <a:ext cx="181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 No active exploitation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80" name="Google Shape;880;p43"/>
          <p:cNvSpPr txBox="1"/>
          <p:nvPr/>
        </p:nvSpPr>
        <p:spPr>
          <a:xfrm>
            <a:off x="6976331" y="2894076"/>
            <a:ext cx="1817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 GDPR / CCPA / IT Act 2000 compliance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81" name="Google Shape;881;p43"/>
          <p:cNvSpPr txBox="1"/>
          <p:nvPr/>
        </p:nvSpPr>
        <p:spPr>
          <a:xfrm>
            <a:off x="6976331" y="3360420"/>
            <a:ext cx="1817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 API ToS adherence + rate limits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82" name="Google Shape;882;p43"/>
          <p:cNvSpPr txBox="1"/>
          <p:nvPr/>
        </p:nvSpPr>
        <p:spPr>
          <a:xfrm>
            <a:off x="6976331" y="3826764"/>
            <a:ext cx="1817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 Full chain-of-custody audit trail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83" name="Google Shape;883;p43"/>
          <p:cNvSpPr txBox="1"/>
          <p:nvPr/>
        </p:nvSpPr>
        <p:spPr>
          <a:xfrm>
            <a:off x="6976331" y="4293108"/>
            <a:ext cx="1817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 Admissibility-ready evidence packaging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884" name="Google Shape;884;p43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24 / 27</a:t>
            </a:r>
            <a:endParaRPr sz="1100"/>
          </a:p>
        </p:txBody>
      </p:sp>
      <p:pic>
        <p:nvPicPr>
          <p:cNvPr id="885" name="Google Shape;88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44"/>
          <p:cNvSpPr/>
          <p:nvPr/>
        </p:nvSpPr>
        <p:spPr>
          <a:xfrm>
            <a:off x="4376499" y="0"/>
            <a:ext cx="96036" cy="514350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44"/>
          <p:cNvSpPr txBox="1"/>
          <p:nvPr/>
        </p:nvSpPr>
        <p:spPr>
          <a:xfrm>
            <a:off x="411583" y="891540"/>
            <a:ext cx="3772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92" name="Google Shape;892;p44"/>
          <p:cNvSpPr txBox="1"/>
          <p:nvPr/>
        </p:nvSpPr>
        <p:spPr>
          <a:xfrm>
            <a:off x="411575" y="1200150"/>
            <a:ext cx="3531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Ghost Identity Hunter: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93" name="Google Shape;893;p44"/>
          <p:cNvSpPr txBox="1"/>
          <p:nvPr/>
        </p:nvSpPr>
        <p:spPr>
          <a:xfrm>
            <a:off x="411583" y="2023110"/>
            <a:ext cx="3841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►  BFS collection across 7 seed types, 14 tools, 5 native modules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94" name="Google Shape;894;p44"/>
          <p:cNvSpPr txBox="1"/>
          <p:nvPr/>
        </p:nvSpPr>
        <p:spPr>
          <a:xfrm>
            <a:off x="411583" y="2475738"/>
            <a:ext cx="3841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►  Persona correlation with every confidence score explained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95" name="Google Shape;895;p44"/>
          <p:cNvSpPr txBox="1"/>
          <p:nvPr/>
        </p:nvSpPr>
        <p:spPr>
          <a:xfrm>
            <a:off x="411583" y="2928366"/>
            <a:ext cx="3841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►  Every finding traceable to a hashed, re-verifiable tool run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96" name="Google Shape;896;p44"/>
          <p:cNvSpPr txBox="1"/>
          <p:nvPr/>
        </p:nvSpPr>
        <p:spPr>
          <a:xfrm>
            <a:off x="411583" y="3380994"/>
            <a:ext cx="3841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►  Findings-first report, masked twin, embedded location map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97" name="Google Shape;897;p44"/>
          <p:cNvSpPr txBox="1"/>
          <p:nvPr/>
        </p:nvSpPr>
        <p:spPr>
          <a:xfrm>
            <a:off x="411583" y="3833622"/>
            <a:ext cx="3841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►  No tool can crash, hang or silence an investigation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98" name="Google Shape;898;p44"/>
          <p:cNvSpPr txBox="1"/>
          <p:nvPr/>
        </p:nvSpPr>
        <p:spPr>
          <a:xfrm>
            <a:off x="411583" y="4286250"/>
            <a:ext cx="3841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►  Passive OSINT only · runs on the analyst's host · zero cost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99" name="Google Shape;899;p44"/>
          <p:cNvSpPr/>
          <p:nvPr/>
        </p:nvSpPr>
        <p:spPr>
          <a:xfrm>
            <a:off x="4870398" y="1508760"/>
            <a:ext cx="1852123" cy="4114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44"/>
          <p:cNvSpPr txBox="1"/>
          <p:nvPr/>
        </p:nvSpPr>
        <p:spPr>
          <a:xfrm>
            <a:off x="4870398" y="1714500"/>
            <a:ext cx="18522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588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01" name="Google Shape;901;p44"/>
          <p:cNvSpPr txBox="1"/>
          <p:nvPr/>
        </p:nvSpPr>
        <p:spPr>
          <a:xfrm>
            <a:off x="4938995" y="2503170"/>
            <a:ext cx="171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Tests passing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02" name="Google Shape;902;p44"/>
          <p:cNvSpPr/>
          <p:nvPr/>
        </p:nvSpPr>
        <p:spPr>
          <a:xfrm>
            <a:off x="6996910" y="1508760"/>
            <a:ext cx="1852123" cy="4114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44"/>
          <p:cNvSpPr txBox="1"/>
          <p:nvPr/>
        </p:nvSpPr>
        <p:spPr>
          <a:xfrm>
            <a:off x="6996910" y="1714500"/>
            <a:ext cx="18522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04" name="Google Shape;904;p44"/>
          <p:cNvSpPr txBox="1"/>
          <p:nvPr/>
        </p:nvSpPr>
        <p:spPr>
          <a:xfrm>
            <a:off x="7065507" y="2503170"/>
            <a:ext cx="171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External tools integrated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05" name="Google Shape;905;p44"/>
          <p:cNvSpPr/>
          <p:nvPr/>
        </p:nvSpPr>
        <p:spPr>
          <a:xfrm>
            <a:off x="4870398" y="3223260"/>
            <a:ext cx="1852123" cy="4114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44"/>
          <p:cNvSpPr txBox="1"/>
          <p:nvPr/>
        </p:nvSpPr>
        <p:spPr>
          <a:xfrm>
            <a:off x="4870398" y="3429000"/>
            <a:ext cx="18522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07" name="Google Shape;907;p44"/>
          <p:cNvSpPr txBox="1"/>
          <p:nvPr/>
        </p:nvSpPr>
        <p:spPr>
          <a:xfrm>
            <a:off x="4938995" y="4217670"/>
            <a:ext cx="171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Dedicated output parsers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08" name="Google Shape;908;p44"/>
          <p:cNvSpPr/>
          <p:nvPr/>
        </p:nvSpPr>
        <p:spPr>
          <a:xfrm>
            <a:off x="6996910" y="3223260"/>
            <a:ext cx="1852123" cy="41148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44"/>
          <p:cNvSpPr txBox="1"/>
          <p:nvPr/>
        </p:nvSpPr>
        <p:spPr>
          <a:xfrm>
            <a:off x="6996910" y="3429000"/>
            <a:ext cx="18522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$0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10" name="Google Shape;910;p44"/>
          <p:cNvSpPr txBox="1"/>
          <p:nvPr/>
        </p:nvSpPr>
        <p:spPr>
          <a:xfrm>
            <a:off x="7065507" y="4217670"/>
            <a:ext cx="171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Infrastructure cost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11" name="Google Shape;911;p44"/>
          <p:cNvSpPr txBox="1"/>
          <p:nvPr/>
        </p:nvSpPr>
        <p:spPr>
          <a:xfrm>
            <a:off x="4527413" y="4732020"/>
            <a:ext cx="445881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Version 3.0  ·  Final Delivery  ·  August 2026</a:t>
            </a:r>
            <a:endParaRPr sz="1100"/>
          </a:p>
        </p:txBody>
      </p:sp>
      <p:pic>
        <p:nvPicPr>
          <p:cNvPr id="912" name="Google Shape;91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7" name="Google Shape;217;p28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3 — COLLECTION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Argv Per Tool, One Parser Per Format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342986" y="1097280"/>
            <a:ext cx="4115830" cy="387477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8"/>
          <p:cNvSpPr/>
          <p:nvPr/>
        </p:nvSpPr>
        <p:spPr>
          <a:xfrm>
            <a:off x="342986" y="1097280"/>
            <a:ext cx="48018" cy="387477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8"/>
          <p:cNvSpPr txBox="1"/>
          <p:nvPr/>
        </p:nvSpPr>
        <p:spPr>
          <a:xfrm>
            <a:off x="493900" y="1179576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EACH TOOL IS RUN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3" name="Google Shape;223;p28"/>
          <p:cNvSpPr txBox="1"/>
          <p:nvPr/>
        </p:nvSpPr>
        <p:spPr>
          <a:xfrm>
            <a:off x="493900" y="1495044"/>
            <a:ext cx="3841500" cy="20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tool is built as an argv list -- never a shell string --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one module, so the command in the report is the command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ran: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sherlock USER --print-found --timeout 5 --no-color --no-txt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maigret USER --top-sites 150 -J ndjson -fo DIR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holehe MAIL --only-used --no-color --no-clear -C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theHarvester -d DOMAIN -b duckduckgo -f REPORT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subfinder -d DOMAIN -silent -json -timeout 10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amass enum -passive -d DOMAIN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whatweb --color=never -a 1 --log-json=OUT DOMAIN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nmap -Pn -F -sV --version-light -oX OUT IP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shodan host IP     ·     exiftool -json FILE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Documented in docs/TOOL_COMMANDS.md for cross-reference.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4" name="Google Shape;224;p28"/>
          <p:cNvSpPr/>
          <p:nvPr/>
        </p:nvSpPr>
        <p:spPr>
          <a:xfrm>
            <a:off x="4698905" y="1097280"/>
            <a:ext cx="4115830" cy="387477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8"/>
          <p:cNvSpPr/>
          <p:nvPr/>
        </p:nvSpPr>
        <p:spPr>
          <a:xfrm>
            <a:off x="4698905" y="1097280"/>
            <a:ext cx="48018" cy="387477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8"/>
          <p:cNvSpPr txBox="1"/>
          <p:nvPr/>
        </p:nvSpPr>
        <p:spPr>
          <a:xfrm>
            <a:off x="4849819" y="1179576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ITS OUTPUT IS READ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4849819" y="1495044"/>
            <a:ext cx="38415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 parsers, each written for one native format, replacing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single regex that used to read every tool: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maigret NDJSON · sherlock found-list · holehe CSV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subfinder JSON · amass / sublist3r host lists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whatweb JSON log · nmap XML · exiftool JSON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whois key-value · usufy tagged entities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Wayback CDX rows · Shodan host JSON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tool's own verdict beats its exit code: holehe exits 1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a full CSV, whois exits 1 for an unregistered name.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are answers, and both are now kept.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Plugins and the orchestrator share this one path, so a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 cannot be run two different ways.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8" name="Google Shape;228;p28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12 / 27</a:t>
            </a:r>
            <a:endParaRPr sz="1100"/>
          </a:p>
        </p:txBody>
      </p:sp>
      <p:pic>
        <p:nvPicPr>
          <p:cNvPr id="229" name="Google Shape;2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9" name="Google Shape;549;p37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3 — COLLECTION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50" name="Google Shape;550;p37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Saying Exactly Why A Tool Was Silent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51" name="Google Shape;551;p37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7"/>
          <p:cNvSpPr/>
          <p:nvPr/>
        </p:nvSpPr>
        <p:spPr>
          <a:xfrm>
            <a:off x="342986" y="1131570"/>
            <a:ext cx="8458030" cy="48006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7"/>
          <p:cNvSpPr/>
          <p:nvPr/>
        </p:nvSpPr>
        <p:spPr>
          <a:xfrm>
            <a:off x="342986" y="1131570"/>
            <a:ext cx="48018" cy="48006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7"/>
          <p:cNvSpPr/>
          <p:nvPr/>
        </p:nvSpPr>
        <p:spPr>
          <a:xfrm>
            <a:off x="445882" y="1234439"/>
            <a:ext cx="891763" cy="2743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7"/>
          <p:cNvSpPr txBox="1"/>
          <p:nvPr/>
        </p:nvSpPr>
        <p:spPr>
          <a:xfrm>
            <a:off x="445882" y="1268729"/>
            <a:ext cx="8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300"/>
          </a:p>
        </p:txBody>
      </p:sp>
      <p:sp>
        <p:nvSpPr>
          <p:cNvPr id="556" name="Google Shape;556;p37"/>
          <p:cNvSpPr txBox="1"/>
          <p:nvPr/>
        </p:nvSpPr>
        <p:spPr>
          <a:xfrm>
            <a:off x="1440540" y="1179576"/>
            <a:ext cx="288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produced output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57" name="Google Shape;557;p37"/>
          <p:cNvSpPr txBox="1"/>
          <p:nvPr/>
        </p:nvSpPr>
        <p:spPr>
          <a:xfrm>
            <a:off x="1440540" y="1392173"/>
            <a:ext cx="7202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Findings parsed, and each one cites the run that produced it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58" name="Google Shape;558;p37"/>
          <p:cNvSpPr/>
          <p:nvPr/>
        </p:nvSpPr>
        <p:spPr>
          <a:xfrm>
            <a:off x="342986" y="1680210"/>
            <a:ext cx="8458030" cy="48006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7"/>
          <p:cNvSpPr/>
          <p:nvPr/>
        </p:nvSpPr>
        <p:spPr>
          <a:xfrm>
            <a:off x="342986" y="1680210"/>
            <a:ext cx="48018" cy="48006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7"/>
          <p:cNvSpPr/>
          <p:nvPr/>
        </p:nvSpPr>
        <p:spPr>
          <a:xfrm>
            <a:off x="445882" y="1783080"/>
            <a:ext cx="891763" cy="2743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7"/>
          <p:cNvSpPr txBox="1"/>
          <p:nvPr/>
        </p:nvSpPr>
        <p:spPr>
          <a:xfrm>
            <a:off x="445882" y="1817370"/>
            <a:ext cx="8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silent</a:t>
            </a:r>
            <a:endParaRPr sz="1300"/>
          </a:p>
        </p:txBody>
      </p:sp>
      <p:sp>
        <p:nvSpPr>
          <p:cNvPr id="562" name="Google Shape;562;p37"/>
          <p:cNvSpPr txBox="1"/>
          <p:nvPr/>
        </p:nvSpPr>
        <p:spPr>
          <a:xfrm>
            <a:off x="1440540" y="1728216"/>
            <a:ext cx="288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 and found nothing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63" name="Google Shape;563;p37"/>
          <p:cNvSpPr txBox="1"/>
          <p:nvPr/>
        </p:nvSpPr>
        <p:spPr>
          <a:xfrm>
            <a:off x="1440540" y="1940814"/>
            <a:ext cx="7202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Dispatched and answered: the subject is genuinely absent there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64" name="Google Shape;564;p37"/>
          <p:cNvSpPr/>
          <p:nvPr/>
        </p:nvSpPr>
        <p:spPr>
          <a:xfrm>
            <a:off x="342986" y="2228850"/>
            <a:ext cx="8458030" cy="48006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7"/>
          <p:cNvSpPr/>
          <p:nvPr/>
        </p:nvSpPr>
        <p:spPr>
          <a:xfrm>
            <a:off x="342986" y="2228850"/>
            <a:ext cx="48018" cy="48006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7"/>
          <p:cNvSpPr/>
          <p:nvPr/>
        </p:nvSpPr>
        <p:spPr>
          <a:xfrm>
            <a:off x="445882" y="2331720"/>
            <a:ext cx="891763" cy="2743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7"/>
          <p:cNvSpPr txBox="1"/>
          <p:nvPr/>
        </p:nvSpPr>
        <p:spPr>
          <a:xfrm>
            <a:off x="445882" y="2366010"/>
            <a:ext cx="8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sz="1300"/>
          </a:p>
        </p:txBody>
      </p:sp>
      <p:sp>
        <p:nvSpPr>
          <p:cNvPr id="568" name="Google Shape;568;p37"/>
          <p:cNvSpPr txBox="1"/>
          <p:nvPr/>
        </p:nvSpPr>
        <p:spPr>
          <a:xfrm>
            <a:off x="1440540" y="2276856"/>
            <a:ext cx="288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dispatched — wrong seed type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69" name="Google Shape;569;p37"/>
          <p:cNvSpPr txBox="1"/>
          <p:nvPr/>
        </p:nvSpPr>
        <p:spPr>
          <a:xfrm>
            <a:off x="1440540" y="2489454"/>
            <a:ext cx="7202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artifact of a type this tool accepts existed in the run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70" name="Google Shape;570;p37"/>
          <p:cNvSpPr/>
          <p:nvPr/>
        </p:nvSpPr>
        <p:spPr>
          <a:xfrm>
            <a:off x="342986" y="2777490"/>
            <a:ext cx="8458030" cy="48006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7"/>
          <p:cNvSpPr/>
          <p:nvPr/>
        </p:nvSpPr>
        <p:spPr>
          <a:xfrm>
            <a:off x="342986" y="2777490"/>
            <a:ext cx="48018" cy="48006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7"/>
          <p:cNvSpPr/>
          <p:nvPr/>
        </p:nvSpPr>
        <p:spPr>
          <a:xfrm>
            <a:off x="445882" y="2880360"/>
            <a:ext cx="891763" cy="2743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7"/>
          <p:cNvSpPr txBox="1"/>
          <p:nvPr/>
        </p:nvSpPr>
        <p:spPr>
          <a:xfrm>
            <a:off x="445882" y="2914650"/>
            <a:ext cx="8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off</a:t>
            </a:r>
            <a:endParaRPr sz="1300"/>
          </a:p>
        </p:txBody>
      </p:sp>
      <p:sp>
        <p:nvSpPr>
          <p:cNvPr id="574" name="Google Shape;574;p37"/>
          <p:cNvSpPr txBox="1"/>
          <p:nvPr/>
        </p:nvSpPr>
        <p:spPr>
          <a:xfrm>
            <a:off x="1440540" y="2825496"/>
            <a:ext cx="288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dispatched — disabled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75" name="Google Shape;575;p37"/>
          <p:cNvSpPr txBox="1"/>
          <p:nvPr/>
        </p:nvSpPr>
        <p:spPr>
          <a:xfrm>
            <a:off x="1440540" y="3038094"/>
            <a:ext cx="7202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Switched off in config.yaml; honoured on every dispatch path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76" name="Google Shape;576;p37"/>
          <p:cNvSpPr/>
          <p:nvPr/>
        </p:nvSpPr>
        <p:spPr>
          <a:xfrm>
            <a:off x="342986" y="3326130"/>
            <a:ext cx="8458030" cy="48006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7"/>
          <p:cNvSpPr/>
          <p:nvPr/>
        </p:nvSpPr>
        <p:spPr>
          <a:xfrm>
            <a:off x="342986" y="3326130"/>
            <a:ext cx="48018" cy="48006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7"/>
          <p:cNvSpPr/>
          <p:nvPr/>
        </p:nvSpPr>
        <p:spPr>
          <a:xfrm>
            <a:off x="445882" y="3429000"/>
            <a:ext cx="891763" cy="2743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7"/>
          <p:cNvSpPr txBox="1"/>
          <p:nvPr/>
        </p:nvSpPr>
        <p:spPr>
          <a:xfrm>
            <a:off x="445882" y="3463290"/>
            <a:ext cx="8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timeout</a:t>
            </a:r>
            <a:endParaRPr sz="1300"/>
          </a:p>
        </p:txBody>
      </p:sp>
      <p:sp>
        <p:nvSpPr>
          <p:cNvPr id="580" name="Google Shape;580;p37"/>
          <p:cNvSpPr txBox="1"/>
          <p:nvPr/>
        </p:nvSpPr>
        <p:spPr>
          <a:xfrm>
            <a:off x="1440540" y="3374136"/>
            <a:ext cx="288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 but timed out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81" name="Google Shape;581;p37"/>
          <p:cNvSpPr txBox="1"/>
          <p:nvPr/>
        </p:nvSpPr>
        <p:spPr>
          <a:xfrm>
            <a:off x="1440540" y="3586734"/>
            <a:ext cx="7202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Killed at its own budget, together with its whole process group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82" name="Google Shape;582;p37"/>
          <p:cNvSpPr/>
          <p:nvPr/>
        </p:nvSpPr>
        <p:spPr>
          <a:xfrm>
            <a:off x="342986" y="3874770"/>
            <a:ext cx="8458030" cy="48006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7"/>
          <p:cNvSpPr/>
          <p:nvPr/>
        </p:nvSpPr>
        <p:spPr>
          <a:xfrm>
            <a:off x="342986" y="3874770"/>
            <a:ext cx="48018" cy="48006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7"/>
          <p:cNvSpPr/>
          <p:nvPr/>
        </p:nvSpPr>
        <p:spPr>
          <a:xfrm>
            <a:off x="445882" y="3977640"/>
            <a:ext cx="891763" cy="2743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7"/>
          <p:cNvSpPr txBox="1"/>
          <p:nvPr/>
        </p:nvSpPr>
        <p:spPr>
          <a:xfrm>
            <a:off x="445882" y="4011930"/>
            <a:ext cx="8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error</a:t>
            </a:r>
            <a:endParaRPr sz="1300"/>
          </a:p>
        </p:txBody>
      </p:sp>
      <p:sp>
        <p:nvSpPr>
          <p:cNvPr id="586" name="Google Shape;586;p37"/>
          <p:cNvSpPr txBox="1"/>
          <p:nvPr/>
        </p:nvSpPr>
        <p:spPr>
          <a:xfrm>
            <a:off x="1440540" y="3922776"/>
            <a:ext cx="288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 but failed (exit n)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87" name="Google Shape;587;p37"/>
          <p:cNvSpPr txBox="1"/>
          <p:nvPr/>
        </p:nvSpPr>
        <p:spPr>
          <a:xfrm>
            <a:off x="1440540" y="4135374"/>
            <a:ext cx="7202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real failure, with the exit code shown rather than guessed at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88" name="Google Shape;588;p37"/>
          <p:cNvSpPr/>
          <p:nvPr/>
        </p:nvSpPr>
        <p:spPr>
          <a:xfrm>
            <a:off x="342986" y="4423410"/>
            <a:ext cx="8458030" cy="48006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7"/>
          <p:cNvSpPr/>
          <p:nvPr/>
        </p:nvSpPr>
        <p:spPr>
          <a:xfrm>
            <a:off x="342986" y="4423410"/>
            <a:ext cx="48018" cy="48006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7"/>
          <p:cNvSpPr/>
          <p:nvPr/>
        </p:nvSpPr>
        <p:spPr>
          <a:xfrm>
            <a:off x="445882" y="4526280"/>
            <a:ext cx="891763" cy="27432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7"/>
          <p:cNvSpPr txBox="1"/>
          <p:nvPr/>
        </p:nvSpPr>
        <p:spPr>
          <a:xfrm>
            <a:off x="445882" y="4560570"/>
            <a:ext cx="8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absent</a:t>
            </a:r>
            <a:endParaRPr sz="1300"/>
          </a:p>
        </p:txBody>
      </p:sp>
      <p:sp>
        <p:nvSpPr>
          <p:cNvPr id="592" name="Google Shape;592;p37"/>
          <p:cNvSpPr txBox="1"/>
          <p:nvPr/>
        </p:nvSpPr>
        <p:spPr>
          <a:xfrm>
            <a:off x="1440540" y="4471416"/>
            <a:ext cx="288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installed on this host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93" name="Google Shape;593;p37"/>
          <p:cNvSpPr txBox="1"/>
          <p:nvPr/>
        </p:nvSpPr>
        <p:spPr>
          <a:xfrm>
            <a:off x="1440540" y="4684014"/>
            <a:ext cx="7202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out of the table, so the productive count means what it says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94" name="Google Shape;594;p37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13 / 27</a:t>
            </a:r>
            <a:endParaRPr sz="1100"/>
          </a:p>
        </p:txBody>
      </p:sp>
      <p:pic>
        <p:nvPicPr>
          <p:cNvPr id="595" name="Google Shape;59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7" name="Google Shape;217;p28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4 — EVIDENCE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Finding Has Its Raw Output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342986" y="1097280"/>
            <a:ext cx="4115830" cy="387477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8"/>
          <p:cNvSpPr/>
          <p:nvPr/>
        </p:nvSpPr>
        <p:spPr>
          <a:xfrm>
            <a:off x="342986" y="1097280"/>
            <a:ext cx="48018" cy="387477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8"/>
          <p:cNvSpPr txBox="1"/>
          <p:nvPr/>
        </p:nvSpPr>
        <p:spPr>
          <a:xfrm>
            <a:off x="493900" y="1179576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PRESERVED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3" name="Google Shape;223;p28"/>
          <p:cNvSpPr txBox="1"/>
          <p:nvPr/>
        </p:nvSpPr>
        <p:spPr>
          <a:xfrm>
            <a:off x="493900" y="1495044"/>
            <a:ext cx="3841500" cy="20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tool run, one row and one file on disk: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tool · operation · target · exact command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tool version · captured_at · duration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exit status · sha256 · byte size · stored path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report links each finding to the run that produced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it, and shows the output behind it inline.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ghost-hunter evidence --id INV-abc123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re-hashes every capture and reports any file whose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bytes no longer match what was recorded.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4" name="Google Shape;224;p28"/>
          <p:cNvSpPr/>
          <p:nvPr/>
        </p:nvSpPr>
        <p:spPr>
          <a:xfrm>
            <a:off x="4698905" y="1097280"/>
            <a:ext cx="4115830" cy="387477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8"/>
          <p:cNvSpPr/>
          <p:nvPr/>
        </p:nvSpPr>
        <p:spPr>
          <a:xfrm>
            <a:off x="4698905" y="1097280"/>
            <a:ext cx="48018" cy="387477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8"/>
          <p:cNvSpPr txBox="1"/>
          <p:nvPr/>
        </p:nvSpPr>
        <p:spPr>
          <a:xfrm>
            <a:off x="4849819" y="1179576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4849819" y="1495044"/>
            <a:ext cx="38415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A reviewer can check a claim without re-running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anything -- the output is in the record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A finding that no longer reproduces is still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explainable, because the original run is kept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Tampering is detectable rather than assumed: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the hash is taken when the bytes are written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Evidence chains show the whole path from the seed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to the finding, one line per step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Citations, timeline and comparison all read the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same store, so they cannot disagree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8" name="Google Shape;228;p28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15 / 27</a:t>
            </a:r>
            <a:endParaRPr sz="1100"/>
          </a:p>
        </p:txBody>
      </p:sp>
      <p:pic>
        <p:nvPicPr>
          <p:cNvPr id="229" name="Google Shape;2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7" name="Google Shape;217;p28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4 — REPORTING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 With The Answer, Not The Evidence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342986" y="1097280"/>
            <a:ext cx="4115830" cy="387477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8"/>
          <p:cNvSpPr/>
          <p:nvPr/>
        </p:nvSpPr>
        <p:spPr>
          <a:xfrm>
            <a:off x="342986" y="1097280"/>
            <a:ext cx="48018" cy="387477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8"/>
          <p:cNvSpPr txBox="1"/>
          <p:nvPr/>
        </p:nvSpPr>
        <p:spPr>
          <a:xfrm>
            <a:off x="493900" y="1179576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OPENS FIRST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3" name="Google Shape;223;p28"/>
          <p:cNvSpPr txBox="1"/>
          <p:nvPr/>
        </p:nvSpPr>
        <p:spPr>
          <a:xfrm>
            <a:off x="493900" y="1495044"/>
            <a:ext cx="3841500" cy="20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OSINT Overview carries everything visual: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 KPI band: artifacts, personas, platforms, breaches,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confidence, tools that produced output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 Headline findings, in plain sentences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 Charts: artifact mix, confidence bands, per-tool yield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 The relationship graph itself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•  An embedded map of every location signal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Below it, 13 sections stay collapsed until asked for;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breach records open by default. Printing expands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everything, so the PDF loses nothing.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4" name="Google Shape;224;p28"/>
          <p:cNvSpPr/>
          <p:nvPr/>
        </p:nvSpPr>
        <p:spPr>
          <a:xfrm>
            <a:off x="4698905" y="1097280"/>
            <a:ext cx="4115830" cy="387477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8"/>
          <p:cNvSpPr/>
          <p:nvPr/>
        </p:nvSpPr>
        <p:spPr>
          <a:xfrm>
            <a:off x="4698905" y="1097280"/>
            <a:ext cx="48018" cy="387477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8"/>
          <p:cNvSpPr txBox="1"/>
          <p:nvPr/>
        </p:nvSpPr>
        <p:spPr>
          <a:xfrm>
            <a:off x="4849819" y="1179576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DISCLOSURE CONTROL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4849819" y="1495044"/>
            <a:ext cx="38415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Redaction removes the values at generation time, so a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masked file cannot be un-masked by reading its source: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Emails, phones, names, GPS, URLs and bios masked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A leaked record is reduced to its database name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Tokens and keys never reach the document at all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run writes both files: the working report, and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&lt;name&gt;_redacted.html beside it for circulation.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Templates: standard · executive · technical · legal.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Sections can be chosen per run with --report-sections.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8" name="Google Shape;228;p28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19 / 27</a:t>
            </a:r>
            <a:endParaRPr sz="1100"/>
          </a:p>
        </p:txBody>
      </p:sp>
      <p:pic>
        <p:nvPicPr>
          <p:cNvPr id="229" name="Google Shape;2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8" name="Google Shape;498;p36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5 — RESILIENCE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99" name="Google Shape;499;p36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Tool Can End An Investigation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00" name="Google Shape;500;p36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6"/>
          <p:cNvSpPr/>
          <p:nvPr/>
        </p:nvSpPr>
        <p:spPr>
          <a:xfrm>
            <a:off x="1463081" y="1147375"/>
            <a:ext cx="40299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6"/>
          <p:cNvSpPr/>
          <p:nvPr/>
        </p:nvSpPr>
        <p:spPr>
          <a:xfrm>
            <a:off x="1463086" y="1147370"/>
            <a:ext cx="377400" cy="5349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6"/>
          <p:cNvSpPr txBox="1"/>
          <p:nvPr/>
        </p:nvSpPr>
        <p:spPr>
          <a:xfrm>
            <a:off x="1463086" y="1270813"/>
            <a:ext cx="3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sp>
        <p:nvSpPr>
          <p:cNvPr id="504" name="Google Shape;504;p36"/>
          <p:cNvSpPr txBox="1"/>
          <p:nvPr/>
        </p:nvSpPr>
        <p:spPr>
          <a:xfrm>
            <a:off x="1908967" y="1181660"/>
            <a:ext cx="137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Runaway fork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05" name="Google Shape;505;p36"/>
          <p:cNvSpPr txBox="1"/>
          <p:nvPr/>
        </p:nvSpPr>
        <p:spPr>
          <a:xfrm>
            <a:off x="1908967" y="1421689"/>
            <a:ext cx="6516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tool leads its own process group; the group is signalled as a whole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06" name="Google Shape;506;p36"/>
          <p:cNvSpPr/>
          <p:nvPr/>
        </p:nvSpPr>
        <p:spPr>
          <a:xfrm>
            <a:off x="6362556" y="1270829"/>
            <a:ext cx="891900" cy="2607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6"/>
          <p:cNvSpPr txBox="1"/>
          <p:nvPr/>
        </p:nvSpPr>
        <p:spPr>
          <a:xfrm>
            <a:off x="6362556" y="1318836"/>
            <a:ext cx="891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handled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08" name="Google Shape;508;p36"/>
          <p:cNvSpPr/>
          <p:nvPr/>
        </p:nvSpPr>
        <p:spPr>
          <a:xfrm>
            <a:off x="1463081" y="1764595"/>
            <a:ext cx="40299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6"/>
          <p:cNvSpPr/>
          <p:nvPr/>
        </p:nvSpPr>
        <p:spPr>
          <a:xfrm>
            <a:off x="1463086" y="1764590"/>
            <a:ext cx="377400" cy="53490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6"/>
          <p:cNvSpPr txBox="1"/>
          <p:nvPr/>
        </p:nvSpPr>
        <p:spPr>
          <a:xfrm>
            <a:off x="1463086" y="1888034"/>
            <a:ext cx="3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511" name="Google Shape;511;p36"/>
          <p:cNvSpPr txBox="1"/>
          <p:nvPr/>
        </p:nvSpPr>
        <p:spPr>
          <a:xfrm>
            <a:off x="1908967" y="1798879"/>
            <a:ext cx="137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Held-open pipe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12" name="Google Shape;512;p36"/>
          <p:cNvSpPr txBox="1"/>
          <p:nvPr/>
        </p:nvSpPr>
        <p:spPr>
          <a:xfrm>
            <a:off x="1908967" y="2038909"/>
            <a:ext cx="6516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cleanup read happens only after the group is gone, so it cannot block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13" name="Google Shape;513;p36"/>
          <p:cNvSpPr/>
          <p:nvPr/>
        </p:nvSpPr>
        <p:spPr>
          <a:xfrm>
            <a:off x="6362556" y="1888050"/>
            <a:ext cx="891900" cy="26070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6"/>
          <p:cNvSpPr txBox="1"/>
          <p:nvPr/>
        </p:nvSpPr>
        <p:spPr>
          <a:xfrm>
            <a:off x="6362556" y="1936056"/>
            <a:ext cx="891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handled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15" name="Google Shape;515;p36"/>
          <p:cNvSpPr/>
          <p:nvPr/>
        </p:nvSpPr>
        <p:spPr>
          <a:xfrm>
            <a:off x="1463081" y="2381815"/>
            <a:ext cx="40299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6"/>
          <p:cNvSpPr/>
          <p:nvPr/>
        </p:nvSpPr>
        <p:spPr>
          <a:xfrm>
            <a:off x="1463086" y="2381810"/>
            <a:ext cx="377400" cy="5349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6"/>
          <p:cNvSpPr txBox="1"/>
          <p:nvPr/>
        </p:nvSpPr>
        <p:spPr>
          <a:xfrm>
            <a:off x="1463086" y="2505254"/>
            <a:ext cx="3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/>
          </a:p>
        </p:txBody>
      </p:sp>
      <p:sp>
        <p:nvSpPr>
          <p:cNvPr id="518" name="Google Shape;518;p36"/>
          <p:cNvSpPr txBox="1"/>
          <p:nvPr/>
        </p:nvSpPr>
        <p:spPr>
          <a:xfrm>
            <a:off x="1908967" y="2416100"/>
            <a:ext cx="137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Native abort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19" name="Google Shape;519;p36"/>
          <p:cNvSpPr txBox="1"/>
          <p:nvPr/>
        </p:nvSpPr>
        <p:spPr>
          <a:xfrm>
            <a:off x="1908967" y="2656130"/>
            <a:ext cx="6516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Face work is serialised and buffer-checked; failure costs its own finding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20" name="Google Shape;520;p36"/>
          <p:cNvSpPr/>
          <p:nvPr/>
        </p:nvSpPr>
        <p:spPr>
          <a:xfrm>
            <a:off x="6362556" y="2505270"/>
            <a:ext cx="891900" cy="2607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6"/>
          <p:cNvSpPr txBox="1"/>
          <p:nvPr/>
        </p:nvSpPr>
        <p:spPr>
          <a:xfrm>
            <a:off x="6362556" y="2553276"/>
            <a:ext cx="891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handled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22" name="Google Shape;522;p36"/>
          <p:cNvSpPr/>
          <p:nvPr/>
        </p:nvSpPr>
        <p:spPr>
          <a:xfrm>
            <a:off x="1463081" y="2999035"/>
            <a:ext cx="40299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6"/>
          <p:cNvSpPr/>
          <p:nvPr/>
        </p:nvSpPr>
        <p:spPr>
          <a:xfrm>
            <a:off x="1463086" y="2999029"/>
            <a:ext cx="377400" cy="53490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6"/>
          <p:cNvSpPr txBox="1"/>
          <p:nvPr/>
        </p:nvSpPr>
        <p:spPr>
          <a:xfrm>
            <a:off x="1463086" y="3122473"/>
            <a:ext cx="3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/>
          </a:p>
        </p:txBody>
      </p:sp>
      <p:sp>
        <p:nvSpPr>
          <p:cNvPr id="525" name="Google Shape;525;p36"/>
          <p:cNvSpPr txBox="1"/>
          <p:nvPr/>
        </p:nvSpPr>
        <p:spPr>
          <a:xfrm>
            <a:off x="1908967" y="3033319"/>
            <a:ext cx="137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Endless output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26" name="Google Shape;526;p36"/>
          <p:cNvSpPr txBox="1"/>
          <p:nvPr/>
        </p:nvSpPr>
        <p:spPr>
          <a:xfrm>
            <a:off x="1908967" y="3273350"/>
            <a:ext cx="6516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is capped at 32 MB and decoded leniently, so no run is lost to a byte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27" name="Google Shape;527;p36"/>
          <p:cNvSpPr/>
          <p:nvPr/>
        </p:nvSpPr>
        <p:spPr>
          <a:xfrm>
            <a:off x="6362556" y="3122490"/>
            <a:ext cx="891900" cy="26070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6"/>
          <p:cNvSpPr txBox="1"/>
          <p:nvPr/>
        </p:nvSpPr>
        <p:spPr>
          <a:xfrm>
            <a:off x="6362556" y="3170495"/>
            <a:ext cx="891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handled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29" name="Google Shape;529;p36"/>
          <p:cNvSpPr/>
          <p:nvPr/>
        </p:nvSpPr>
        <p:spPr>
          <a:xfrm>
            <a:off x="1463081" y="3616256"/>
            <a:ext cx="40299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6"/>
          <p:cNvSpPr/>
          <p:nvPr/>
        </p:nvSpPr>
        <p:spPr>
          <a:xfrm>
            <a:off x="1463086" y="3616250"/>
            <a:ext cx="377400" cy="534900"/>
          </a:xfrm>
          <a:prstGeom prst="rect">
            <a:avLst/>
          </a:prstGeom>
          <a:solidFill>
            <a:srgbClr val="39D35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6"/>
          <p:cNvSpPr txBox="1"/>
          <p:nvPr/>
        </p:nvSpPr>
        <p:spPr>
          <a:xfrm>
            <a:off x="1463086" y="3739694"/>
            <a:ext cx="3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/>
          </a:p>
        </p:txBody>
      </p:sp>
      <p:sp>
        <p:nvSpPr>
          <p:cNvPr id="532" name="Google Shape;532;p36"/>
          <p:cNvSpPr txBox="1"/>
          <p:nvPr/>
        </p:nvSpPr>
        <p:spPr>
          <a:xfrm>
            <a:off x="1908967" y="3650540"/>
            <a:ext cx="137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Bad output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33" name="Google Shape;533;p36"/>
          <p:cNvSpPr txBox="1"/>
          <p:nvPr/>
        </p:nvSpPr>
        <p:spPr>
          <a:xfrm>
            <a:off x="1908967" y="3890570"/>
            <a:ext cx="6516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parser is defensive; an unreadable capture is reported, not raised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34" name="Google Shape;534;p36"/>
          <p:cNvSpPr/>
          <p:nvPr/>
        </p:nvSpPr>
        <p:spPr>
          <a:xfrm>
            <a:off x="6362556" y="3739710"/>
            <a:ext cx="891900" cy="260700"/>
          </a:xfrm>
          <a:prstGeom prst="rect">
            <a:avLst/>
          </a:prstGeom>
          <a:solidFill>
            <a:srgbClr val="39D35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6"/>
          <p:cNvSpPr txBox="1"/>
          <p:nvPr/>
        </p:nvSpPr>
        <p:spPr>
          <a:xfrm>
            <a:off x="6362556" y="3787716"/>
            <a:ext cx="891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handled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36" name="Google Shape;536;p36"/>
          <p:cNvSpPr/>
          <p:nvPr/>
        </p:nvSpPr>
        <p:spPr>
          <a:xfrm>
            <a:off x="1463081" y="4233476"/>
            <a:ext cx="4029900" cy="53490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6"/>
          <p:cNvSpPr/>
          <p:nvPr/>
        </p:nvSpPr>
        <p:spPr>
          <a:xfrm>
            <a:off x="1463086" y="4233470"/>
            <a:ext cx="377400" cy="534900"/>
          </a:xfrm>
          <a:prstGeom prst="rect">
            <a:avLst/>
          </a:prstGeom>
          <a:solidFill>
            <a:srgbClr val="FF33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6"/>
          <p:cNvSpPr txBox="1"/>
          <p:nvPr/>
        </p:nvSpPr>
        <p:spPr>
          <a:xfrm>
            <a:off x="1463086" y="4356914"/>
            <a:ext cx="37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100"/>
          </a:p>
        </p:txBody>
      </p:sp>
      <p:sp>
        <p:nvSpPr>
          <p:cNvPr id="539" name="Google Shape;539;p36"/>
          <p:cNvSpPr txBox="1"/>
          <p:nvPr/>
        </p:nvSpPr>
        <p:spPr>
          <a:xfrm>
            <a:off x="1908967" y="4267760"/>
            <a:ext cx="137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Unforeseen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40" name="Google Shape;540;p36"/>
          <p:cNvSpPr txBox="1"/>
          <p:nvPr/>
        </p:nvSpPr>
        <p:spPr>
          <a:xfrm>
            <a:off x="1908967" y="4507790"/>
            <a:ext cx="6516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CLI reports what was found instead of a traceback; argv lists, no shell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41" name="Google Shape;541;p36"/>
          <p:cNvSpPr/>
          <p:nvPr/>
        </p:nvSpPr>
        <p:spPr>
          <a:xfrm>
            <a:off x="6362556" y="4356930"/>
            <a:ext cx="891900" cy="260700"/>
          </a:xfrm>
          <a:prstGeom prst="rect">
            <a:avLst/>
          </a:prstGeom>
          <a:solidFill>
            <a:srgbClr val="FF33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6"/>
          <p:cNvSpPr txBox="1"/>
          <p:nvPr/>
        </p:nvSpPr>
        <p:spPr>
          <a:xfrm>
            <a:off x="6362556" y="4404936"/>
            <a:ext cx="891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handled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543" name="Google Shape;543;p36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23 / 27</a:t>
            </a:r>
            <a:endParaRPr sz="1100"/>
          </a:p>
        </p:txBody>
      </p:sp>
      <p:pic>
        <p:nvPicPr>
          <p:cNvPr id="544" name="Google Shape;54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7" name="Google Shape;217;p28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3 — COLLECTION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Full-Text Matching, Not Partial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342986" y="1097280"/>
            <a:ext cx="4115830" cy="387477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8"/>
          <p:cNvSpPr/>
          <p:nvPr/>
        </p:nvSpPr>
        <p:spPr>
          <a:xfrm>
            <a:off x="342986" y="1097280"/>
            <a:ext cx="48018" cy="387477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8"/>
          <p:cNvSpPr txBox="1"/>
          <p:nvPr/>
        </p:nvSpPr>
        <p:spPr>
          <a:xfrm>
            <a:off x="493900" y="1179576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RULE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3" name="Google Shape;223;p28"/>
          <p:cNvSpPr txBox="1"/>
          <p:nvPr/>
        </p:nvSpPr>
        <p:spPr>
          <a:xfrm>
            <a:off x="493900" y="1495044"/>
            <a:ext cx="3841500" cy="20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finding is recorded only if it carries the seed's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value. Substring and near matches are dropped,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the reason logged.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--strict-match      enforce (default)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--no-strict-match   keep partials for a wide sweep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matching.allow_name_variants controls one exception: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full name may still match a reordered or initialled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form. Set it to false for literal-only names.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4" name="Google Shape;224;p28"/>
          <p:cNvSpPr/>
          <p:nvPr/>
        </p:nvSpPr>
        <p:spPr>
          <a:xfrm>
            <a:off x="4698905" y="1097280"/>
            <a:ext cx="4115830" cy="387477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8"/>
          <p:cNvSpPr/>
          <p:nvPr/>
        </p:nvSpPr>
        <p:spPr>
          <a:xfrm>
            <a:off x="4698905" y="1097280"/>
            <a:ext cx="48018" cy="387477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8"/>
          <p:cNvSpPr txBox="1"/>
          <p:nvPr/>
        </p:nvSpPr>
        <p:spPr>
          <a:xfrm>
            <a:off x="4849819" y="1179576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IT IS THE DEFAULT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4849819" y="1495044"/>
            <a:ext cx="38415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Attribution is only as good as its weakest link. A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profile that merely contains the username belongs to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somebody else, and once recorded it becomes a node in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graph, a cluster member, and a confidence score.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Search engine results filtered on exact value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Tool findings filtered before persistence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✓  Dropped candidates counted, so the sweep's reach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is visible rather than silently narrowed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8" name="Google Shape;228;p28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14 / 27</a:t>
            </a:r>
            <a:endParaRPr sz="1100"/>
          </a:p>
        </p:txBody>
      </p:sp>
      <p:pic>
        <p:nvPicPr>
          <p:cNvPr id="229" name="Google Shape;2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7" name="Google Shape;217;p28"/>
          <p:cNvSpPr txBox="1"/>
          <p:nvPr/>
        </p:nvSpPr>
        <p:spPr>
          <a:xfrm>
            <a:off x="342986" y="192024"/>
            <a:ext cx="84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5 — OPERATION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342986" y="377190"/>
            <a:ext cx="845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Running It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342986" y="994410"/>
            <a:ext cx="8458030" cy="2057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342986" y="1097280"/>
            <a:ext cx="4115830" cy="387477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8"/>
          <p:cNvSpPr/>
          <p:nvPr/>
        </p:nvSpPr>
        <p:spPr>
          <a:xfrm>
            <a:off x="342986" y="1097280"/>
            <a:ext cx="48018" cy="387477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8"/>
          <p:cNvSpPr txBox="1"/>
          <p:nvPr/>
        </p:nvSpPr>
        <p:spPr>
          <a:xfrm>
            <a:off x="493900" y="1179576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3" name="Google Shape;223;p28"/>
          <p:cNvSpPr txBox="1"/>
          <p:nvPr/>
        </p:nvSpPr>
        <p:spPr>
          <a:xfrm>
            <a:off x="493900" y="1495044"/>
            <a:ext cx="3841500" cy="20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investigate   collect from one or more seeds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correlate     re-run correlation on stored artifacts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report        render HTML / JSON / CSV / PDF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graph         standalone interactive graph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evidence      re-verify every preserved capture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list          investigations, newest first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plugins       list / info / enable / disable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Seeds: --email --username --phone --full-name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--image --domain --ip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cookbook: docs/ghost.txt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4" name="Google Shape;224;p28"/>
          <p:cNvSpPr/>
          <p:nvPr/>
        </p:nvSpPr>
        <p:spPr>
          <a:xfrm>
            <a:off x="4698905" y="1097280"/>
            <a:ext cx="4115830" cy="387477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8"/>
          <p:cNvSpPr/>
          <p:nvPr/>
        </p:nvSpPr>
        <p:spPr>
          <a:xfrm>
            <a:off x="4698905" y="1097280"/>
            <a:ext cx="48018" cy="3874770"/>
          </a:xfrm>
          <a:prstGeom prst="rect">
            <a:avLst/>
          </a:prstGeom>
          <a:solidFill>
            <a:srgbClr val="0180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8"/>
          <p:cNvSpPr txBox="1"/>
          <p:nvPr/>
        </p:nvSpPr>
        <p:spPr>
          <a:xfrm>
            <a:off x="4849819" y="1179576"/>
            <a:ext cx="384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TYPICAL RUNS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4849819" y="1495044"/>
            <a:ext cx="38415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ghost-hunter investigate -u elonmusk --use-external-tools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ghost-hunter investigate -d tesla.com --depth 1 \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--report-template technical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ghost-hunter investigate -e a@b.com -p +15551234567 \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--redact-report --report-format both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ghost-hunter report --id INV-abc123 --compare INV-old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ghost-hunter evidence --id INV-abc123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scripts/serve_reports.sh start   # browse ./reports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8" name="Google Shape;228;p28"/>
          <p:cNvSpPr txBox="1"/>
          <p:nvPr/>
        </p:nvSpPr>
        <p:spPr>
          <a:xfrm>
            <a:off x="8574645" y="4869180"/>
            <a:ext cx="548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B0C4D8"/>
                </a:solidFill>
                <a:latin typeface="Calibri"/>
                <a:ea typeface="Calibri"/>
                <a:cs typeface="Calibri"/>
                <a:sym typeface="Calibri"/>
              </a:rPr>
              <a:t>26 / 27</a:t>
            </a:r>
            <a:endParaRPr sz="1100"/>
          </a:p>
        </p:txBody>
      </p:sp>
      <p:pic>
        <p:nvPicPr>
          <p:cNvPr id="229" name="Google Shape;2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7925" y="15225"/>
            <a:ext cx="1435492" cy="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